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4.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ab7f9a06a6b4a91" /><Relationship Type="http://schemas.openxmlformats.org/officeDocument/2006/relationships/extended-properties" Target="/docProps/app.xml" Id="R7fb1cc1c121949fc" /><Relationship Type="http://schemas.openxmlformats.org/officeDocument/2006/relationships/officeDocument" Target="/ppt/presentation.xml" Id="R21570be57b8b48ef" /></Relationships>
</file>

<file path=ppt/presentation.xml><?xml version="1.0" encoding="utf-8"?>
<p:presentation xmlns:p="http://schemas.openxmlformats.org/presentationml/2006/main">
  <p:sldMasterIdLst>
    <p:sldMasterId xmlns:r="http://schemas.openxmlformats.org/officeDocument/2006/relationships" id="2147483648" r:id="R80992ca82c6f461a"/>
  </p:sldMasterIdLst>
  <p:notesMasterIdLst>
    <p:notesMasterId xmlns:r="http://schemas.openxmlformats.org/officeDocument/2006/relationships" r:id="Rebdd19cb51924c4f"/>
  </p:notesMasterIdLst>
  <p:sldIdLst>
    <p:sldId xmlns:r="http://schemas.openxmlformats.org/officeDocument/2006/relationships" id="256" r:id="R92fb10cb61134020"/>
    <p:sldId xmlns:r="http://schemas.openxmlformats.org/officeDocument/2006/relationships" id="257" r:id="R5c1d8d5efc7b49be"/>
    <p:sldId xmlns:r="http://schemas.openxmlformats.org/officeDocument/2006/relationships" id="258" r:id="R58d84d66e5f94ec1"/>
    <p:sldId xmlns:r="http://schemas.openxmlformats.org/officeDocument/2006/relationships" id="259" r:id="R70c35503157c4698"/>
    <p:sldId xmlns:r="http://schemas.openxmlformats.org/officeDocument/2006/relationships" id="260" r:id="R71c68ee4fac14ffe"/>
    <p:sldId xmlns:r="http://schemas.openxmlformats.org/officeDocument/2006/relationships" id="261" r:id="Ra7153f80747c428f"/>
    <p:sldId xmlns:r="http://schemas.openxmlformats.org/officeDocument/2006/relationships" id="262" r:id="R70364d1c44014ecf"/>
    <p:sldId xmlns:r="http://schemas.openxmlformats.org/officeDocument/2006/relationships" id="263" r:id="Recc4281032fd4521"/>
    <p:sldId xmlns:r="http://schemas.openxmlformats.org/officeDocument/2006/relationships" id="264" r:id="R0513c0832e4b4d61"/>
    <p:sldId xmlns:r="http://schemas.openxmlformats.org/officeDocument/2006/relationships" id="265" r:id="R6721a333ba6b4e8f"/>
    <p:sldId xmlns:r="http://schemas.openxmlformats.org/officeDocument/2006/relationships" id="266" r:id="R601935c88efe4913"/>
    <p:sldId xmlns:r="http://schemas.openxmlformats.org/officeDocument/2006/relationships" id="267" r:id="R41993b1417ec4291"/>
    <p:sldId xmlns:r="http://schemas.openxmlformats.org/officeDocument/2006/relationships" id="268" r:id="R4c451ca6d8ac4ab4"/>
    <p:sldId xmlns:r="http://schemas.openxmlformats.org/officeDocument/2006/relationships" id="269" r:id="R009c80ae824d4b05"/>
    <p:sldId xmlns:r="http://schemas.openxmlformats.org/officeDocument/2006/relationships" id="270" r:id="Rff1e2496af7d4b12"/>
    <p:sldId xmlns:r="http://schemas.openxmlformats.org/officeDocument/2006/relationships" id="271" r:id="R27d20adcf6fb4da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c681e55f174b5a" /><Relationship Type="http://schemas.openxmlformats.org/officeDocument/2006/relationships/slideMaster" Target="/ppt/slideMasters/slideMaster1.xml" Id="R80992ca82c6f461a" /><Relationship Type="http://schemas.openxmlformats.org/officeDocument/2006/relationships/notesMaster" Target="/ppt/notesMasters/notesMaster1.xml" Id="Rebdd19cb51924c4f" /><Relationship Type="http://schemas.openxmlformats.org/officeDocument/2006/relationships/presProps" Target="/ppt/presProps.xml" Id="Re6bdb35348584614" /><Relationship Type="http://schemas.openxmlformats.org/officeDocument/2006/relationships/tableStyles" Target="/ppt/tableStyles.xml" Id="Rac611801e9f4430a" /><Relationship Type="http://schemas.openxmlformats.org/officeDocument/2006/relationships/slide" Target="/ppt/slides/slide1.xml" Id="R92fb10cb61134020" /><Relationship Type="http://schemas.openxmlformats.org/officeDocument/2006/relationships/slide" Target="/ppt/slides/slide2.xml" Id="R5c1d8d5efc7b49be" /><Relationship Type="http://schemas.openxmlformats.org/officeDocument/2006/relationships/slide" Target="/ppt/slides/slide3.xml" Id="R58d84d66e5f94ec1" /><Relationship Type="http://schemas.openxmlformats.org/officeDocument/2006/relationships/slide" Target="/ppt/slides/slide4.xml" Id="R70c35503157c4698" /><Relationship Type="http://schemas.openxmlformats.org/officeDocument/2006/relationships/slide" Target="/ppt/slides/slide5.xml" Id="R71c68ee4fac14ffe" /><Relationship Type="http://schemas.openxmlformats.org/officeDocument/2006/relationships/slide" Target="/ppt/slides/slide6.xml" Id="Ra7153f80747c428f" /><Relationship Type="http://schemas.openxmlformats.org/officeDocument/2006/relationships/slide" Target="/ppt/slides/slide7.xml" Id="R70364d1c44014ecf" /><Relationship Type="http://schemas.openxmlformats.org/officeDocument/2006/relationships/slide" Target="/ppt/slides/slide8.xml" Id="Recc4281032fd4521" /><Relationship Type="http://schemas.openxmlformats.org/officeDocument/2006/relationships/slide" Target="/ppt/slides/slide9.xml" Id="R0513c0832e4b4d61" /><Relationship Type="http://schemas.openxmlformats.org/officeDocument/2006/relationships/slide" Target="/ppt/slides/slide10.xml" Id="R6721a333ba6b4e8f" /><Relationship Type="http://schemas.openxmlformats.org/officeDocument/2006/relationships/slide" Target="/ppt/slides/slide11.xml" Id="R601935c88efe4913" /><Relationship Type="http://schemas.openxmlformats.org/officeDocument/2006/relationships/slide" Target="/ppt/slides/slide12.xml" Id="R41993b1417ec4291" /><Relationship Type="http://schemas.openxmlformats.org/officeDocument/2006/relationships/slide" Target="/ppt/slides/slide13.xml" Id="R4c451ca6d8ac4ab4" /><Relationship Type="http://schemas.openxmlformats.org/officeDocument/2006/relationships/slide" Target="/ppt/slides/slide14.xml" Id="R009c80ae824d4b05" /><Relationship Type="http://schemas.openxmlformats.org/officeDocument/2006/relationships/slide" Target="/ppt/slides/slide15.xml" Id="Rff1e2496af7d4b12" /><Relationship Type="http://schemas.openxmlformats.org/officeDocument/2006/relationships/slide" Target="/ppt/slides/slide16.xml" Id="R27d20adcf6fb4d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ac1953831941b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886605929b4e8c" /><Relationship Type="http://schemas.openxmlformats.org/officeDocument/2006/relationships/notesMaster" Target="/ppt/notesMasters/notesMaster1.xml" Id="R3345634d749f43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99f22c47034004" /><Relationship Type="http://schemas.openxmlformats.org/officeDocument/2006/relationships/notesMaster" Target="/ppt/notesMasters/notesMaster1.xml" Id="R5d49bb8e365640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60d8bbe86042fa" /><Relationship Type="http://schemas.openxmlformats.org/officeDocument/2006/relationships/notesMaster" Target="/ppt/notesMasters/notesMaster1.xml" Id="R3b0ca680195d45a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35b62128e041e9" /><Relationship Type="http://schemas.openxmlformats.org/officeDocument/2006/relationships/notesMaster" Target="/ppt/notesMasters/notesMaster1.xml" Id="R0430b29b9bf449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76a9c3ac574eea" /><Relationship Type="http://schemas.openxmlformats.org/officeDocument/2006/relationships/notesMaster" Target="/ppt/notesMasters/notesMaster1.xml" Id="Ra30b943a3bd64c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e45d0d4540463e" /><Relationship Type="http://schemas.openxmlformats.org/officeDocument/2006/relationships/notesMaster" Target="/ppt/notesMasters/notesMaster1.xml" Id="R48363dd58eda43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840728fbe946a9" /><Relationship Type="http://schemas.openxmlformats.org/officeDocument/2006/relationships/notesMaster" Target="/ppt/notesMasters/notesMaster1.xml" Id="Rb15d9a4d929b46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665ba4d7ea4dfc" /><Relationship Type="http://schemas.openxmlformats.org/officeDocument/2006/relationships/notesMaster" Target="/ppt/notesMasters/notesMaster1.xml" Id="R06457e2dc1b04c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862102ac2243cb" /><Relationship Type="http://schemas.openxmlformats.org/officeDocument/2006/relationships/notesMaster" Target="/ppt/notesMasters/notesMaster1.xml" Id="R34d026249c5847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40e6ae99514696" /><Relationship Type="http://schemas.openxmlformats.org/officeDocument/2006/relationships/notesMaster" Target="/ppt/notesMasters/notesMaster1.xml" Id="Rfc30737599a149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9977cade494b95" /><Relationship Type="http://schemas.openxmlformats.org/officeDocument/2006/relationships/notesMaster" Target="/ppt/notesMasters/notesMaster1.xml" Id="R4d0f74cd1c964b7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b9ad86fc8ea44d4" /><Relationship Type="http://schemas.openxmlformats.org/officeDocument/2006/relationships/notesMaster" Target="/ppt/notesMasters/notesMaster1.xml" Id="R25fc07ecad2a4e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18211dd2f784d44" /><Relationship Type="http://schemas.openxmlformats.org/officeDocument/2006/relationships/notesMaster" Target="/ppt/notesMasters/notesMaster1.xml" Id="Rc45f1deeaddb4a4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d3f285ad1cc4b66" /><Relationship Type="http://schemas.openxmlformats.org/officeDocument/2006/relationships/notesMaster" Target="/ppt/notesMasters/notesMaster1.xml" Id="R4d286f11c59540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bdbf9d95904611" /><Relationship Type="http://schemas.openxmlformats.org/officeDocument/2006/relationships/notesMaster" Target="/ppt/notesMasters/notesMaster1.xml" Id="R0a151cdb006a4a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4c63ff41aea4852" /><Relationship Type="http://schemas.openxmlformats.org/officeDocument/2006/relationships/notesMaster" Target="/ppt/notesMasters/notesMaster1.xml" Id="R24ef86c908d044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stakeholder problem: finite contact capacity. Explain that the project compares five models and exposes an auditable local application. The presentation uses a fixed historical experiment, not prospective banking results.</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campaign decision. At q=10%, K is ceil(0.10*8238)=824. The top 824 contain 512 yes and 312 no observations. Lift is relative to the test base rate, not causal marketing uplift. This is evidence of concentration, not guaranteed conversion or profit.</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the decision before discussing algorithms. A threshold classification and a ranked contact list solve different tasks. The app never decides credit eligibility, consent, or production campaign policy. One observation is a historical contact record, not a verified unique customer.</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unchanged official CSV contains 41,188 observations, 20 original inputs, and y. There are 4,640 yes and 36,548 no labels, 12 full-row duplicates, and 4,110 audit warnings. Duplicate/unknown values are recorded rather than silently repaired. The rows are date-ordered but no unique customer ID or exact decision timestamp is available.</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selection, preprocessing, transformation, data mining, and interpretation/evaluation. Explain checksum verification, unknown-category preservation, pdays sentinel handling, fold-fitted encoders/scalers, model search, and frozen evaluation. A local CSV/registry is not an enterprise data warehouse.</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has 24,712 rows and 4.81% yes; calibration and selection each have 4,119 rows with 10.15% and 11.99% yes; test has 8,238 rows and 30.83% yes. Original order is a temporal proxy, not proof of customer separation. This drift is a central limitation, not a post-test justification for changing the model.</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five required model families, not five hyperparameter variants of one model. Dummy prior and seeded random ranking are extra baselines. Complexity does not guarantee better performance under temporal shift. All pipelines fit preprocessing only on train/fold data.</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features are age, job, marital, education, default, housing, loan, pdays, previous, and poutcome. Exclude post-call duration, ambiguous current-campaign count, target, IDs, and current-contact/economic context. pdays=999 becomes a no-contact flag; pdays=0 still means previously contacted. Search AP inside train. Freeze base models for sigmoid calibration. Choose winner and F1 threshold on selection. Lock before opening test.</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AP is 0.2318 for GaussianNB and 0.1773 for the next-best Logistic Regression. The gap exceeds the declared practical tie window 0.005, so no tie-breaker changes the outcome. In a tie, use Precision@10%, Brier, prediction latency, and model ID. The lock pins model hashes and decisions before final test. Do not reselect based on a nicer test metric.</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AP alongside capacity and calibration. GaussianNB has best test AP and ROC-AUC. Logistic Regression has highest Precision@K. Gradient Boosting has lowest learned-model Brier. Random Forest has lift below one. All five results are retained. AP differs across blocks partly because prevalence differs. No confidence interval or repeated independent split is claimed.</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K=824, GaussianNB selects 512 positives and 312 negatives; 2,028 positives are outside capacity. At threshold 0.09, the model labels 5,965 observations yes, with precision 34.53%, recall 81.10%, F1 0.4844, and accuracy 46.77%. Majority-no accuracy is 69.17%. This poor classification/calibration must be acknowledged even though ranking has utility.</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make the strongest caveat clear. The calibrator was fit at roughly 10.15% prevalence and the later test block has 30.83% positives. The report's reliability plot documents transfer problems. Probability estimates and threshold labels need new validation before operational use. Do not recalibrate on test or call the current model production-ready.</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AP decreases are poutcome 0.0396, pdays 0.0327, and job 0.0239. Keep the small negative loan importance instead of hiding it. The repeats are sensitivity runs inside selection, not independent model experiments. Correlated features limit interpretation; subgroup sizes below 100 are marked insufficient evidence. Fairness is not established.</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live demo: open Overview and Data/KDD, compare selection/test metrics, predict one synthetic record, score demo_valid.csv at q=10%, change capacity without rescoring, export CSV/JSON metadata, then show whole-batch rejection using demo_invalid.csv. Clear session data afterward. The supplied labeled public subset is demonstration data, not a fresh holdout. Real customer data and model-file uploads must not be used.</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Summarize the limitations: old data, absent unique customer IDs/as-of timestamps, no consent/cost/causal treatment evidence, strong drift, and one fixed experiment without uncertainty intervals. Recommend a new out-of-time/customer-grouped experiment, calibration/subgroup monitoring, and a randomized campaign if the question is incremental response. Changes need a new independent holdout.</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stakeholder decision, not submission administration. Ask for a scoped validation study using current permissioned data, staffing capacity, lawful campaign eligibility, and a prospective controlled response experiment. The quoted metrics come from the frozen historical test only. Reproducible source and evidence will be available at the repository after the prepared artifacts are published; do not claim deployment or campaign approval has happened.</a:t>
            </a:r>
          </a:p>
          <a:p xmlns:a="http://schemas.openxmlformats.org/drawingml/2006/main">
            <a:r>
              <a:t/>
            </a:r>
          </a:p>
          <a:p xmlns:a="http://schemas.openxmlformats.org/drawingml/2006/main">
            <a:r>
              <a:t>Evidence: frozen run 20261005T141242Z_4ac2cd71; reports/presentation_data.json; selection/test metrics and selection_lock.json. Chart values are rounded to six decimal places; full precision remains in the frozen evidence. Dataset: https://archive.ics.uci.edu/dataset/222/bank+marketing; Moro et al. (2014), https://doi.org/10.1016/j.dss.2014.03.001.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79d2e3ca8047f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0ca10dd8ad24a0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ced3b37e92441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b061cf5590a4b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77a157b6b0f47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8b417817c264b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27B588-BAC6-4A65-A776-592EBEE2D2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E2548-9B64-4F63-B68A-EFC022E1371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C0BD789-C945-4739-8C1B-447AD9982B6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47A6FF-824E-4532-BEC0-CDC1E7C750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E45545-0316-4C69-9B73-AA628C602A6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2B02E2A-0EE0-45A1-91AB-64F3D336822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53F4E-C2E2-4055-97AB-83C19B58E9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F1691CE-6490-460A-B177-CA943A700D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424D47-7C85-4242-9328-1B3D2BB8E7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AA4928-B0FE-451B-8880-99CDE583CA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882887c99642ad" /><Relationship Type="http://schemas.openxmlformats.org/officeDocument/2006/relationships/slideLayout" Target="/ppt/slideLayouts/slideLayout1.xml" Id="R1e0d5cfa38eb47c7" /><Relationship Type="http://schemas.openxmlformats.org/officeDocument/2006/relationships/slideLayout" Target="/ppt/slideLayouts/slideLayout2.xml" Id="R998ed9fc408d47b8" /><Relationship Type="http://schemas.openxmlformats.org/officeDocument/2006/relationships/slideLayout" Target="/ppt/slideLayouts/slideLayout3.xml" Id="Re8f81cb222f1473a" /><Relationship Type="http://schemas.openxmlformats.org/officeDocument/2006/relationships/slideLayout" Target="/ppt/slideLayouts/slideLayout4.xml" Id="R85165c1a6bad4a70" /><Relationship Type="http://schemas.openxmlformats.org/officeDocument/2006/relationships/slideLayout" Target="/ppt/slideLayouts/slideLayout5.xml" Id="Rb06e226d145d4632" /><Relationship Type="http://schemas.openxmlformats.org/officeDocument/2006/relationships/slideLayout" Target="/ppt/slideLayouts/slideLayout6.xml" Id="R12bc379aa7a446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0d5cfa38eb47c7"/>
    <p:sldLayoutId xmlns:r="http://schemas.openxmlformats.org/officeDocument/2006/relationships" id="2147483650" r:id="R998ed9fc408d47b8"/>
    <p:sldLayoutId xmlns:r="http://schemas.openxmlformats.org/officeDocument/2006/relationships" id="2147483651" r:id="Re8f81cb222f1473a"/>
    <p:sldLayoutId xmlns:r="http://schemas.openxmlformats.org/officeDocument/2006/relationships" id="2147483652" r:id="R85165c1a6bad4a70"/>
    <p:sldLayoutId xmlns:r="http://schemas.openxmlformats.org/officeDocument/2006/relationships" id="2147483653" r:id="Rb06e226d145d4632"/>
    <p:sldLayoutId xmlns:r="http://schemas.openxmlformats.org/officeDocument/2006/relationships" id="2147483654" r:id="R12bc379aa7a446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572f3cfb14c4385" /><Relationship Type="http://schemas.openxmlformats.org/officeDocument/2006/relationships/notesSlide" Target="/ppt/notesSlides/notesSlide1.xml" Id="R6c4e07e1c40f43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9f754bbf77d4731" /><Relationship Type="http://schemas.openxmlformats.org/officeDocument/2006/relationships/notesSlide" Target="/ppt/notesSlides/notesSlide2.xml" Id="Rd30d8dd1a6e348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941ce4ff6684c56" /><Relationship Type="http://schemas.openxmlformats.org/officeDocument/2006/relationships/notesSlide" Target="/ppt/notesSlides/notesSlide3.xml" Id="R7f04d8602a1a42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52988081e348d4" /><Relationship Type="http://schemas.openxmlformats.org/officeDocument/2006/relationships/chart" Target="/ppt/slides/charts/chart1.xml" Id="Rb008cf2676d241e3" /><Relationship Type="http://schemas.openxmlformats.org/officeDocument/2006/relationships/notesSlide" Target="/ppt/notesSlides/notesSlide4.xml" Id="R54dee08a433249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182c2062f274777" /><Relationship Type="http://schemas.openxmlformats.org/officeDocument/2006/relationships/notesSlide" Target="/ppt/notesSlides/notesSlide5.xml" Id="R00edecc9401c42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7fe5da75e144eb" /><Relationship Type="http://schemas.openxmlformats.org/officeDocument/2006/relationships/chart" Target="/ppt/slides/charts/chart2.xml" Id="R1533ed14d920428d" /><Relationship Type="http://schemas.openxmlformats.org/officeDocument/2006/relationships/notesSlide" Target="/ppt/notesSlides/notesSlide6.xml" Id="Rdb9aea008df54b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f0a79bf2824ca0" /><Relationship Type="http://schemas.openxmlformats.org/officeDocument/2006/relationships/notesSlide" Target="/ppt/notesSlides/notesSlide7.xml" Id="Rf34c0cf0dd524c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e0c6b0dbdc14ad8" /><Relationship Type="http://schemas.openxmlformats.org/officeDocument/2006/relationships/notesSlide" Target="/ppt/notesSlides/notesSlide8.xml" Id="Rdc6608935a8544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a7ec2d07f7d404b" /><Relationship Type="http://schemas.openxmlformats.org/officeDocument/2006/relationships/chart" Target="/ppt/slides/charts/chart3.xml" Id="R0dff9bde13ec4a30" /><Relationship Type="http://schemas.openxmlformats.org/officeDocument/2006/relationships/notesSlide" Target="/ppt/notesSlides/notesSlide9.xml" Id="Rd66d83990c4a48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fa8e89287684303" /><Relationship Type="http://schemas.openxmlformats.org/officeDocument/2006/relationships/notesSlide" Target="/ppt/notesSlides/notesSlide10.xml" Id="Reeb42027252b45e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720db691c94fdc" /><Relationship Type="http://schemas.openxmlformats.org/officeDocument/2006/relationships/notesSlide" Target="/ppt/notesSlides/notesSlide11.xml" Id="R1b8a526b8a3f48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989a9c1886449b9" /><Relationship Type="http://schemas.openxmlformats.org/officeDocument/2006/relationships/notesSlide" Target="/ppt/notesSlides/notesSlide12.xml" Id="R9d3158a9861848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c52ec065a744aa2" /><Relationship Type="http://schemas.openxmlformats.org/officeDocument/2006/relationships/chart" Target="/ppt/slides/charts/chart4.xml" Id="R6b1cd2e609f54d4c" /><Relationship Type="http://schemas.openxmlformats.org/officeDocument/2006/relationships/notesSlide" Target="/ppt/notesSlides/notesSlide13.xml" Id="R96cb7608d38444b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4b6481cb9a47ee" /><Relationship Type="http://schemas.openxmlformats.org/officeDocument/2006/relationships/notesSlide" Target="/ppt/notesSlides/notesSlide14.xml" Id="Rd12570badb2f48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b85ad3ceab04abe" /><Relationship Type="http://schemas.openxmlformats.org/officeDocument/2006/relationships/notesSlide" Target="/ppt/notesSlides/notesSlide15.xml" Id="R1da4d50ac67240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501a05ceb654ab7" /><Relationship Type="http://schemas.openxmlformats.org/officeDocument/2006/relationships/notesSlide" Target="/ppt/notesSlides/notesSlide16.xml" Id="R48ab0c7dcb6f4f4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doughnutChart>
        <c:ser>
          <c:idx val="0"/>
          <c:order val="0"/>
          <c:tx>
            <c:v>Target</c:v>
          </c:tx>
          <c:dPt>
            <c:idx val="0"/>
            <c:spPr>
              <a:solidFill xmlns:a="http://schemas.openxmlformats.org/drawingml/2006/main">
                <a:srgbClr val="087F83"/>
              </a:solidFill>
            </c:spPr>
          </c:dPt>
          <c:dPt>
            <c:idx val="1"/>
            <c:spPr>
              <a:solidFill xmlns:a="http://schemas.openxmlformats.org/drawingml/2006/main">
                <a:srgbClr val="172D43"/>
              </a:solidFill>
            </c:spPr>
          </c:dPt>
          <c:cat>
            <c:strRef>
              <c:f>'Chart Data'!$A$2:$A$3</c:f>
              <c:strCache>
                <c:ptCount val="2"/>
                <c:pt idx="0">
                  <c:v>yes</c:v>
                </c:pt>
                <c:pt idx="1">
                  <c:v>no</c:v>
                </c:pt>
              </c:strCache>
            </c:strRef>
          </c:cat>
          <c:val>
            <c:numRef>
              <c:f>'Chart Data'!$B$2:$B$3</c:f>
              <c:numCache>
                <c:formatCode>General</c:formatCode>
                <c:ptCount val="2"/>
                <c:pt idx="0">
                  <c:v>4640</c:v>
                </c:pt>
                <c:pt idx="1">
                  <c:v>36548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holeSize val="62"/>
      </c:doughnutChart>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72D43"/>
              </a:solidFill>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Yes prevalence</c:v>
          </c:tx>
          <c:spPr>
            <a:solidFill xmlns:a="http://schemas.openxmlformats.org/drawingml/2006/main">
              <a:srgbClr val="087F83"/>
            </a:solidFill>
          </c:spPr>
          <c:cat>
            <c:strRef>
              <c:f>'Chart Data'!$A$2:$A$5</c:f>
              <c:strCache>
                <c:ptCount val="4"/>
                <c:pt idx="0">
                  <c:v>train
24,712 rows</c:v>
                </c:pt>
                <c:pt idx="1">
                  <c:v>calibration
4,119 rows</c:v>
                </c:pt>
                <c:pt idx="2">
                  <c:v>selection
4,119 rows</c:v>
                </c:pt>
                <c:pt idx="3">
                  <c:v>test
8,238 rows</c:v>
                </c:pt>
              </c:strCache>
            </c:strRef>
          </c:cat>
          <c:val>
            <c:numRef>
              <c:f>'Chart Data'!$B$2:$B$5</c:f>
              <c:numCache>
                <c:formatCode>0%</c:formatCode>
                <c:ptCount val="4"/>
                <c:pt idx="0">
                  <c:v>0.048074</c:v>
                </c:pt>
                <c:pt idx="1">
                  <c:v>0.101481</c:v>
                </c:pt>
                <c:pt idx="2">
                  <c:v>0.119932</c:v>
                </c:pt>
                <c:pt idx="3">
                  <c:v>0.308327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172D43"/>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Selection AP</c:v>
          </c:tx>
          <c:spPr>
            <a:solidFill xmlns:a="http://schemas.openxmlformats.org/drawingml/2006/main">
              <a:srgbClr val="087F83"/>
            </a:solidFill>
          </c:spPr>
          <c:cat>
            <c:strRef>
              <c:f>'Chart Data'!$A$2:$A$6</c:f>
              <c:strCache>
                <c:ptCount val="5"/>
                <c:pt idx="0">
                  <c:v>Logistic
Regression</c:v>
                </c:pt>
                <c:pt idx="1">
                  <c:v>Gaussian
Naive Bayes</c:v>
                </c:pt>
                <c:pt idx="2">
                  <c:v>Decision
Tree</c:v>
                </c:pt>
                <c:pt idx="3">
                  <c:v>Random
Forest</c:v>
                </c:pt>
                <c:pt idx="4">
                  <c:v>Gradient
Boosting</c:v>
                </c:pt>
              </c:strCache>
            </c:strRef>
          </c:cat>
          <c:val>
            <c:numRef>
              <c:f>'Chart Data'!$B$2:$B$6</c:f>
              <c:numCache>
                <c:formatCode>0.00</c:formatCode>
                <c:ptCount val="5"/>
                <c:pt idx="0">
                  <c:v>0.177328</c:v>
                </c:pt>
                <c:pt idx="1">
                  <c:v>0.231758</c:v>
                </c:pt>
                <c:pt idx="2">
                  <c:v>0.160451</c:v>
                </c:pt>
                <c:pt idx="3">
                  <c:v>0.130742</c:v>
                </c:pt>
                <c:pt idx="4">
                  <c:v>0.176791</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172D43"/>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72768"/>
      </c:catAx>
      <c:valAx>
        <c:axId val="48672768"/>
        <c:scaling>
          <c:orientation val="minMax"/>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Mean selection AP decrease</c:v>
          </c:tx>
          <c:spPr>
            <a:solidFill xmlns:a="http://schemas.openxmlformats.org/drawingml/2006/main">
              <a:srgbClr val="087F83"/>
            </a:solidFill>
          </c:spPr>
          <c:invertIfNegative val="0"/>
          <c:cat>
            <c:strRef>
              <c:f>'Chart Data'!$A$2:$A$11</c:f>
              <c:strCache>
                <c:ptCount val="10"/>
                <c:pt idx="0">
                  <c:v>poutcome</c:v>
                </c:pt>
                <c:pt idx="1">
                  <c:v>pdays</c:v>
                </c:pt>
                <c:pt idx="2">
                  <c:v>job</c:v>
                </c:pt>
                <c:pt idx="3">
                  <c:v>default</c:v>
                </c:pt>
                <c:pt idx="4">
                  <c:v>previous</c:v>
                </c:pt>
                <c:pt idx="5">
                  <c:v>education</c:v>
                </c:pt>
                <c:pt idx="6">
                  <c:v>age</c:v>
                </c:pt>
                <c:pt idx="7">
                  <c:v>marital</c:v>
                </c:pt>
                <c:pt idx="8">
                  <c:v>housing</c:v>
                </c:pt>
                <c:pt idx="9">
                  <c:v>loan</c:v>
                </c:pt>
              </c:strCache>
            </c:strRef>
          </c:cat>
          <c:val>
            <c:numRef>
              <c:f>'Chart Data'!$B$2:$B$11</c:f>
              <c:numCache>
                <c:formatCode>0.000</c:formatCode>
                <c:ptCount val="10"/>
                <c:pt idx="0">
                  <c:v>0.03958</c:v>
                </c:pt>
                <c:pt idx="1">
                  <c:v>0.032704</c:v>
                </c:pt>
                <c:pt idx="2">
                  <c:v>0.023937</c:v>
                </c:pt>
                <c:pt idx="3">
                  <c:v>0.005582</c:v>
                </c:pt>
                <c:pt idx="4">
                  <c:v>0.005452</c:v>
                </c:pt>
                <c:pt idx="5">
                  <c:v>0.002218</c:v>
                </c:pt>
                <c:pt idx="6">
                  <c:v>0.00183</c:v>
                </c:pt>
                <c:pt idx="7">
                  <c:v>0.001483</c:v>
                </c:pt>
                <c:pt idx="8">
                  <c:v>0.000327</c:v>
                </c:pt>
                <c:pt idx="9">
                  <c:v>-0.000174</c:v>
                </c:pt>
              </c:numCache>
            </c:numRef>
          </c:val>
        </c:ser>
        <c:dLbls>
          <c:numFmt formatCode="0.0000;-0.0000" sourceLinked="0"/>
          <c:txPr>
            <a:bodyPr xmlns:a="http://schemas.openxmlformats.org/drawingml/2006/main" anchorCtr="1"/>
            <a:lstStyle xmlns:a="http://schemas.openxmlformats.org/drawingml/2006/main"/>
            <a:p xmlns:a="http://schemas.openxmlformats.org/drawingml/2006/main">
              <a:pPr>
                <a:defRPr sz="1350">
                  <a:solidFill>
                    <a:srgbClr val="172D43"/>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l"/>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72768"/>
      </c:catAx>
      <c:valAx>
        <c:axId val="48672768"/>
        <c:scaling>
          <c:orientation val="minMax"/>
        </c:scaling>
        <c:delete val="0"/>
        <c:axPos val="b"/>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D43"/>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D4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AD0F10-294C-4F6F-AF57-0F51EA9716D0}"/>
              </a:ext>
            </a:extLst>
          </p:cNvPr>
          <p:cNvSpPr>
            <a:spLocks xmlns:a="http://schemas.openxmlformats.org/drawingml/2006/main" noGrp="1"/>
          </p:cNvSpPr>
          <p:nvPr/>
        </p:nvSpPr>
        <p:spPr>
          <a:xfrm xmlns:a="http://schemas.openxmlformats.org/drawingml/2006/main">
            <a:off x="685800" y="990600"/>
            <a:ext cx="876300" cy="76200"/>
          </a:xfrm>
          <a:prstGeom xmlns:a="http://schemas.openxmlformats.org/drawingml/2006/main" prst="rect">
            <a:avLst/>
          </a:prstGeom>
          <a:solidFill xmlns:a="http://schemas.openxmlformats.org/drawingml/2006/main">
            <a:srgbClr val="CB93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DA6F44-0D31-4DB2-9252-F91DBCE93A16}"/>
              </a:ext>
            </a:extLst>
          </p:cNvPr>
          <p:cNvSpPr>
            <a:spLocks xmlns:a="http://schemas.openxmlformats.org/drawingml/2006/main" noGrp="1"/>
          </p:cNvSpPr>
          <p:nvPr/>
        </p:nvSpPr>
        <p:spPr>
          <a:xfrm xmlns:a="http://schemas.openxmlformats.org/drawingml/2006/main">
            <a:off x="647700" y="1543050"/>
            <a:ext cx="108966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6600" b="1">
                <a:solidFill>
                  <a:srgbClr val="FFFFFF"/>
                </a:solidFill>
                <a:latin typeface="Arial"/>
                <a:ea typeface="Arial"/>
                <a:cs typeface="Arial"/>
              </a:defRPr>
            </a:defPPr>
          </a:lstStyle>
          <a:p xmlns:a="http://schemas.openxmlformats.org/drawingml/2006/main">
            <a:pPr>
              <a:defRPr sz="6600" b="1">
                <a:solidFill>
                  <a:srgbClr val="FFFFFF"/>
                </a:solidFill>
                <a:latin typeface="Arial"/>
                <a:ea typeface="Arial"/>
                <a:cs typeface="Arial"/>
              </a:defRPr>
            </a:pPr>
            <a:r>
              <a:rPr sz="6600" b="1">
                <a:solidFill>
                  <a:srgbClr val="FFFFFF"/>
                </a:solidFill>
                <a:latin typeface="Arial"/>
                <a:ea typeface="Arial"/>
                <a:cs typeface="Arial"/>
              </a:rPr>
              <a:t>DepoRank</a:t>
            </a:r>
          </a:p>
        </p:txBody>
      </p:sp>
      <p:sp>
        <p:nvSpPr>
          <p:cNvPr id="3" name="">
            <a:extLst xmlns:a="http://schemas.openxmlformats.org/drawingml/2006/main">
              <a:ext uri="{FF2B5EF4-FFF2-40B4-BE49-F238E27FC236}">
                <a16:creationId xmlns:a16="http://schemas.microsoft.com/office/drawing/2014/main" id="{FBA26728-DAFA-49EB-86E1-2E8056EE96DD}"/>
              </a:ext>
            </a:extLst>
          </p:cNvPr>
          <p:cNvSpPr>
            <a:spLocks xmlns:a="http://schemas.openxmlformats.org/drawingml/2006/main" noGrp="1"/>
          </p:cNvSpPr>
          <p:nvPr/>
        </p:nvSpPr>
        <p:spPr>
          <a:xfrm xmlns:a="http://schemas.openxmlformats.org/drawingml/2006/main">
            <a:off x="685800" y="3028950"/>
            <a:ext cx="1028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0">
                <a:solidFill>
                  <a:srgbClr val="FFFFFF"/>
                </a:solidFill>
                <a:latin typeface="Arial"/>
                <a:ea typeface="Arial"/>
                <a:cs typeface="Arial"/>
              </a:defRPr>
            </a:defPPr>
          </a:lstStyle>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Term deposit campaign prioritization</a:t>
            </a:r>
          </a:p>
        </p:txBody>
      </p:sp>
      <p:sp>
        <p:nvSpPr>
          <p:cNvPr id="4" name="">
            <a:extLst xmlns:a="http://schemas.openxmlformats.org/drawingml/2006/main">
              <a:ext uri="{FF2B5EF4-FFF2-40B4-BE49-F238E27FC236}">
                <a16:creationId xmlns:a16="http://schemas.microsoft.com/office/drawing/2014/main" id="{F89918C4-2420-4AB5-B98E-BF4289065E33}"/>
              </a:ext>
            </a:extLst>
          </p:cNvPr>
          <p:cNvSpPr>
            <a:spLocks xmlns:a="http://schemas.openxmlformats.org/drawingml/2006/main" noGrp="1"/>
          </p:cNvSpPr>
          <p:nvPr/>
        </p:nvSpPr>
        <p:spPr>
          <a:xfrm xmlns:a="http://schemas.openxmlformats.org/drawingml/2006/main">
            <a:off x="704850" y="4076700"/>
            <a:ext cx="1000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BFD7DD"/>
                </a:solidFill>
                <a:latin typeface="Arial"/>
                <a:ea typeface="Arial"/>
                <a:cs typeface="Arial"/>
              </a:defRPr>
            </a:defPPr>
          </a:lstStyle>
          <a:p xmlns:a="http://schemas.openxmlformats.org/drawingml/2006/main">
            <a:pPr>
              <a:defRPr sz="1950" b="0">
                <a:solidFill>
                  <a:srgbClr val="BFD7DD"/>
                </a:solidFill>
                <a:latin typeface="Arial"/>
                <a:ea typeface="Arial"/>
                <a:cs typeface="Arial"/>
              </a:defRPr>
            </a:pPr>
            <a:r>
              <a:rPr sz="1950" b="0">
                <a:solidFill>
                  <a:srgbClr val="BFD7DD"/>
                </a:solidFill>
                <a:latin typeface="Arial"/>
                <a:ea typeface="Arial"/>
                <a:cs typeface="Arial"/>
              </a:rPr>
              <a:t>Five-model comparison and a frozen contact-ranking application</a:t>
            </a:r>
          </a:p>
        </p:txBody>
      </p:sp>
      <p:sp>
        <p:nvSpPr>
          <p:cNvPr id="5" name="">
            <a:extLst xmlns:a="http://schemas.openxmlformats.org/drawingml/2006/main">
              <a:ext uri="{FF2B5EF4-FFF2-40B4-BE49-F238E27FC236}">
                <a16:creationId xmlns:a16="http://schemas.microsoft.com/office/drawing/2014/main" id="{80708F83-6FA7-447E-9527-8397EC139146}"/>
              </a:ext>
            </a:extLst>
          </p:cNvPr>
          <p:cNvSpPr>
            <a:spLocks xmlns:a="http://schemas.openxmlformats.org/drawingml/2006/main" noGrp="1"/>
          </p:cNvSpPr>
          <p:nvPr/>
        </p:nvSpPr>
        <p:spPr>
          <a:xfrm xmlns:a="http://schemas.openxmlformats.org/drawingml/2006/main">
            <a:off x="704850" y="5410200"/>
            <a:ext cx="1000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BFD7DD"/>
                </a:solidFill>
                <a:latin typeface="Arial"/>
                <a:ea typeface="Arial"/>
                <a:cs typeface="Arial"/>
              </a:defRPr>
            </a:defPPr>
          </a:lstStyle>
          <a:p xmlns:a="http://schemas.openxmlformats.org/drawingml/2006/main">
            <a:pPr>
              <a:defRPr sz="1650" b="0">
                <a:solidFill>
                  <a:srgbClr val="BFD7DD"/>
                </a:solidFill>
                <a:latin typeface="Arial"/>
                <a:ea typeface="Arial"/>
                <a:cs typeface="Arial"/>
              </a:defRPr>
            </a:pPr>
            <a:r>
              <a:rPr sz="1650" b="0">
                <a:solidFill>
                  <a:srgbClr val="BFD7DD"/>
                </a:solidFill>
                <a:latin typeface="Arial"/>
                <a:ea typeface="Arial"/>
                <a:cs typeface="Arial"/>
              </a:rPr>
              <a:t>COMP6140001 Data Mining</a:t>
            </a:r>
          </a:p>
          <a:p xmlns:a="http://schemas.openxmlformats.org/drawingml/2006/main">
            <a:pPr>
              <a:defRPr sz="1650" b="0">
                <a:solidFill>
                  <a:srgbClr val="BFD7DD"/>
                </a:solidFill>
                <a:latin typeface="Arial"/>
                <a:ea typeface="Arial"/>
                <a:cs typeface="Arial"/>
              </a:defRPr>
            </a:pPr>
            <a:r>
              <a:rPr sz="1650" b="0">
                <a:solidFill>
                  <a:srgbClr val="BFD7DD"/>
                </a:solidFill>
                <a:latin typeface="Arial"/>
                <a:ea typeface="Arial"/>
                <a:cs typeface="Arial"/>
              </a:rPr>
              <a:t>BINUS University | Academic Year 2026/2027</a:t>
            </a:r>
          </a:p>
        </p:txBody>
      </p:sp>
    </p:spTree>
    <p:extLst>
      <p:ext uri="{BB962C8B-B14F-4D97-AF65-F5344CB8AC3E}">
        <p14:creationId xmlns:p14="http://schemas.microsoft.com/office/powerpoint/2010/main" val="11449430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7397E6D-81B4-4877-BCAD-DD5799A387DA}"/>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A fixed quota needs ranking, not a yes label</a:t>
            </a:r>
          </a:p>
        </p:txBody>
      </p:sp>
      <p:sp>
        <p:nvSpPr>
          <p:cNvPr id="2" name="">
            <a:extLst xmlns:a="http://schemas.openxmlformats.org/drawingml/2006/main">
              <a:ext uri="{FF2B5EF4-FFF2-40B4-BE49-F238E27FC236}">
                <a16:creationId xmlns:a16="http://schemas.microsoft.com/office/drawing/2014/main" id="{004F8B8E-9C8D-4464-BBF8-2CA3FEAD2844}"/>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Retrospective test evidence for the selection-frozen GaussianNB model</a:t>
            </a:r>
          </a:p>
        </p:txBody>
      </p:sp>
      <p:sp>
        <p:nvSpPr>
          <p:cNvPr id="3" name="">
            <a:extLst xmlns:a="http://schemas.openxmlformats.org/drawingml/2006/main">
              <a:ext uri="{FF2B5EF4-FFF2-40B4-BE49-F238E27FC236}">
                <a16:creationId xmlns:a16="http://schemas.microsoft.com/office/drawing/2014/main" id="{2D36FADE-5A00-469C-B73A-87B087EC926D}"/>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F4AB18-2338-4DAD-8131-5E39EFDA8F3C}"/>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B7ADDD7A-6B84-4C3F-BF17-ECFCDADC8BF6}"/>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9430E858-29D8-4D16-B4E9-AF94B9E63C45}"/>
              </a:ext>
            </a:extLst>
          </p:cNvPr>
          <p:cNvSpPr>
            <a:spLocks xmlns:a="http://schemas.openxmlformats.org/drawingml/2006/main" noGrp="1"/>
          </p:cNvSpPr>
          <p:nvPr/>
        </p:nvSpPr>
        <p:spPr>
          <a:xfrm xmlns:a="http://schemas.openxmlformats.org/drawingml/2006/main">
            <a:off x="628650" y="2124075"/>
            <a:ext cx="31908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925" b="1">
                <a:solidFill>
                  <a:srgbClr val="087F83"/>
                </a:solidFill>
                <a:latin typeface="Arial"/>
                <a:ea typeface="Arial"/>
                <a:cs typeface="Arial"/>
              </a:defRPr>
            </a:defPPr>
          </a:lstStyle>
          <a:p xmlns:a="http://schemas.openxmlformats.org/drawingml/2006/main">
            <a:pPr>
              <a:defRPr sz="5925" b="1">
                <a:solidFill>
                  <a:srgbClr val="087F83"/>
                </a:solidFill>
                <a:latin typeface="Arial"/>
                <a:ea typeface="Arial"/>
                <a:cs typeface="Arial"/>
              </a:defRPr>
            </a:pPr>
            <a:r>
              <a:rPr sz="5925" b="1">
                <a:solidFill>
                  <a:srgbClr val="087F83"/>
                </a:solidFill>
                <a:latin typeface="Arial"/>
                <a:ea typeface="Arial"/>
                <a:cs typeface="Arial"/>
              </a:rPr>
              <a:t>824</a:t>
            </a:r>
          </a:p>
        </p:txBody>
      </p:sp>
      <p:sp>
        <p:nvSpPr>
          <p:cNvPr id="7" name="">
            <a:extLst xmlns:a="http://schemas.openxmlformats.org/drawingml/2006/main">
              <a:ext uri="{FF2B5EF4-FFF2-40B4-BE49-F238E27FC236}">
                <a16:creationId xmlns:a16="http://schemas.microsoft.com/office/drawing/2014/main" id="{2540D9A5-4C20-4EC0-8578-C3D9DF10E397}"/>
              </a:ext>
            </a:extLst>
          </p:cNvPr>
          <p:cNvSpPr>
            <a:spLocks xmlns:a="http://schemas.openxmlformats.org/drawingml/2006/main" noGrp="1"/>
          </p:cNvSpPr>
          <p:nvPr/>
        </p:nvSpPr>
        <p:spPr>
          <a:xfrm xmlns:a="http://schemas.openxmlformats.org/drawingml/2006/main">
            <a:off x="666750" y="3248025"/>
            <a:ext cx="3095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2D43"/>
                </a:solidFill>
                <a:latin typeface="Arial"/>
                <a:ea typeface="Arial"/>
                <a:cs typeface="Arial"/>
              </a:defRPr>
            </a:defPPr>
          </a:lstStyle>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contact priorities</a:t>
            </a:r>
          </a:p>
        </p:txBody>
      </p:sp>
      <p:sp>
        <p:nvSpPr>
          <p:cNvPr id="8" name="">
            <a:extLst xmlns:a="http://schemas.openxmlformats.org/drawingml/2006/main">
              <a:ext uri="{FF2B5EF4-FFF2-40B4-BE49-F238E27FC236}">
                <a16:creationId xmlns:a16="http://schemas.microsoft.com/office/drawing/2014/main" id="{3D093825-F64C-4222-8455-782984E6F7BC}"/>
              </a:ext>
            </a:extLst>
          </p:cNvPr>
          <p:cNvSpPr>
            <a:spLocks xmlns:a="http://schemas.openxmlformats.org/drawingml/2006/main" noGrp="1"/>
          </p:cNvSpPr>
          <p:nvPr/>
        </p:nvSpPr>
        <p:spPr>
          <a:xfrm xmlns:a="http://schemas.openxmlformats.org/drawingml/2006/main">
            <a:off x="4248150" y="2124075"/>
            <a:ext cx="31908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925" b="1">
                <a:solidFill>
                  <a:srgbClr val="087F83"/>
                </a:solidFill>
                <a:latin typeface="Arial"/>
                <a:ea typeface="Arial"/>
                <a:cs typeface="Arial"/>
              </a:defRPr>
            </a:defPPr>
          </a:lstStyle>
          <a:p xmlns:a="http://schemas.openxmlformats.org/drawingml/2006/main">
            <a:pPr>
              <a:defRPr sz="5925" b="1">
                <a:solidFill>
                  <a:srgbClr val="087F83"/>
                </a:solidFill>
                <a:latin typeface="Arial"/>
                <a:ea typeface="Arial"/>
                <a:cs typeface="Arial"/>
              </a:defRPr>
            </a:pPr>
            <a:r>
              <a:rPr sz="5925" b="1">
                <a:solidFill>
                  <a:srgbClr val="087F83"/>
                </a:solidFill>
                <a:latin typeface="Arial"/>
                <a:ea typeface="Arial"/>
                <a:cs typeface="Arial"/>
              </a:rPr>
              <a:t>512</a:t>
            </a:r>
          </a:p>
        </p:txBody>
      </p:sp>
      <p:sp>
        <p:nvSpPr>
          <p:cNvPr id="9" name="">
            <a:extLst xmlns:a="http://schemas.openxmlformats.org/drawingml/2006/main">
              <a:ext uri="{FF2B5EF4-FFF2-40B4-BE49-F238E27FC236}">
                <a16:creationId xmlns:a16="http://schemas.microsoft.com/office/drawing/2014/main" id="{E7F01D73-A89A-4D44-9FAD-025869FFE6A0}"/>
              </a:ext>
            </a:extLst>
          </p:cNvPr>
          <p:cNvSpPr>
            <a:spLocks xmlns:a="http://schemas.openxmlformats.org/drawingml/2006/main" noGrp="1"/>
          </p:cNvSpPr>
          <p:nvPr/>
        </p:nvSpPr>
        <p:spPr>
          <a:xfrm xmlns:a="http://schemas.openxmlformats.org/drawingml/2006/main">
            <a:off x="4286250" y="3248025"/>
            <a:ext cx="32099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2D43"/>
                </a:solidFill>
                <a:latin typeface="Arial"/>
                <a:ea typeface="Arial"/>
                <a:cs typeface="Arial"/>
              </a:defRPr>
            </a:defPPr>
          </a:lstStyle>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historical yes outcomes</a:t>
            </a:r>
          </a:p>
        </p:txBody>
      </p:sp>
      <p:sp>
        <p:nvSpPr>
          <p:cNvPr id="10" name="">
            <a:extLst xmlns:a="http://schemas.openxmlformats.org/drawingml/2006/main">
              <a:ext uri="{FF2B5EF4-FFF2-40B4-BE49-F238E27FC236}">
                <a16:creationId xmlns:a16="http://schemas.microsoft.com/office/drawing/2014/main" id="{81ECC90E-4820-4F02-92D3-904C0B128E14}"/>
              </a:ext>
            </a:extLst>
          </p:cNvPr>
          <p:cNvSpPr>
            <a:spLocks xmlns:a="http://schemas.openxmlformats.org/drawingml/2006/main" noGrp="1"/>
          </p:cNvSpPr>
          <p:nvPr/>
        </p:nvSpPr>
        <p:spPr>
          <a:xfrm xmlns:a="http://schemas.openxmlformats.org/drawingml/2006/main">
            <a:off x="7867650" y="2124075"/>
            <a:ext cx="31908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925" b="1">
                <a:solidFill>
                  <a:srgbClr val="CB9344"/>
                </a:solidFill>
                <a:latin typeface="Arial"/>
                <a:ea typeface="Arial"/>
                <a:cs typeface="Arial"/>
              </a:defRPr>
            </a:defPPr>
          </a:lstStyle>
          <a:p xmlns:a="http://schemas.openxmlformats.org/drawingml/2006/main">
            <a:pPr>
              <a:defRPr sz="5925" b="1">
                <a:solidFill>
                  <a:srgbClr val="CB9344"/>
                </a:solidFill>
                <a:latin typeface="Arial"/>
                <a:ea typeface="Arial"/>
                <a:cs typeface="Arial"/>
              </a:defRPr>
            </a:pPr>
            <a:r>
              <a:rPr sz="5925" b="1">
                <a:solidFill>
                  <a:srgbClr val="CB9344"/>
                </a:solidFill>
                <a:latin typeface="Arial"/>
                <a:ea typeface="Arial"/>
                <a:cs typeface="Arial"/>
              </a:rPr>
              <a:t>2.02</a:t>
            </a:r>
          </a:p>
        </p:txBody>
      </p:sp>
      <p:sp>
        <p:nvSpPr>
          <p:cNvPr id="11" name="">
            <a:extLst xmlns:a="http://schemas.openxmlformats.org/drawingml/2006/main">
              <a:ext uri="{FF2B5EF4-FFF2-40B4-BE49-F238E27FC236}">
                <a16:creationId xmlns:a16="http://schemas.microsoft.com/office/drawing/2014/main" id="{F6F5503F-556C-4588-A75B-ED39A24740A4}"/>
              </a:ext>
            </a:extLst>
          </p:cNvPr>
          <p:cNvSpPr>
            <a:spLocks xmlns:a="http://schemas.openxmlformats.org/drawingml/2006/main" noGrp="1"/>
          </p:cNvSpPr>
          <p:nvPr/>
        </p:nvSpPr>
        <p:spPr>
          <a:xfrm xmlns:a="http://schemas.openxmlformats.org/drawingml/2006/main">
            <a:off x="7905750" y="3248025"/>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2D43"/>
                </a:solidFill>
                <a:latin typeface="Arial"/>
                <a:ea typeface="Arial"/>
                <a:cs typeface="Arial"/>
              </a:defRPr>
            </a:defPPr>
          </a:lstStyle>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lift over test prevalence</a:t>
            </a:r>
          </a:p>
        </p:txBody>
      </p:sp>
      <p:sp>
        <p:nvSpPr>
          <p:cNvPr id="12" name="">
            <a:extLst xmlns:a="http://schemas.openxmlformats.org/drawingml/2006/main">
              <a:ext uri="{FF2B5EF4-FFF2-40B4-BE49-F238E27FC236}">
                <a16:creationId xmlns:a16="http://schemas.microsoft.com/office/drawing/2014/main" id="{D19A1477-C663-4094-A2CA-1458203BF21D}"/>
              </a:ext>
            </a:extLst>
          </p:cNvPr>
          <p:cNvSpPr>
            <a:spLocks xmlns:a="http://schemas.openxmlformats.org/drawingml/2006/main" noGrp="1"/>
          </p:cNvSpPr>
          <p:nvPr/>
        </p:nvSpPr>
        <p:spPr>
          <a:xfrm xmlns:a="http://schemas.openxmlformats.org/drawingml/2006/main">
            <a:off x="666750" y="46291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62.14% Precision@K | 20.16% Recall@K | 8,238 test observations</a:t>
            </a:r>
          </a:p>
        </p:txBody>
      </p:sp>
      <p:sp>
        <p:nvSpPr>
          <p:cNvPr id="13" name="">
            <a:extLst xmlns:a="http://schemas.openxmlformats.org/drawingml/2006/main">
              <a:ext uri="{FF2B5EF4-FFF2-40B4-BE49-F238E27FC236}">
                <a16:creationId xmlns:a16="http://schemas.microsoft.com/office/drawing/2014/main" id="{31839593-14FB-425F-9DF3-820E8C70E77F}"/>
              </a:ext>
            </a:extLst>
          </p:cNvPr>
          <p:cNvSpPr>
            <a:spLocks xmlns:a="http://schemas.openxmlformats.org/drawingml/2006/main" noGrp="1"/>
          </p:cNvSpPr>
          <p:nvPr/>
        </p:nvSpPr>
        <p:spPr>
          <a:xfrm xmlns:a="http://schemas.openxmlformats.org/drawingml/2006/main">
            <a:off x="666750" y="54673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Historical outcomes are not causal uplift or a forecast of future subscriptions.</a:t>
            </a:r>
          </a:p>
        </p:txBody>
      </p:sp>
    </p:spTree>
    <p:extLst>
      <p:ext uri="{BB962C8B-B14F-4D97-AF65-F5344CB8AC3E}">
        <p14:creationId xmlns:p14="http://schemas.microsoft.com/office/powerpoint/2010/main" val="18825720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55B4C7-9ABB-4628-9A9F-BC6B43A1CF07}"/>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Campaign planning within limited capacity</a:t>
            </a:r>
          </a:p>
        </p:txBody>
      </p:sp>
      <p:sp>
        <p:nvSpPr>
          <p:cNvPr id="2" name="">
            <a:extLst xmlns:a="http://schemas.openxmlformats.org/drawingml/2006/main">
              <a:ext uri="{FF2B5EF4-FFF2-40B4-BE49-F238E27FC236}">
                <a16:creationId xmlns:a16="http://schemas.microsoft.com/office/drawing/2014/main" id="{50E2D795-6312-4264-B2A5-0A0C72EEDB34}"/>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Stakeholder: a campaign analyst allocating a fixed calling budget</a:t>
            </a:r>
          </a:p>
        </p:txBody>
      </p:sp>
      <p:sp>
        <p:nvSpPr>
          <p:cNvPr id="3" name="">
            <a:extLst xmlns:a="http://schemas.openxmlformats.org/drawingml/2006/main">
              <a:ext uri="{FF2B5EF4-FFF2-40B4-BE49-F238E27FC236}">
                <a16:creationId xmlns:a16="http://schemas.microsoft.com/office/drawing/2014/main" id="{255A1192-FAF0-4383-BA46-6CE41F76BE9F}"/>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598FC75-6663-46A0-9AC3-783EAF41B790}"/>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5819C53E-5C9D-4AD1-B419-DFACC3A4904D}"/>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6811D646-F952-4F2A-BA8E-E14654F4E398}"/>
              </a:ext>
            </a:extLst>
          </p:cNvPr>
          <p:cNvSpPr>
            <a:spLocks xmlns:a="http://schemas.openxmlformats.org/drawingml/2006/main" noGrp="1"/>
          </p:cNvSpPr>
          <p:nvPr/>
        </p:nvSpPr>
        <p:spPr>
          <a:xfrm xmlns:a="http://schemas.openxmlformats.org/drawingml/2006/main">
            <a:off x="628650" y="2047875"/>
            <a:ext cx="4810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087F83"/>
                </a:solidFill>
                <a:latin typeface="Arial"/>
                <a:ea typeface="Arial"/>
                <a:cs typeface="Arial"/>
              </a:defRPr>
            </a:defPPr>
          </a:lstStyle>
          <a:p xmlns:a="http://schemas.openxmlformats.org/drawingml/2006/main">
            <a:pPr>
              <a:defRPr sz="2250" b="1">
                <a:solidFill>
                  <a:srgbClr val="087F83"/>
                </a:solidFill>
                <a:latin typeface="Arial"/>
                <a:ea typeface="Arial"/>
                <a:cs typeface="Arial"/>
              </a:defRPr>
            </a:pPr>
            <a:r>
              <a:rPr sz="2250" b="1">
                <a:solidFill>
                  <a:srgbClr val="087F83"/>
                </a:solidFill>
                <a:latin typeface="Arial"/>
                <a:ea typeface="Arial"/>
                <a:cs typeface="Arial"/>
              </a:rPr>
              <a:t>Business question</a:t>
            </a:r>
          </a:p>
        </p:txBody>
      </p:sp>
      <p:sp>
        <p:nvSpPr>
          <p:cNvPr id="7" name="">
            <a:extLst xmlns:a="http://schemas.openxmlformats.org/drawingml/2006/main">
              <a:ext uri="{FF2B5EF4-FFF2-40B4-BE49-F238E27FC236}">
                <a16:creationId xmlns:a16="http://schemas.microsoft.com/office/drawing/2014/main" id="{5C584196-B1D1-41AE-850E-3FA3754C5D89}"/>
              </a:ext>
            </a:extLst>
          </p:cNvPr>
          <p:cNvSpPr>
            <a:spLocks xmlns:a="http://schemas.openxmlformats.org/drawingml/2006/main" noGrp="1"/>
          </p:cNvSpPr>
          <p:nvPr/>
        </p:nvSpPr>
        <p:spPr>
          <a:xfrm xmlns:a="http://schemas.openxmlformats.org/drawingml/2006/main">
            <a:off x="628650" y="2724150"/>
            <a:ext cx="48101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72D43"/>
                </a:solidFill>
                <a:latin typeface="Arial"/>
                <a:ea typeface="Arial"/>
                <a:cs typeface="Arial"/>
              </a:defRPr>
            </a:defPPr>
          </a:lstStyle>
          <a:p xmlns:a="http://schemas.openxmlformats.org/drawingml/2006/main">
            <a:pPr>
              <a:defRPr sz="2400" b="0">
                <a:solidFill>
                  <a:srgbClr val="172D43"/>
                </a:solidFill>
                <a:latin typeface="Arial"/>
                <a:ea typeface="Arial"/>
                <a:cs typeface="Arial"/>
              </a:defRPr>
            </a:pPr>
            <a:r>
              <a:rPr sz="2400" b="0">
                <a:solidFill>
                  <a:srgbClr val="172D43"/>
                </a:solidFill>
                <a:latin typeface="Arial"/>
                <a:ea typeface="Arial"/>
                <a:cs typeface="Arial"/>
              </a:rPr>
              <a:t>Which contact observations should receive the available campaign slots?</a:t>
            </a:r>
          </a:p>
        </p:txBody>
      </p:sp>
      <p:sp>
        <p:nvSpPr>
          <p:cNvPr id="8" name="">
            <a:extLst xmlns:a="http://schemas.openxmlformats.org/drawingml/2006/main">
              <a:ext uri="{FF2B5EF4-FFF2-40B4-BE49-F238E27FC236}">
                <a16:creationId xmlns:a16="http://schemas.microsoft.com/office/drawing/2014/main" id="{C571200B-43EB-4B3E-8EE4-B3C3F4712EB6}"/>
              </a:ext>
            </a:extLst>
          </p:cNvPr>
          <p:cNvSpPr>
            <a:spLocks xmlns:a="http://schemas.openxmlformats.org/drawingml/2006/main" noGrp="1"/>
          </p:cNvSpPr>
          <p:nvPr/>
        </p:nvSpPr>
        <p:spPr>
          <a:xfrm xmlns:a="http://schemas.openxmlformats.org/drawingml/2006/main">
            <a:off x="6353175" y="2047875"/>
            <a:ext cx="52101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087F83"/>
                </a:solidFill>
                <a:latin typeface="Arial"/>
                <a:ea typeface="Arial"/>
                <a:cs typeface="Arial"/>
              </a:defRPr>
            </a:defPPr>
          </a:lstStyle>
          <a:p xmlns:a="http://schemas.openxmlformats.org/drawingml/2006/main">
            <a:pPr>
              <a:defRPr sz="2250" b="1">
                <a:solidFill>
                  <a:srgbClr val="087F83"/>
                </a:solidFill>
                <a:latin typeface="Arial"/>
                <a:ea typeface="Arial"/>
                <a:cs typeface="Arial"/>
              </a:defRPr>
            </a:pPr>
            <a:r>
              <a:rPr sz="2250" b="1">
                <a:solidFill>
                  <a:srgbClr val="087F83"/>
                </a:solidFill>
                <a:latin typeface="Arial"/>
                <a:ea typeface="Arial"/>
                <a:cs typeface="Arial"/>
              </a:rPr>
              <a:t>Application output</a:t>
            </a:r>
          </a:p>
        </p:txBody>
      </p:sp>
      <p:sp>
        <p:nvSpPr>
          <p:cNvPr id="9" name="">
            <a:extLst xmlns:a="http://schemas.openxmlformats.org/drawingml/2006/main">
              <a:ext uri="{FF2B5EF4-FFF2-40B4-BE49-F238E27FC236}">
                <a16:creationId xmlns:a16="http://schemas.microsoft.com/office/drawing/2014/main" id="{52E43ED2-C30B-49F4-B566-095C5FAA33E7}"/>
              </a:ext>
            </a:extLst>
          </p:cNvPr>
          <p:cNvSpPr>
            <a:spLocks xmlns:a="http://schemas.openxmlformats.org/drawingml/2006/main" noGrp="1"/>
          </p:cNvSpPr>
          <p:nvPr/>
        </p:nvSpPr>
        <p:spPr>
          <a:xfrm xmlns:a="http://schemas.openxmlformats.org/drawingml/2006/main">
            <a:off x="6353175" y="2724150"/>
            <a:ext cx="52101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72D43"/>
                </a:solidFill>
                <a:latin typeface="Arial"/>
                <a:ea typeface="Arial"/>
                <a:cs typeface="Arial"/>
              </a:defRPr>
            </a:defPPr>
          </a:lstStyle>
          <a:p xmlns:a="http://schemas.openxmlformats.org/drawingml/2006/main">
            <a:pPr>
              <a:defRPr sz="2400" b="0">
                <a:solidFill>
                  <a:srgbClr val="172D43"/>
                </a:solidFill>
                <a:latin typeface="Arial"/>
                <a:ea typeface="Arial"/>
                <a:cs typeface="Arial"/>
              </a:defRPr>
            </a:pPr>
            <a:r>
              <a:rPr sz="2400" b="0">
                <a:solidFill>
                  <a:srgbClr val="172D43"/>
                </a:solidFill>
                <a:latin typeface="Arial"/>
                <a:ea typeface="Arial"/>
                <a:cs typeface="Arial"/>
              </a:rPr>
              <a:t>A validated score, a fixed-threshold label, and exactly K contact priorities.</a:t>
            </a:r>
          </a:p>
        </p:txBody>
      </p:sp>
      <p:sp>
        <p:nvSpPr>
          <p:cNvPr id="10" name="">
            <a:extLst xmlns:a="http://schemas.openxmlformats.org/drawingml/2006/main">
              <a:ext uri="{FF2B5EF4-FFF2-40B4-BE49-F238E27FC236}">
                <a16:creationId xmlns:a16="http://schemas.microsoft.com/office/drawing/2014/main" id="{E9AE2D69-72CD-435F-B1A7-BE4EBC3B1EDF}"/>
              </a:ext>
            </a:extLst>
          </p:cNvPr>
          <p:cNvSpPr>
            <a:spLocks xmlns:a="http://schemas.openxmlformats.org/drawingml/2006/main" noGrp="1"/>
          </p:cNvSpPr>
          <p:nvPr/>
        </p:nvSpPr>
        <p:spPr>
          <a:xfrm xmlns:a="http://schemas.openxmlformats.org/drawingml/2006/main">
            <a:off x="628650" y="4819650"/>
            <a:ext cx="10934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172D43"/>
                </a:solidFill>
                <a:latin typeface="Arial"/>
                <a:ea typeface="Arial"/>
                <a:cs typeface="Arial"/>
              </a:defRPr>
            </a:defPPr>
          </a:lstStyle>
          <a:p xmlns:a="http://schemas.openxmlformats.org/drawingml/2006/main">
            <a:pPr>
              <a:defRPr sz="2025" b="1">
                <a:solidFill>
                  <a:srgbClr val="172D43"/>
                </a:solidFill>
                <a:latin typeface="Arial"/>
                <a:ea typeface="Arial"/>
                <a:cs typeface="Arial"/>
              </a:defRPr>
            </a:pPr>
            <a:r>
              <a:rPr sz="2025" b="1">
                <a:solidFill>
                  <a:srgbClr val="172D43"/>
                </a:solidFill>
                <a:latin typeface="Arial"/>
                <a:ea typeface="Arial"/>
                <a:cs typeface="Arial"/>
              </a:rPr>
              <a:t>Measure retrieval and capacity utility. Do not claim ROI or incremental response.</a:t>
            </a:r>
          </a:p>
        </p:txBody>
      </p:sp>
    </p:spTree>
    <p:extLst>
      <p:ext uri="{BB962C8B-B14F-4D97-AF65-F5344CB8AC3E}">
        <p14:creationId xmlns:p14="http://schemas.microsoft.com/office/powerpoint/2010/main" val="8157637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66A63C-1393-4B92-8BC8-BE538F50CC39}"/>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The dataset is historical and imbalanced</a:t>
            </a:r>
          </a:p>
        </p:txBody>
      </p:sp>
      <p:sp>
        <p:nvSpPr>
          <p:cNvPr id="2" name="">
            <a:extLst xmlns:a="http://schemas.openxmlformats.org/drawingml/2006/main">
              <a:ext uri="{FF2B5EF4-FFF2-40B4-BE49-F238E27FC236}">
                <a16:creationId xmlns:a16="http://schemas.microsoft.com/office/drawing/2014/main" id="{46B64BFB-9889-411E-92DA-F0479CA4798D}"/>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UCI bank-additional-full | Portuguese bank contacts, May 2008-November 2010</a:t>
            </a:r>
          </a:p>
        </p:txBody>
      </p:sp>
      <p:sp>
        <p:nvSpPr>
          <p:cNvPr id="3" name="">
            <a:extLst xmlns:a="http://schemas.openxmlformats.org/drawingml/2006/main">
              <a:ext uri="{FF2B5EF4-FFF2-40B4-BE49-F238E27FC236}">
                <a16:creationId xmlns:a16="http://schemas.microsoft.com/office/drawing/2014/main" id="{7C2B71A1-3F01-41CF-96CD-53B07BD05682}"/>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2BDCA9-AB07-4E9B-945E-858C818392F0}"/>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9957698E-4553-41B3-A357-0D099ED50F87}"/>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F6A69DA3-3224-47A5-8A68-0DAD04458B1B}"/>
              </a:ext>
            </a:extLst>
          </p:cNvPr>
          <p:cNvSpPr>
            <a:spLocks xmlns:a="http://schemas.openxmlformats.org/drawingml/2006/main" noGrp="1"/>
          </p:cNvSpPr>
          <p:nvPr/>
        </p:nvSpPr>
        <p:spPr>
          <a:xfrm xmlns:a="http://schemas.openxmlformats.org/drawingml/2006/main">
            <a:off x="647700" y="2095500"/>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400" b="1">
                <a:solidFill>
                  <a:srgbClr val="087F83"/>
                </a:solidFill>
                <a:latin typeface="Arial"/>
                <a:ea typeface="Arial"/>
                <a:cs typeface="Arial"/>
              </a:defRPr>
            </a:defPPr>
          </a:lstStyle>
          <a:p xmlns:a="http://schemas.openxmlformats.org/drawingml/2006/main">
            <a:pPr>
              <a:defRPr sz="5400" b="1">
                <a:solidFill>
                  <a:srgbClr val="087F83"/>
                </a:solidFill>
                <a:latin typeface="Arial"/>
                <a:ea typeface="Arial"/>
                <a:cs typeface="Arial"/>
              </a:defRPr>
            </a:pPr>
            <a:r>
              <a:rPr sz="5400" b="1">
                <a:solidFill>
                  <a:srgbClr val="087F83"/>
                </a:solidFill>
                <a:latin typeface="Arial"/>
                <a:ea typeface="Arial"/>
                <a:cs typeface="Arial"/>
              </a:rPr>
              <a:t>41,188</a:t>
            </a:r>
          </a:p>
        </p:txBody>
      </p:sp>
      <p:sp>
        <p:nvSpPr>
          <p:cNvPr id="7" name="">
            <a:extLst xmlns:a="http://schemas.openxmlformats.org/drawingml/2006/main">
              <a:ext uri="{FF2B5EF4-FFF2-40B4-BE49-F238E27FC236}">
                <a16:creationId xmlns:a16="http://schemas.microsoft.com/office/drawing/2014/main" id="{52840964-4A6A-4BE2-A13A-8A81EBC66C3B}"/>
              </a:ext>
            </a:extLst>
          </p:cNvPr>
          <p:cNvSpPr>
            <a:spLocks xmlns:a="http://schemas.openxmlformats.org/drawingml/2006/main" noGrp="1"/>
          </p:cNvSpPr>
          <p:nvPr/>
        </p:nvSpPr>
        <p:spPr>
          <a:xfrm xmlns:a="http://schemas.openxmlformats.org/drawingml/2006/main">
            <a:off x="666750" y="32385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2D43"/>
                </a:solidFill>
                <a:latin typeface="Arial"/>
                <a:ea typeface="Arial"/>
                <a:cs typeface="Arial"/>
              </a:defRPr>
            </a:defPPr>
          </a:lstStyle>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contact observations</a:t>
            </a:r>
          </a:p>
        </p:txBody>
      </p:sp>
      <p:sp>
        <p:nvSpPr>
          <p:cNvPr id="8" name="">
            <a:extLst xmlns:a="http://schemas.openxmlformats.org/drawingml/2006/main">
              <a:ext uri="{FF2B5EF4-FFF2-40B4-BE49-F238E27FC236}">
                <a16:creationId xmlns:a16="http://schemas.microsoft.com/office/drawing/2014/main" id="{C8BFC3BD-7270-4500-A0CB-FF1883386DBB}"/>
              </a:ext>
            </a:extLst>
          </p:cNvPr>
          <p:cNvSpPr>
            <a:spLocks xmlns:a="http://schemas.openxmlformats.org/drawingml/2006/main" noGrp="1"/>
          </p:cNvSpPr>
          <p:nvPr/>
        </p:nvSpPr>
        <p:spPr>
          <a:xfrm xmlns:a="http://schemas.openxmlformats.org/drawingml/2006/main">
            <a:off x="666750" y="4248150"/>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2D43"/>
                </a:solidFill>
                <a:latin typeface="Arial"/>
                <a:ea typeface="Arial"/>
                <a:cs typeface="Arial"/>
              </a:defRPr>
            </a:defPPr>
          </a:lstStyle>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20 inputs + binary target y</a:t>
            </a:r>
          </a:p>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12 duplicates retained</a:t>
            </a:r>
          </a:p>
          <a:p xmlns:a="http://schemas.openxmlformats.org/drawingml/2006/main">
            <a:pPr>
              <a:defRPr sz="1950" b="0">
                <a:solidFill>
                  <a:srgbClr val="172D43"/>
                </a:solidFill>
                <a:latin typeface="Arial"/>
                <a:ea typeface="Arial"/>
                <a:cs typeface="Arial"/>
              </a:defRPr>
            </a:pPr>
            <a:r>
              <a:rPr sz="1950" b="0">
                <a:solidFill>
                  <a:srgbClr val="172D43"/>
                </a:solidFill>
                <a:latin typeface="Arial"/>
                <a:ea typeface="Arial"/>
                <a:cs typeface="Arial"/>
              </a:rPr>
              <a:t>Unknown categories preserved</a:t>
            </a:r>
          </a:p>
        </p:txBody>
      </p:sp>
      <p:graphicFrame>
        <p:nvGraphicFramePr>
          <p:cNvPr id="9" name="Chart">
            <a:extLst xmlns:a="http://schemas.openxmlformats.org/drawingml/2006/main">
              <a:ext uri="{FF2B5EF4-FFF2-40B4-BE49-F238E27FC236}">
                <a16:creationId xmlns:a16="http://schemas.microsoft.com/office/drawing/2014/main" id="{2625DA1F-8CCE-430C-BFC7-D40DE9C4222E}"/>
              </a:ext>
            </a:extLst>
          </p:cNvPr>
          <p:cNvGraphicFramePr/>
          <p:nvPr/>
        </p:nvGraphicFramePr>
        <p:xfrm>
          <a:off xmlns:a="http://schemas.openxmlformats.org/drawingml/2006/main" x="6210300" y="2066925"/>
          <a:ext xmlns:a="http://schemas.openxmlformats.org/drawingml/2006/main" cx="5086350" cy="3390900"/>
        </p:xfrm>
        <a:graphic xmlns:a="http://schemas.openxmlformats.org/drawingml/2006/main">
          <a:graphicData uri="http://schemas.openxmlformats.org/drawingml/2006/chart">
            <c:chart xmlns:r="http://schemas.openxmlformats.org/officeDocument/2006/relationships" xmlns:c="http://schemas.openxmlformats.org/drawingml/2006/chart" r:id="Rb008cf2676d241e3"/>
          </a:graphicData>
        </a:graphic>
      </p:graphicFrame>
      <p:sp>
        <p:nvSpPr>
          <p:cNvPr id="10" name="">
            <a:extLst xmlns:a="http://schemas.openxmlformats.org/drawingml/2006/main">
              <a:ext uri="{FF2B5EF4-FFF2-40B4-BE49-F238E27FC236}">
                <a16:creationId xmlns:a16="http://schemas.microsoft.com/office/drawing/2014/main" id="{F1A3DF96-075E-405B-BA86-C3064969E49F}"/>
              </a:ext>
            </a:extLst>
          </p:cNvPr>
          <p:cNvSpPr>
            <a:spLocks xmlns:a="http://schemas.openxmlformats.org/drawingml/2006/main" noGrp="1"/>
          </p:cNvSpPr>
          <p:nvPr/>
        </p:nvSpPr>
        <p:spPr>
          <a:xfrm xmlns:a="http://schemas.openxmlformats.org/drawingml/2006/main">
            <a:off x="6191250" y="5619750"/>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yes 11.27% | no 88.73%</a:t>
            </a:r>
          </a:p>
        </p:txBody>
      </p:sp>
    </p:spTree>
    <p:extLst>
      <p:ext uri="{BB962C8B-B14F-4D97-AF65-F5344CB8AC3E}">
        <p14:creationId xmlns:p14="http://schemas.microsoft.com/office/powerpoint/2010/main" val="16992812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9C65A69-2B8A-4FA5-B7EA-934A8A7B6722}"/>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KDD turns raw records into auditable decisions</a:t>
            </a:r>
          </a:p>
        </p:txBody>
      </p:sp>
      <p:sp>
        <p:nvSpPr>
          <p:cNvPr id="2" name="">
            <a:extLst xmlns:a="http://schemas.openxmlformats.org/drawingml/2006/main">
              <a:ext uri="{FF2B5EF4-FFF2-40B4-BE49-F238E27FC236}">
                <a16:creationId xmlns:a16="http://schemas.microsoft.com/office/drawing/2014/main" id="{9C11AF16-44F9-42A0-862D-27C2871C11A9}"/>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All five required stages are present in the application and report</a:t>
            </a:r>
          </a:p>
        </p:txBody>
      </p:sp>
      <p:sp>
        <p:nvSpPr>
          <p:cNvPr id="3" name="">
            <a:extLst xmlns:a="http://schemas.openxmlformats.org/drawingml/2006/main">
              <a:ext uri="{FF2B5EF4-FFF2-40B4-BE49-F238E27FC236}">
                <a16:creationId xmlns:a16="http://schemas.microsoft.com/office/drawing/2014/main" id="{4831AC74-1E7D-48DF-A5CA-919E72C03EBF}"/>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358959E-7341-49AB-9DB2-E4ADCFDDC3E6}"/>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F230E329-FC58-424B-92D3-B16003C46A93}"/>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340A91C8-7890-4173-9506-C1142DC7F332}"/>
              </a:ext>
            </a:extLst>
          </p:cNvPr>
          <p:cNvSpPr>
            <a:spLocks xmlns:a="http://schemas.openxmlformats.org/drawingml/2006/main" noGrp="1"/>
          </p:cNvSpPr>
          <p:nvPr/>
        </p:nvSpPr>
        <p:spPr>
          <a:xfrm xmlns:a="http://schemas.openxmlformats.org/drawingml/2006/main">
            <a:off x="609600" y="2276475"/>
            <a:ext cx="2047875" cy="76200"/>
          </a:xfrm>
          <a:prstGeom xmlns:a="http://schemas.openxmlformats.org/drawingml/2006/main" prst="rect">
            <a:avLst/>
          </a:prstGeom>
          <a:solidFill xmlns:a="http://schemas.openxmlformats.org/drawingml/2006/main">
            <a:srgbClr val="087F8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B2B48C3-6E16-4965-88D7-767881B4281B}"/>
              </a:ext>
            </a:extLst>
          </p:cNvPr>
          <p:cNvSpPr>
            <a:spLocks xmlns:a="http://schemas.openxmlformats.org/drawingml/2006/main" noGrp="1"/>
          </p:cNvSpPr>
          <p:nvPr/>
        </p:nvSpPr>
        <p:spPr>
          <a:xfrm xmlns:a="http://schemas.openxmlformats.org/drawingml/2006/main">
            <a:off x="609600" y="2647950"/>
            <a:ext cx="2047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087F83"/>
                </a:solidFill>
                <a:latin typeface="Arial"/>
                <a:ea typeface="Arial"/>
                <a:cs typeface="Arial"/>
              </a:defRPr>
            </a:defPPr>
          </a:lstStyle>
          <a:p xmlns:a="http://schemas.openxmlformats.org/drawingml/2006/main">
            <a:pPr>
              <a:defRPr sz="3600" b="1">
                <a:solidFill>
                  <a:srgbClr val="087F83"/>
                </a:solidFill>
                <a:latin typeface="Arial"/>
                <a:ea typeface="Arial"/>
                <a:cs typeface="Arial"/>
              </a:defRPr>
            </a:pPr>
            <a:r>
              <a:rPr sz="3600" b="1">
                <a:solidFill>
                  <a:srgbClr val="087F83"/>
                </a:solidFill>
                <a:latin typeface="Arial"/>
                <a:ea typeface="Arial"/>
                <a:cs typeface="Arial"/>
              </a:rPr>
              <a:t>1</a:t>
            </a:r>
          </a:p>
        </p:txBody>
      </p:sp>
      <p:sp>
        <p:nvSpPr>
          <p:cNvPr id="8" name="">
            <a:extLst xmlns:a="http://schemas.openxmlformats.org/drawingml/2006/main">
              <a:ext uri="{FF2B5EF4-FFF2-40B4-BE49-F238E27FC236}">
                <a16:creationId xmlns:a16="http://schemas.microsoft.com/office/drawing/2014/main" id="{C0FE72EE-7185-40BF-954D-8E48BEF21A1D}"/>
              </a:ext>
            </a:extLst>
          </p:cNvPr>
          <p:cNvSpPr>
            <a:spLocks xmlns:a="http://schemas.openxmlformats.org/drawingml/2006/main" noGrp="1"/>
          </p:cNvSpPr>
          <p:nvPr/>
        </p:nvSpPr>
        <p:spPr>
          <a:xfrm xmlns:a="http://schemas.openxmlformats.org/drawingml/2006/main">
            <a:off x="609600" y="3533775"/>
            <a:ext cx="2076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2D43"/>
                </a:solidFill>
                <a:latin typeface="Arial"/>
                <a:ea typeface="Arial"/>
                <a:cs typeface="Arial"/>
              </a:defRPr>
            </a:defPPr>
          </a:lstStyle>
          <a:p xmlns:a="http://schemas.openxmlformats.org/drawingml/2006/main">
            <a:pPr>
              <a:defRPr sz="1800" b="1">
                <a:solidFill>
                  <a:srgbClr val="172D43"/>
                </a:solidFill>
                <a:latin typeface="Arial"/>
                <a:ea typeface="Arial"/>
                <a:cs typeface="Arial"/>
              </a:defRPr>
            </a:pPr>
            <a:r>
              <a:rPr sz="1800" b="1">
                <a:solidFill>
                  <a:srgbClr val="172D43"/>
                </a:solidFill>
                <a:latin typeface="Arial"/>
                <a:ea typeface="Arial"/>
                <a:cs typeface="Arial"/>
              </a:rPr>
              <a:t>Selection</a:t>
            </a:r>
          </a:p>
        </p:txBody>
      </p:sp>
      <p:sp>
        <p:nvSpPr>
          <p:cNvPr id="9" name="">
            <a:extLst xmlns:a="http://schemas.openxmlformats.org/drawingml/2006/main">
              <a:ext uri="{FF2B5EF4-FFF2-40B4-BE49-F238E27FC236}">
                <a16:creationId xmlns:a16="http://schemas.microsoft.com/office/drawing/2014/main" id="{D84D5AAC-33E2-4FAF-A81E-0B078C5503F4}"/>
              </a:ext>
            </a:extLst>
          </p:cNvPr>
          <p:cNvSpPr>
            <a:spLocks xmlns:a="http://schemas.openxmlformats.org/drawingml/2006/main" noGrp="1"/>
          </p:cNvSpPr>
          <p:nvPr/>
        </p:nvSpPr>
        <p:spPr>
          <a:xfrm xmlns:a="http://schemas.openxmlformats.org/drawingml/2006/main">
            <a:off x="609600" y="4219575"/>
            <a:ext cx="2047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Official full CSV</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Core attributes</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Checksum pin</a:t>
            </a:r>
          </a:p>
        </p:txBody>
      </p:sp>
      <p:sp>
        <p:nvSpPr>
          <p:cNvPr id="10" name="">
            <a:extLst xmlns:a="http://schemas.openxmlformats.org/drawingml/2006/main">
              <a:ext uri="{FF2B5EF4-FFF2-40B4-BE49-F238E27FC236}">
                <a16:creationId xmlns:a16="http://schemas.microsoft.com/office/drawing/2014/main" id="{89D86D29-7802-41E0-9AE6-E9E1F97A5C86}"/>
              </a:ext>
            </a:extLst>
          </p:cNvPr>
          <p:cNvSpPr>
            <a:spLocks xmlns:a="http://schemas.openxmlformats.org/drawingml/2006/main" noGrp="1"/>
          </p:cNvSpPr>
          <p:nvPr/>
        </p:nvSpPr>
        <p:spPr>
          <a:xfrm xmlns:a="http://schemas.openxmlformats.org/drawingml/2006/main">
            <a:off x="2838450" y="2276475"/>
            <a:ext cx="2047875" cy="76200"/>
          </a:xfrm>
          <a:prstGeom xmlns:a="http://schemas.openxmlformats.org/drawingml/2006/main" prst="rect">
            <a:avLst/>
          </a:prstGeom>
          <a:solidFill xmlns:a="http://schemas.openxmlformats.org/drawingml/2006/main">
            <a:srgbClr val="087F8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A9FA3F0-B6F1-4200-9B22-0316E83441A7}"/>
              </a:ext>
            </a:extLst>
          </p:cNvPr>
          <p:cNvSpPr>
            <a:spLocks xmlns:a="http://schemas.openxmlformats.org/drawingml/2006/main" noGrp="1"/>
          </p:cNvSpPr>
          <p:nvPr/>
        </p:nvSpPr>
        <p:spPr>
          <a:xfrm xmlns:a="http://schemas.openxmlformats.org/drawingml/2006/main">
            <a:off x="2838450" y="2647950"/>
            <a:ext cx="2047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087F83"/>
                </a:solidFill>
                <a:latin typeface="Arial"/>
                <a:ea typeface="Arial"/>
                <a:cs typeface="Arial"/>
              </a:defRPr>
            </a:defPPr>
          </a:lstStyle>
          <a:p xmlns:a="http://schemas.openxmlformats.org/drawingml/2006/main">
            <a:pPr>
              <a:defRPr sz="3600" b="1">
                <a:solidFill>
                  <a:srgbClr val="087F83"/>
                </a:solidFill>
                <a:latin typeface="Arial"/>
                <a:ea typeface="Arial"/>
                <a:cs typeface="Arial"/>
              </a:defRPr>
            </a:pPr>
            <a:r>
              <a:rPr sz="3600" b="1">
                <a:solidFill>
                  <a:srgbClr val="087F83"/>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FC4EC416-7B5C-48C7-80CF-850248E8DB17}"/>
              </a:ext>
            </a:extLst>
          </p:cNvPr>
          <p:cNvSpPr>
            <a:spLocks xmlns:a="http://schemas.openxmlformats.org/drawingml/2006/main" noGrp="1"/>
          </p:cNvSpPr>
          <p:nvPr/>
        </p:nvSpPr>
        <p:spPr>
          <a:xfrm xmlns:a="http://schemas.openxmlformats.org/drawingml/2006/main">
            <a:off x="2838450" y="3533775"/>
            <a:ext cx="2076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2D43"/>
                </a:solidFill>
                <a:latin typeface="Arial"/>
                <a:ea typeface="Arial"/>
                <a:cs typeface="Arial"/>
              </a:defRPr>
            </a:defPPr>
          </a:lstStyle>
          <a:p xmlns:a="http://schemas.openxmlformats.org/drawingml/2006/main">
            <a:pPr>
              <a:defRPr sz="1800" b="1">
                <a:solidFill>
                  <a:srgbClr val="172D43"/>
                </a:solidFill>
                <a:latin typeface="Arial"/>
                <a:ea typeface="Arial"/>
                <a:cs typeface="Arial"/>
              </a:defRPr>
            </a:pPr>
            <a:r>
              <a:rPr sz="1800" b="1">
                <a:solidFill>
                  <a:srgbClr val="172D43"/>
                </a:solidFill>
                <a:latin typeface="Arial"/>
                <a:ea typeface="Arial"/>
                <a:cs typeface="Arial"/>
              </a:rPr>
              <a:t>Preprocessing</a:t>
            </a:r>
          </a:p>
        </p:txBody>
      </p:sp>
      <p:sp>
        <p:nvSpPr>
          <p:cNvPr id="13" name="">
            <a:extLst xmlns:a="http://schemas.openxmlformats.org/drawingml/2006/main">
              <a:ext uri="{FF2B5EF4-FFF2-40B4-BE49-F238E27FC236}">
                <a16:creationId xmlns:a16="http://schemas.microsoft.com/office/drawing/2014/main" id="{1F593F27-1340-4AD0-B2F5-18634EF25EB3}"/>
              </a:ext>
            </a:extLst>
          </p:cNvPr>
          <p:cNvSpPr>
            <a:spLocks xmlns:a="http://schemas.openxmlformats.org/drawingml/2006/main" noGrp="1"/>
          </p:cNvSpPr>
          <p:nvPr/>
        </p:nvSpPr>
        <p:spPr>
          <a:xfrm xmlns:a="http://schemas.openxmlformats.org/drawingml/2006/main">
            <a:off x="2838450" y="4219575"/>
            <a:ext cx="2047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Validate schema</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Audit duplicates</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Reject bad rows</a:t>
            </a:r>
          </a:p>
        </p:txBody>
      </p:sp>
      <p:sp>
        <p:nvSpPr>
          <p:cNvPr id="14" name="">
            <a:extLst xmlns:a="http://schemas.openxmlformats.org/drawingml/2006/main">
              <a:ext uri="{FF2B5EF4-FFF2-40B4-BE49-F238E27FC236}">
                <a16:creationId xmlns:a16="http://schemas.microsoft.com/office/drawing/2014/main" id="{EAE43908-C1E2-4D10-9C76-0771F16C20D7}"/>
              </a:ext>
            </a:extLst>
          </p:cNvPr>
          <p:cNvSpPr>
            <a:spLocks xmlns:a="http://schemas.openxmlformats.org/drawingml/2006/main" noGrp="1"/>
          </p:cNvSpPr>
          <p:nvPr/>
        </p:nvSpPr>
        <p:spPr>
          <a:xfrm xmlns:a="http://schemas.openxmlformats.org/drawingml/2006/main">
            <a:off x="5067300" y="2276475"/>
            <a:ext cx="2047875" cy="76200"/>
          </a:xfrm>
          <a:prstGeom xmlns:a="http://schemas.openxmlformats.org/drawingml/2006/main" prst="rect">
            <a:avLst/>
          </a:prstGeom>
          <a:solidFill xmlns:a="http://schemas.openxmlformats.org/drawingml/2006/main">
            <a:srgbClr val="087F8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A272FD8-21F3-4CF1-9F79-73D002741362}"/>
              </a:ext>
            </a:extLst>
          </p:cNvPr>
          <p:cNvSpPr>
            <a:spLocks xmlns:a="http://schemas.openxmlformats.org/drawingml/2006/main" noGrp="1"/>
          </p:cNvSpPr>
          <p:nvPr/>
        </p:nvSpPr>
        <p:spPr>
          <a:xfrm xmlns:a="http://schemas.openxmlformats.org/drawingml/2006/main">
            <a:off x="5067300" y="2647950"/>
            <a:ext cx="2047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087F83"/>
                </a:solidFill>
                <a:latin typeface="Arial"/>
                <a:ea typeface="Arial"/>
                <a:cs typeface="Arial"/>
              </a:defRPr>
            </a:defPPr>
          </a:lstStyle>
          <a:p xmlns:a="http://schemas.openxmlformats.org/drawingml/2006/main">
            <a:pPr>
              <a:defRPr sz="3600" b="1">
                <a:solidFill>
                  <a:srgbClr val="087F83"/>
                </a:solidFill>
                <a:latin typeface="Arial"/>
                <a:ea typeface="Arial"/>
                <a:cs typeface="Arial"/>
              </a:defRPr>
            </a:pPr>
            <a:r>
              <a:rPr sz="3600" b="1">
                <a:solidFill>
                  <a:srgbClr val="087F83"/>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58BE9D5B-BA68-4B11-BC3F-33A6054E6835}"/>
              </a:ext>
            </a:extLst>
          </p:cNvPr>
          <p:cNvSpPr>
            <a:spLocks xmlns:a="http://schemas.openxmlformats.org/drawingml/2006/main" noGrp="1"/>
          </p:cNvSpPr>
          <p:nvPr/>
        </p:nvSpPr>
        <p:spPr>
          <a:xfrm xmlns:a="http://schemas.openxmlformats.org/drawingml/2006/main">
            <a:off x="5067300" y="3533775"/>
            <a:ext cx="2076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2D43"/>
                </a:solidFill>
                <a:latin typeface="Arial"/>
                <a:ea typeface="Arial"/>
                <a:cs typeface="Arial"/>
              </a:defRPr>
            </a:defPPr>
          </a:lstStyle>
          <a:p xmlns:a="http://schemas.openxmlformats.org/drawingml/2006/main">
            <a:pPr>
              <a:defRPr sz="1800" b="1">
                <a:solidFill>
                  <a:srgbClr val="172D43"/>
                </a:solidFill>
                <a:latin typeface="Arial"/>
                <a:ea typeface="Arial"/>
                <a:cs typeface="Arial"/>
              </a:defRPr>
            </a:pPr>
            <a:r>
              <a:rPr sz="1800" b="1">
                <a:solidFill>
                  <a:srgbClr val="172D43"/>
                </a:solidFill>
                <a:latin typeface="Arial"/>
                <a:ea typeface="Arial"/>
                <a:cs typeface="Arial"/>
              </a:rPr>
              <a:t>Transformation</a:t>
            </a:r>
          </a:p>
        </p:txBody>
      </p:sp>
      <p:sp>
        <p:nvSpPr>
          <p:cNvPr id="17" name="">
            <a:extLst xmlns:a="http://schemas.openxmlformats.org/drawingml/2006/main">
              <a:ext uri="{FF2B5EF4-FFF2-40B4-BE49-F238E27FC236}">
                <a16:creationId xmlns:a16="http://schemas.microsoft.com/office/drawing/2014/main" id="{F6215DFE-4A54-4EEB-9897-89ACE992AF15}"/>
              </a:ext>
            </a:extLst>
          </p:cNvPr>
          <p:cNvSpPr>
            <a:spLocks xmlns:a="http://schemas.openxmlformats.org/drawingml/2006/main" noGrp="1"/>
          </p:cNvSpPr>
          <p:nvPr/>
        </p:nvSpPr>
        <p:spPr>
          <a:xfrm xmlns:a="http://schemas.openxmlformats.org/drawingml/2006/main">
            <a:off x="5067300" y="4219575"/>
            <a:ext cx="2047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pdays sentinel</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One-hot encoding</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Train-only fit</a:t>
            </a:r>
          </a:p>
        </p:txBody>
      </p:sp>
      <p:sp>
        <p:nvSpPr>
          <p:cNvPr id="18" name="">
            <a:extLst xmlns:a="http://schemas.openxmlformats.org/drawingml/2006/main">
              <a:ext uri="{FF2B5EF4-FFF2-40B4-BE49-F238E27FC236}">
                <a16:creationId xmlns:a16="http://schemas.microsoft.com/office/drawing/2014/main" id="{1029DDEB-16B9-4186-ABC9-393C8E3287A8}"/>
              </a:ext>
            </a:extLst>
          </p:cNvPr>
          <p:cNvSpPr>
            <a:spLocks xmlns:a="http://schemas.openxmlformats.org/drawingml/2006/main" noGrp="1"/>
          </p:cNvSpPr>
          <p:nvPr/>
        </p:nvSpPr>
        <p:spPr>
          <a:xfrm xmlns:a="http://schemas.openxmlformats.org/drawingml/2006/main">
            <a:off x="7296150" y="2276475"/>
            <a:ext cx="2047875" cy="76200"/>
          </a:xfrm>
          <a:prstGeom xmlns:a="http://schemas.openxmlformats.org/drawingml/2006/main" prst="rect">
            <a:avLst/>
          </a:prstGeom>
          <a:solidFill xmlns:a="http://schemas.openxmlformats.org/drawingml/2006/main">
            <a:srgbClr val="087F8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E70FC80-48A5-4000-AE54-D161374B9E11}"/>
              </a:ext>
            </a:extLst>
          </p:cNvPr>
          <p:cNvSpPr>
            <a:spLocks xmlns:a="http://schemas.openxmlformats.org/drawingml/2006/main" noGrp="1"/>
          </p:cNvSpPr>
          <p:nvPr/>
        </p:nvSpPr>
        <p:spPr>
          <a:xfrm xmlns:a="http://schemas.openxmlformats.org/drawingml/2006/main">
            <a:off x="7296150" y="2647950"/>
            <a:ext cx="2047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087F83"/>
                </a:solidFill>
                <a:latin typeface="Arial"/>
                <a:ea typeface="Arial"/>
                <a:cs typeface="Arial"/>
              </a:defRPr>
            </a:defPPr>
          </a:lstStyle>
          <a:p xmlns:a="http://schemas.openxmlformats.org/drawingml/2006/main">
            <a:pPr>
              <a:defRPr sz="3600" b="1">
                <a:solidFill>
                  <a:srgbClr val="087F83"/>
                </a:solidFill>
                <a:latin typeface="Arial"/>
                <a:ea typeface="Arial"/>
                <a:cs typeface="Arial"/>
              </a:defRPr>
            </a:pPr>
            <a:r>
              <a:rPr sz="3600" b="1">
                <a:solidFill>
                  <a:srgbClr val="087F83"/>
                </a:solidFill>
                <a:latin typeface="Arial"/>
                <a:ea typeface="Arial"/>
                <a:cs typeface="Arial"/>
              </a:rPr>
              <a:t>4</a:t>
            </a:r>
          </a:p>
        </p:txBody>
      </p:sp>
      <p:sp>
        <p:nvSpPr>
          <p:cNvPr id="20" name="">
            <a:extLst xmlns:a="http://schemas.openxmlformats.org/drawingml/2006/main">
              <a:ext uri="{FF2B5EF4-FFF2-40B4-BE49-F238E27FC236}">
                <a16:creationId xmlns:a16="http://schemas.microsoft.com/office/drawing/2014/main" id="{151935FF-A2D8-4CCA-83D8-7DD4933703C5}"/>
              </a:ext>
            </a:extLst>
          </p:cNvPr>
          <p:cNvSpPr>
            <a:spLocks xmlns:a="http://schemas.openxmlformats.org/drawingml/2006/main" noGrp="1"/>
          </p:cNvSpPr>
          <p:nvPr/>
        </p:nvSpPr>
        <p:spPr>
          <a:xfrm xmlns:a="http://schemas.openxmlformats.org/drawingml/2006/main">
            <a:off x="7296150" y="3533775"/>
            <a:ext cx="2076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2D43"/>
                </a:solidFill>
                <a:latin typeface="Arial"/>
                <a:ea typeface="Arial"/>
                <a:cs typeface="Arial"/>
              </a:defRPr>
            </a:defPPr>
          </a:lstStyle>
          <a:p xmlns:a="http://schemas.openxmlformats.org/drawingml/2006/main">
            <a:pPr>
              <a:defRPr sz="1800" b="1">
                <a:solidFill>
                  <a:srgbClr val="172D43"/>
                </a:solidFill>
                <a:latin typeface="Arial"/>
                <a:ea typeface="Arial"/>
                <a:cs typeface="Arial"/>
              </a:defRPr>
            </a:pPr>
            <a:r>
              <a:rPr sz="1800" b="1">
                <a:solidFill>
                  <a:srgbClr val="172D43"/>
                </a:solidFill>
                <a:latin typeface="Arial"/>
                <a:ea typeface="Arial"/>
                <a:cs typeface="Arial"/>
              </a:rPr>
              <a:t>Data mining</a:t>
            </a:r>
          </a:p>
        </p:txBody>
      </p:sp>
      <p:sp>
        <p:nvSpPr>
          <p:cNvPr id="21" name="">
            <a:extLst xmlns:a="http://schemas.openxmlformats.org/drawingml/2006/main">
              <a:ext uri="{FF2B5EF4-FFF2-40B4-BE49-F238E27FC236}">
                <a16:creationId xmlns:a16="http://schemas.microsoft.com/office/drawing/2014/main" id="{97A9331A-0E63-4114-B4FA-80F782C3DF33}"/>
              </a:ext>
            </a:extLst>
          </p:cNvPr>
          <p:cNvSpPr>
            <a:spLocks xmlns:a="http://schemas.openxmlformats.org/drawingml/2006/main" noGrp="1"/>
          </p:cNvSpPr>
          <p:nvPr/>
        </p:nvSpPr>
        <p:spPr>
          <a:xfrm xmlns:a="http://schemas.openxmlformats.org/drawingml/2006/main">
            <a:off x="7296150" y="4219575"/>
            <a:ext cx="2047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Five families</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Temporal CV</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Calibration</a:t>
            </a:r>
          </a:p>
        </p:txBody>
      </p:sp>
      <p:sp>
        <p:nvSpPr>
          <p:cNvPr id="22" name="">
            <a:extLst xmlns:a="http://schemas.openxmlformats.org/drawingml/2006/main">
              <a:ext uri="{FF2B5EF4-FFF2-40B4-BE49-F238E27FC236}">
                <a16:creationId xmlns:a16="http://schemas.microsoft.com/office/drawing/2014/main" id="{A376C3E5-5D83-4D5E-A8C8-0F6BCA6D5E07}"/>
              </a:ext>
            </a:extLst>
          </p:cNvPr>
          <p:cNvSpPr>
            <a:spLocks xmlns:a="http://schemas.openxmlformats.org/drawingml/2006/main" noGrp="1"/>
          </p:cNvSpPr>
          <p:nvPr/>
        </p:nvSpPr>
        <p:spPr>
          <a:xfrm xmlns:a="http://schemas.openxmlformats.org/drawingml/2006/main">
            <a:off x="9525000" y="2276475"/>
            <a:ext cx="2047875" cy="76200"/>
          </a:xfrm>
          <a:prstGeom xmlns:a="http://schemas.openxmlformats.org/drawingml/2006/main" prst="rect">
            <a:avLst/>
          </a:prstGeom>
          <a:solidFill xmlns:a="http://schemas.openxmlformats.org/drawingml/2006/main">
            <a:srgbClr val="CB934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D056054-F8D5-4C27-81D5-AEF4C929332A}"/>
              </a:ext>
            </a:extLst>
          </p:cNvPr>
          <p:cNvSpPr>
            <a:spLocks xmlns:a="http://schemas.openxmlformats.org/drawingml/2006/main" noGrp="1"/>
          </p:cNvSpPr>
          <p:nvPr/>
        </p:nvSpPr>
        <p:spPr>
          <a:xfrm xmlns:a="http://schemas.openxmlformats.org/drawingml/2006/main">
            <a:off x="9525000" y="2647950"/>
            <a:ext cx="2047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087F83"/>
                </a:solidFill>
                <a:latin typeface="Arial"/>
                <a:ea typeface="Arial"/>
                <a:cs typeface="Arial"/>
              </a:defRPr>
            </a:defPPr>
          </a:lstStyle>
          <a:p xmlns:a="http://schemas.openxmlformats.org/drawingml/2006/main">
            <a:pPr>
              <a:defRPr sz="3600" b="1">
                <a:solidFill>
                  <a:srgbClr val="087F83"/>
                </a:solidFill>
                <a:latin typeface="Arial"/>
                <a:ea typeface="Arial"/>
                <a:cs typeface="Arial"/>
              </a:defRPr>
            </a:pPr>
            <a:r>
              <a:rPr sz="3600" b="1">
                <a:solidFill>
                  <a:srgbClr val="087F83"/>
                </a:solidFill>
                <a:latin typeface="Arial"/>
                <a:ea typeface="Arial"/>
                <a:cs typeface="Arial"/>
              </a:rPr>
              <a:t>5</a:t>
            </a:r>
          </a:p>
        </p:txBody>
      </p:sp>
      <p:sp>
        <p:nvSpPr>
          <p:cNvPr id="24" name="">
            <a:extLst xmlns:a="http://schemas.openxmlformats.org/drawingml/2006/main">
              <a:ext uri="{FF2B5EF4-FFF2-40B4-BE49-F238E27FC236}">
                <a16:creationId xmlns:a16="http://schemas.microsoft.com/office/drawing/2014/main" id="{B1A2C73E-B24A-4E46-A9FB-488B85BAB4A0}"/>
              </a:ext>
            </a:extLst>
          </p:cNvPr>
          <p:cNvSpPr>
            <a:spLocks xmlns:a="http://schemas.openxmlformats.org/drawingml/2006/main" noGrp="1"/>
          </p:cNvSpPr>
          <p:nvPr/>
        </p:nvSpPr>
        <p:spPr>
          <a:xfrm xmlns:a="http://schemas.openxmlformats.org/drawingml/2006/main">
            <a:off x="9525000" y="3533775"/>
            <a:ext cx="2076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2D43"/>
                </a:solidFill>
                <a:latin typeface="Arial"/>
                <a:ea typeface="Arial"/>
                <a:cs typeface="Arial"/>
              </a:defRPr>
            </a:defPPr>
          </a:lstStyle>
          <a:p xmlns:a="http://schemas.openxmlformats.org/drawingml/2006/main">
            <a:pPr>
              <a:defRPr sz="1800" b="1">
                <a:solidFill>
                  <a:srgbClr val="172D43"/>
                </a:solidFill>
                <a:latin typeface="Arial"/>
                <a:ea typeface="Arial"/>
                <a:cs typeface="Arial"/>
              </a:defRPr>
            </a:pPr>
            <a:r>
              <a:rPr sz="1800" b="1">
                <a:solidFill>
                  <a:srgbClr val="172D43"/>
                </a:solidFill>
                <a:latin typeface="Arial"/>
                <a:ea typeface="Arial"/>
                <a:cs typeface="Arial"/>
              </a:rPr>
              <a:t>Evaluation</a:t>
            </a:r>
          </a:p>
        </p:txBody>
      </p:sp>
      <p:sp>
        <p:nvSpPr>
          <p:cNvPr id="25" name="">
            <a:extLst xmlns:a="http://schemas.openxmlformats.org/drawingml/2006/main">
              <a:ext uri="{FF2B5EF4-FFF2-40B4-BE49-F238E27FC236}">
                <a16:creationId xmlns:a16="http://schemas.microsoft.com/office/drawing/2014/main" id="{E2EB599E-EB5A-4C67-8736-3D30BBF467FB}"/>
              </a:ext>
            </a:extLst>
          </p:cNvPr>
          <p:cNvSpPr>
            <a:spLocks xmlns:a="http://schemas.openxmlformats.org/drawingml/2006/main" noGrp="1"/>
          </p:cNvSpPr>
          <p:nvPr/>
        </p:nvSpPr>
        <p:spPr>
          <a:xfrm xmlns:a="http://schemas.openxmlformats.org/drawingml/2006/main">
            <a:off x="9525000" y="4219575"/>
            <a:ext cx="2047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Selection lock</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Final test</a:t>
            </a:r>
          </a:p>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Capacity metrics</a:t>
            </a:r>
          </a:p>
        </p:txBody>
      </p:sp>
    </p:spTree>
    <p:extLst>
      <p:ext uri="{BB962C8B-B14F-4D97-AF65-F5344CB8AC3E}">
        <p14:creationId xmlns:p14="http://schemas.microsoft.com/office/powerpoint/2010/main" val="18629354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9121AE-99E2-46D2-BB17-28A1E6608DE9}"/>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Prevalence changes across four ordered blocks</a:t>
            </a:r>
          </a:p>
        </p:txBody>
      </p:sp>
      <p:sp>
        <p:nvSpPr>
          <p:cNvPr id="2" name="">
            <a:extLst xmlns:a="http://schemas.openxmlformats.org/drawingml/2006/main">
              <a:ext uri="{FF2B5EF4-FFF2-40B4-BE49-F238E27FC236}">
                <a16:creationId xmlns:a16="http://schemas.microsoft.com/office/drawing/2014/main" id="{5E764C4C-66A5-4D2E-85C6-0A206B11A4EF}"/>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Original CSV positions preserved | No shuffling or refitting on future blocks</a:t>
            </a:r>
          </a:p>
        </p:txBody>
      </p:sp>
      <p:sp>
        <p:nvSpPr>
          <p:cNvPr id="3" name="">
            <a:extLst xmlns:a="http://schemas.openxmlformats.org/drawingml/2006/main">
              <a:ext uri="{FF2B5EF4-FFF2-40B4-BE49-F238E27FC236}">
                <a16:creationId xmlns:a16="http://schemas.microsoft.com/office/drawing/2014/main" id="{4B39B13D-8A4A-4EC0-9C6C-A8BDE2DCBFB7}"/>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526861-58E1-4615-AAB5-CE778268D7ED}"/>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252B4A72-0813-43A6-9386-5364B212FAC1}"/>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06</a:t>
            </a:r>
          </a:p>
        </p:txBody>
      </p:sp>
      <p:graphicFrame>
        <p:nvGraphicFramePr>
          <p:cNvPr id="6" name="Chart">
            <a:extLst xmlns:a="http://schemas.openxmlformats.org/drawingml/2006/main">
              <a:ext uri="{FF2B5EF4-FFF2-40B4-BE49-F238E27FC236}">
                <a16:creationId xmlns:a16="http://schemas.microsoft.com/office/drawing/2014/main" id="{FED6CAEB-1331-448D-A229-69740FAC9BC4}"/>
              </a:ext>
            </a:extLst>
          </p:cNvPr>
          <p:cNvGraphicFramePr/>
          <p:nvPr/>
        </p:nvGraphicFramePr>
        <p:xfrm>
          <a:off xmlns:a="http://schemas.openxmlformats.org/drawingml/2006/main" x="809625" y="1952625"/>
          <a:ext xmlns:a="http://schemas.openxmlformats.org/drawingml/2006/main" cx="10382250" cy="3571875"/>
        </p:xfrm>
        <a:graphic xmlns:a="http://schemas.openxmlformats.org/drawingml/2006/main">
          <a:graphicData uri="http://schemas.openxmlformats.org/drawingml/2006/chart">
            <c:chart xmlns:r="http://schemas.openxmlformats.org/officeDocument/2006/relationships" xmlns:c="http://schemas.openxmlformats.org/drawingml/2006/chart" r:id="R1533ed14d920428d"/>
          </a:graphicData>
        </a:graphic>
      </p:graphicFrame>
      <p:sp>
        <p:nvSpPr>
          <p:cNvPr id="7" name="">
            <a:extLst xmlns:a="http://schemas.openxmlformats.org/drawingml/2006/main">
              <a:ext uri="{FF2B5EF4-FFF2-40B4-BE49-F238E27FC236}">
                <a16:creationId xmlns:a16="http://schemas.microsoft.com/office/drawing/2014/main" id="{B69D63B0-D9A9-4D5E-AF93-FDDAC29DC655}"/>
              </a:ext>
            </a:extLst>
          </p:cNvPr>
          <p:cNvSpPr>
            <a:spLocks xmlns:a="http://schemas.openxmlformats.org/drawingml/2006/main" noGrp="1"/>
          </p:cNvSpPr>
          <p:nvPr/>
        </p:nvSpPr>
        <p:spPr>
          <a:xfrm xmlns:a="http://schemas.openxmlformats.org/drawingml/2006/main">
            <a:off x="628650" y="56673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Train: fit/search | Calibration: probability mapping | Selection: decisions | Test: final evidence</a:t>
            </a:r>
          </a:p>
        </p:txBody>
      </p:sp>
    </p:spTree>
    <p:extLst>
      <p:ext uri="{BB962C8B-B14F-4D97-AF65-F5344CB8AC3E}">
        <p14:creationId xmlns:p14="http://schemas.microsoft.com/office/powerpoint/2010/main" val="13409296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223950-CEA6-48D7-AFA3-A8A61FCEEC4E}"/>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Five distinct model families share one protocol</a:t>
            </a:r>
          </a:p>
        </p:txBody>
      </p:sp>
      <p:sp>
        <p:nvSpPr>
          <p:cNvPr id="2" name="">
            <a:extLst xmlns:a="http://schemas.openxmlformats.org/drawingml/2006/main">
              <a:ext uri="{FF2B5EF4-FFF2-40B4-BE49-F238E27FC236}">
                <a16:creationId xmlns:a16="http://schemas.microsoft.com/office/drawing/2014/main" id="{2AFBBB4E-EE51-4F19-A981-65A14267E811}"/>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Same raw core features, chronological blocks, and evaluation definitions</a:t>
            </a:r>
          </a:p>
        </p:txBody>
      </p:sp>
      <p:sp>
        <p:nvSpPr>
          <p:cNvPr id="3" name="">
            <a:extLst xmlns:a="http://schemas.openxmlformats.org/drawingml/2006/main">
              <a:ext uri="{FF2B5EF4-FFF2-40B4-BE49-F238E27FC236}">
                <a16:creationId xmlns:a16="http://schemas.microsoft.com/office/drawing/2014/main" id="{437419AC-F4CC-44B8-A4F2-4076BE40C080}"/>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79AA9E5-8E2C-4629-88C3-07029090C7E8}"/>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6F5684D1-2626-4D81-9C31-4BF1FF1F9601}"/>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07</a:t>
            </a:r>
          </a:p>
        </p:txBody>
      </p:sp>
      <p:graphicFrame>
        <p:nvGraphicFramePr>
          <p:cNvPr id="6" name="">
            <a:extLst xmlns:a="http://schemas.openxmlformats.org/drawingml/2006/main">
              <a:ext uri="{FF2B5EF4-FFF2-40B4-BE49-F238E27FC236}">
                <a16:creationId xmlns:a16="http://schemas.microsoft.com/office/drawing/2014/main" id="{9FCF740E-A5B5-40DB-BBC8-DE90E562972F}"/>
              </a:ext>
            </a:extLst>
          </p:cNvPr>
          <p:cNvGraphicFramePr/>
          <p:nvPr/>
        </p:nvGraphicFramePr>
        <p:xfrm>
          <a:off xmlns:a="http://schemas.openxmlformats.org/drawingml/2006/main" x="609600" y="2038350"/>
          <a:ext xmlns:a="http://schemas.openxmlformats.org/drawingml/2006/main" cx="10972800" cy="3457575"/>
        </p:xfrm>
        <a:graphic xmlns:a="http://schemas.openxmlformats.org/drawingml/2006/main">
          <a:graphicData uri="http://schemas.openxmlformats.org/drawingml/2006/table">
            <a:tbl>
              <a:tblPr/>
              <a:tblGrid>
                <a:gridCol w="2914650"/>
                <a:gridCol w="3257550"/>
                <a:gridCol w="4800600"/>
              </a:tblGrid>
              <a:tr h="576263">
                <a:tc>
                  <a:txBody>
                    <a:bodyPr/>
                    <a:lstStyle/>
                    <a:p>
                      <a:r>
                        <a:rPr sz="1725" b="1">
                          <a:solidFill>
                            <a:srgbClr val="FFFFFF"/>
                          </a:solidFill>
                          <a:latin typeface="Arial"/>
                          <a:ea typeface="Arial"/>
                          <a:cs typeface="Arial"/>
                        </a:rPr>
                        <a:t>Model family</a:t>
                      </a:r>
                    </a:p>
                  </a:txBody>
                  <a:tcPr marL="91440" marR="91440" marT="45720" marB="45720">
                    <a:solidFill>
                      <a:srgbClr val="172D43"/>
                    </a:solidFill>
                  </a:tcPr>
                </a:tc>
                <a:tc>
                  <a:txBody>
                    <a:bodyPr/>
                    <a:lstStyle/>
                    <a:p>
                      <a:r>
                        <a:rPr sz="1725" b="1">
                          <a:solidFill>
                            <a:srgbClr val="FFFFFF"/>
                          </a:solidFill>
                          <a:latin typeface="Arial"/>
                          <a:ea typeface="Arial"/>
                          <a:cs typeface="Arial"/>
                        </a:rPr>
                        <a:t>Mechanism</a:t>
                      </a:r>
                    </a:p>
                  </a:txBody>
                  <a:tcPr marL="91440" marR="91440" marT="45720" marB="45720">
                    <a:solidFill>
                      <a:srgbClr val="172D43"/>
                    </a:solidFill>
                  </a:tcPr>
                </a:tc>
                <a:tc>
                  <a:txBody>
                    <a:bodyPr/>
                    <a:lstStyle/>
                    <a:p>
                      <a:r>
                        <a:rPr sz="1725" b="1">
                          <a:solidFill>
                            <a:srgbClr val="FFFFFF"/>
                          </a:solidFill>
                          <a:latin typeface="Arial"/>
                          <a:ea typeface="Arial"/>
                          <a:cs typeface="Arial"/>
                        </a:rPr>
                        <a:t>Key tradeoff</a:t>
                      </a:r>
                    </a:p>
                  </a:txBody>
                  <a:tcPr marL="91440" marR="91440" marT="45720" marB="45720">
                    <a:solidFill>
                      <a:srgbClr val="172D43"/>
                    </a:solidFill>
                  </a:tcPr>
                </a:tc>
              </a:tr>
              <a:tr h="576263">
                <a:tc>
                  <a:txBody>
                    <a:bodyPr/>
                    <a:lstStyle/>
                    <a:p>
                      <a:r>
                        <a:rPr sz="1725" b="0">
                          <a:solidFill>
                            <a:srgbClr val="172D43"/>
                          </a:solidFill>
                          <a:latin typeface="Arial"/>
                          <a:ea typeface="Arial"/>
                          <a:cs typeface="Arial"/>
                        </a:rPr>
                        <a:t>Logistic Regression</a:t>
                      </a:r>
                    </a:p>
                  </a:txBody>
                  <a:tcPr marL="91440" marR="91440" marT="45720" marB="45720">
                    <a:solidFill>
                      <a:srgbClr val="F0F5F6"/>
                    </a:solidFill>
                  </a:tcPr>
                </a:tc>
                <a:tc>
                  <a:txBody>
                    <a:bodyPr/>
                    <a:lstStyle/>
                    <a:p>
                      <a:r>
                        <a:rPr sz="1725" b="0">
                          <a:solidFill>
                            <a:srgbClr val="172D43"/>
                          </a:solidFill>
                          <a:latin typeface="Arial"/>
                          <a:ea typeface="Arial"/>
                          <a:cs typeface="Arial"/>
                        </a:rPr>
                        <a:t>Linear log-odds</a:t>
                      </a:r>
                    </a:p>
                  </a:txBody>
                  <a:tcPr marL="91440" marR="91440" marT="45720" marB="45720">
                    <a:solidFill>
                      <a:srgbClr val="F0F5F6"/>
                    </a:solidFill>
                  </a:tcPr>
                </a:tc>
                <a:tc>
                  <a:txBody>
                    <a:bodyPr/>
                    <a:lstStyle/>
                    <a:p>
                      <a:r>
                        <a:rPr sz="1725" b="0">
                          <a:solidFill>
                            <a:srgbClr val="172D43"/>
                          </a:solidFill>
                          <a:latin typeface="Arial"/>
                          <a:ea typeface="Arial"/>
                          <a:cs typeface="Arial"/>
                        </a:rPr>
                        <a:t>Compact; limited nonlinear interactions</a:t>
                      </a:r>
                    </a:p>
                  </a:txBody>
                  <a:tcPr marL="91440" marR="91440" marT="45720" marB="45720">
                    <a:solidFill>
                      <a:srgbClr val="F0F5F6"/>
                    </a:solidFill>
                  </a:tcPr>
                </a:tc>
              </a:tr>
              <a:tr h="576263">
                <a:tc>
                  <a:txBody>
                    <a:bodyPr/>
                    <a:lstStyle/>
                    <a:p>
                      <a:r>
                        <a:rPr sz="1725" b="0">
                          <a:solidFill>
                            <a:srgbClr val="172D43"/>
                          </a:solidFill>
                          <a:latin typeface="Arial"/>
                          <a:ea typeface="Arial"/>
                          <a:cs typeface="Arial"/>
                        </a:rPr>
                        <a:t>Gaussian Naive Bayes</a:t>
                      </a:r>
                    </a:p>
                  </a:txBody>
                  <a:tcPr marL="91440" marR="91440" marT="45720" marB="45720">
                    <a:solidFill>
                      <a:srgbClr val="FFFFFF"/>
                    </a:solidFill>
                  </a:tcPr>
                </a:tc>
                <a:tc>
                  <a:txBody>
                    <a:bodyPr/>
                    <a:lstStyle/>
                    <a:p>
                      <a:r>
                        <a:rPr sz="1725" b="0">
                          <a:solidFill>
                            <a:srgbClr val="172D43"/>
                          </a:solidFill>
                          <a:latin typeface="Arial"/>
                          <a:ea typeface="Arial"/>
                          <a:cs typeface="Arial"/>
                        </a:rPr>
                        <a:t>Class-conditional likelihoods</a:t>
                      </a:r>
                    </a:p>
                  </a:txBody>
                  <a:tcPr marL="91440" marR="91440" marT="45720" marB="45720">
                    <a:solidFill>
                      <a:srgbClr val="FFFFFF"/>
                    </a:solidFill>
                  </a:tcPr>
                </a:tc>
                <a:tc>
                  <a:txBody>
                    <a:bodyPr/>
                    <a:lstStyle/>
                    <a:p>
                      <a:r>
                        <a:rPr sz="1725" b="0">
                          <a:solidFill>
                            <a:srgbClr val="172D43"/>
                          </a:solidFill>
                          <a:latin typeface="Arial"/>
                          <a:ea typeface="Arial"/>
                          <a:cs typeface="Arial"/>
                        </a:rPr>
                        <a:t>Fast; conditional independence assumption</a:t>
                      </a:r>
                    </a:p>
                  </a:txBody>
                  <a:tcPr marL="91440" marR="91440" marT="45720" marB="45720">
                    <a:solidFill>
                      <a:srgbClr val="FFFFFF"/>
                    </a:solidFill>
                  </a:tcPr>
                </a:tc>
              </a:tr>
              <a:tr h="576263">
                <a:tc>
                  <a:txBody>
                    <a:bodyPr/>
                    <a:lstStyle/>
                    <a:p>
                      <a:r>
                        <a:rPr sz="1725" b="0">
                          <a:solidFill>
                            <a:srgbClr val="172D43"/>
                          </a:solidFill>
                          <a:latin typeface="Arial"/>
                          <a:ea typeface="Arial"/>
                          <a:cs typeface="Arial"/>
                        </a:rPr>
                        <a:t>Decision Tree</a:t>
                      </a:r>
                    </a:p>
                  </a:txBody>
                  <a:tcPr marL="91440" marR="91440" marT="45720" marB="45720">
                    <a:solidFill>
                      <a:srgbClr val="F0F5F6"/>
                    </a:solidFill>
                  </a:tcPr>
                </a:tc>
                <a:tc>
                  <a:txBody>
                    <a:bodyPr/>
                    <a:lstStyle/>
                    <a:p>
                      <a:r>
                        <a:rPr sz="1725" b="0">
                          <a:solidFill>
                            <a:srgbClr val="172D43"/>
                          </a:solidFill>
                          <a:latin typeface="Arial"/>
                          <a:ea typeface="Arial"/>
                          <a:cs typeface="Arial"/>
                        </a:rPr>
                        <a:t>Recursive rules</a:t>
                      </a:r>
                    </a:p>
                  </a:txBody>
                  <a:tcPr marL="91440" marR="91440" marT="45720" marB="45720">
                    <a:solidFill>
                      <a:srgbClr val="F0F5F6"/>
                    </a:solidFill>
                  </a:tcPr>
                </a:tc>
                <a:tc>
                  <a:txBody>
                    <a:bodyPr/>
                    <a:lstStyle/>
                    <a:p>
                      <a:r>
                        <a:rPr sz="1725" b="0">
                          <a:solidFill>
                            <a:srgbClr val="172D43"/>
                          </a:solidFill>
                          <a:latin typeface="Arial"/>
                          <a:ea typeface="Arial"/>
                          <a:cs typeface="Arial"/>
                        </a:rPr>
                        <a:t>Nonlinear; unstable when overfit</a:t>
                      </a:r>
                    </a:p>
                  </a:txBody>
                  <a:tcPr marL="91440" marR="91440" marT="45720" marB="45720">
                    <a:solidFill>
                      <a:srgbClr val="F0F5F6"/>
                    </a:solidFill>
                  </a:tcPr>
                </a:tc>
              </a:tr>
              <a:tr h="576263">
                <a:tc>
                  <a:txBody>
                    <a:bodyPr/>
                    <a:lstStyle/>
                    <a:p>
                      <a:r>
                        <a:rPr sz="1725" b="0">
                          <a:solidFill>
                            <a:srgbClr val="172D43"/>
                          </a:solidFill>
                          <a:latin typeface="Arial"/>
                          <a:ea typeface="Arial"/>
                          <a:cs typeface="Arial"/>
                        </a:rPr>
                        <a:t>Random Forest</a:t>
                      </a:r>
                    </a:p>
                  </a:txBody>
                  <a:tcPr marL="91440" marR="91440" marT="45720" marB="45720">
                    <a:solidFill>
                      <a:srgbClr val="FFFFFF"/>
                    </a:solidFill>
                  </a:tcPr>
                </a:tc>
                <a:tc>
                  <a:txBody>
                    <a:bodyPr/>
                    <a:lstStyle/>
                    <a:p>
                      <a:r>
                        <a:rPr sz="1725" b="0">
                          <a:solidFill>
                            <a:srgbClr val="172D43"/>
                          </a:solidFill>
                          <a:latin typeface="Arial"/>
                          <a:ea typeface="Arial"/>
                          <a:cs typeface="Arial"/>
                        </a:rPr>
                        <a:t>Averaged randomized trees</a:t>
                      </a:r>
                    </a:p>
                  </a:txBody>
                  <a:tcPr marL="91440" marR="91440" marT="45720" marB="45720">
                    <a:solidFill>
                      <a:srgbClr val="FFFFFF"/>
                    </a:solidFill>
                  </a:tcPr>
                </a:tc>
                <a:tc>
                  <a:txBody>
                    <a:bodyPr/>
                    <a:lstStyle/>
                    <a:p>
                      <a:r>
                        <a:rPr sz="1725" b="0">
                          <a:solidFill>
                            <a:srgbClr val="172D43"/>
                          </a:solidFill>
                          <a:latin typeface="Arial"/>
                          <a:ea typeface="Arial"/>
                          <a:cs typeface="Arial"/>
                        </a:rPr>
                        <a:t>Lower variance; higher memory cost</a:t>
                      </a:r>
                    </a:p>
                  </a:txBody>
                  <a:tcPr marL="91440" marR="91440" marT="45720" marB="45720">
                    <a:solidFill>
                      <a:srgbClr val="FFFFFF"/>
                    </a:solidFill>
                  </a:tcPr>
                </a:tc>
              </a:tr>
              <a:tr h="576263">
                <a:tc>
                  <a:txBody>
                    <a:bodyPr/>
                    <a:lstStyle/>
                    <a:p>
                      <a:r>
                        <a:rPr sz="1725" b="0">
                          <a:solidFill>
                            <a:srgbClr val="172D43"/>
                          </a:solidFill>
                          <a:latin typeface="Arial"/>
                          <a:ea typeface="Arial"/>
                          <a:cs typeface="Arial"/>
                        </a:rPr>
                        <a:t>Gradient Boosting</a:t>
                      </a:r>
                    </a:p>
                  </a:txBody>
                  <a:tcPr marL="91440" marR="91440" marT="45720" marB="45720">
                    <a:solidFill>
                      <a:srgbClr val="F0F5F6"/>
                    </a:solidFill>
                  </a:tcPr>
                </a:tc>
                <a:tc>
                  <a:txBody>
                    <a:bodyPr/>
                    <a:lstStyle/>
                    <a:p>
                      <a:r>
                        <a:rPr sz="1725" b="0">
                          <a:solidFill>
                            <a:srgbClr val="172D43"/>
                          </a:solidFill>
                          <a:latin typeface="Arial"/>
                          <a:ea typeface="Arial"/>
                          <a:cs typeface="Arial"/>
                        </a:rPr>
                        <a:t>Sequential additive trees</a:t>
                      </a:r>
                    </a:p>
                  </a:txBody>
                  <a:tcPr marL="91440" marR="91440" marT="45720" marB="45720">
                    <a:solidFill>
                      <a:srgbClr val="F0F5F6"/>
                    </a:solidFill>
                  </a:tcPr>
                </a:tc>
                <a:tc>
                  <a:txBody>
                    <a:bodyPr/>
                    <a:lstStyle/>
                    <a:p>
                      <a:r>
                        <a:rPr sz="1725" b="0">
                          <a:solidFill>
                            <a:srgbClr val="172D43"/>
                          </a:solidFill>
                          <a:latin typeface="Arial"/>
                          <a:ea typeface="Arial"/>
                          <a:cs typeface="Arial"/>
                        </a:rPr>
                        <a:t>Flexible; tuning and drift sensitivity</a:t>
                      </a:r>
                    </a:p>
                  </a:txBody>
                  <a:tcPr marL="91440" marR="91440" marT="45720" marB="45720">
                    <a:solidFill>
                      <a:srgbClr val="F0F5F6"/>
                    </a:solidFill>
                  </a:tcPr>
                </a:tc>
              </a:tr>
            </a:tbl>
          </a:graphicData>
        </a:graphic>
      </p:graphicFrame>
      <p:sp>
        <p:nvSpPr>
          <p:cNvPr id="7" name="">
            <a:extLst xmlns:a="http://schemas.openxmlformats.org/drawingml/2006/main">
              <a:ext uri="{FF2B5EF4-FFF2-40B4-BE49-F238E27FC236}">
                <a16:creationId xmlns:a16="http://schemas.microsoft.com/office/drawing/2014/main" id="{D360E123-269B-453F-B800-FF247B9F5852}"/>
              </a:ext>
            </a:extLst>
          </p:cNvPr>
          <p:cNvSpPr>
            <a:spLocks xmlns:a="http://schemas.openxmlformats.org/drawingml/2006/main" noGrp="1"/>
          </p:cNvSpPr>
          <p:nvPr/>
        </p:nvSpPr>
        <p:spPr>
          <a:xfrm xmlns:a="http://schemas.openxmlformats.org/drawingml/2006/main">
            <a:off x="628650" y="5724525"/>
            <a:ext cx="10934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Dummy prior and random ranking are diagnostic baselines, not extra learned families.</a:t>
            </a:r>
          </a:p>
        </p:txBody>
      </p:sp>
    </p:spTree>
    <p:extLst>
      <p:ext uri="{BB962C8B-B14F-4D97-AF65-F5344CB8AC3E}">
        <p14:creationId xmlns:p14="http://schemas.microsoft.com/office/powerpoint/2010/main" val="18385358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62C3BA-7BFF-4354-91DD-BBB016CBACDC}"/>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Keep training, calibration, and selection separate</a:t>
            </a:r>
          </a:p>
        </p:txBody>
      </p:sp>
      <p:sp>
        <p:nvSpPr>
          <p:cNvPr id="2" name="">
            <a:extLst xmlns:a="http://schemas.openxmlformats.org/drawingml/2006/main">
              <a:ext uri="{FF2B5EF4-FFF2-40B4-BE49-F238E27FC236}">
                <a16:creationId xmlns:a16="http://schemas.microsoft.com/office/drawing/2014/main" id="{B2925425-E63C-47EC-BDB7-98ECFAA61DBB}"/>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10 core features | 41 candidates | 3 expanding-window folds | 123 fold fits</a:t>
            </a:r>
          </a:p>
        </p:txBody>
      </p:sp>
      <p:sp>
        <p:nvSpPr>
          <p:cNvPr id="3" name="">
            <a:extLst xmlns:a="http://schemas.openxmlformats.org/drawingml/2006/main">
              <a:ext uri="{FF2B5EF4-FFF2-40B4-BE49-F238E27FC236}">
                <a16:creationId xmlns:a16="http://schemas.microsoft.com/office/drawing/2014/main" id="{A35844E1-7E06-487E-B155-70C7217CEAD7}"/>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CFCABD-7657-4342-968A-2D3B7555DB59}"/>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CC4F7505-B851-41D0-B390-1AD99D7C86E1}"/>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08</a:t>
            </a:r>
          </a:p>
        </p:txBody>
      </p:sp>
      <p:sp>
        <p:nvSpPr>
          <p:cNvPr id="6" name="">
            <a:extLst xmlns:a="http://schemas.openxmlformats.org/drawingml/2006/main">
              <a:ext uri="{FF2B5EF4-FFF2-40B4-BE49-F238E27FC236}">
                <a16:creationId xmlns:a16="http://schemas.microsoft.com/office/drawing/2014/main" id="{09F2FAC6-63FB-4C95-9BF0-656A6709F4F0}"/>
              </a:ext>
            </a:extLst>
          </p:cNvPr>
          <p:cNvSpPr>
            <a:spLocks xmlns:a="http://schemas.openxmlformats.org/drawingml/2006/main" noGrp="1"/>
          </p:cNvSpPr>
          <p:nvPr/>
        </p:nvSpPr>
        <p:spPr>
          <a:xfrm xmlns:a="http://schemas.openxmlformats.org/drawingml/2006/main">
            <a:off x="628650" y="2085975"/>
            <a:ext cx="4933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Leakage controls</a:t>
            </a:r>
          </a:p>
        </p:txBody>
      </p:sp>
      <p:sp>
        <p:nvSpPr>
          <p:cNvPr id="7" name="">
            <a:extLst xmlns:a="http://schemas.openxmlformats.org/drawingml/2006/main">
              <a:ext uri="{FF2B5EF4-FFF2-40B4-BE49-F238E27FC236}">
                <a16:creationId xmlns:a16="http://schemas.microsoft.com/office/drawing/2014/main" id="{9F6F7A75-2D3E-422D-9327-564492409A96}"/>
              </a:ext>
            </a:extLst>
          </p:cNvPr>
          <p:cNvSpPr>
            <a:spLocks xmlns:a="http://schemas.openxmlformats.org/drawingml/2006/main" noGrp="1"/>
          </p:cNvSpPr>
          <p:nvPr/>
        </p:nvSpPr>
        <p:spPr>
          <a:xfrm xmlns:a="http://schemas.openxmlformats.org/drawingml/2006/main">
            <a:off x="628650" y="2876550"/>
            <a:ext cx="4933950"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2D43"/>
                </a:solidFill>
                <a:latin typeface="Arial"/>
                <a:ea typeface="Arial"/>
                <a:cs typeface="Arial"/>
              </a:defRPr>
            </a:defPPr>
          </a:lstStyle>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Exclude duration and campaign</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Never fit preprocessing on future data</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Handle pdays=999 as a sentinel</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Keep row IDs out of the model</a:t>
            </a:r>
          </a:p>
        </p:txBody>
      </p:sp>
      <p:sp>
        <p:nvSpPr>
          <p:cNvPr id="8" name="">
            <a:extLst xmlns:a="http://schemas.openxmlformats.org/drawingml/2006/main">
              <a:ext uri="{FF2B5EF4-FFF2-40B4-BE49-F238E27FC236}">
                <a16:creationId xmlns:a16="http://schemas.microsoft.com/office/drawing/2014/main" id="{C6F9B203-A392-4337-9458-7FCF99CE9869}"/>
              </a:ext>
            </a:extLst>
          </p:cNvPr>
          <p:cNvSpPr>
            <a:spLocks xmlns:a="http://schemas.openxmlformats.org/drawingml/2006/main" noGrp="1"/>
          </p:cNvSpPr>
          <p:nvPr/>
        </p:nvSpPr>
        <p:spPr>
          <a:xfrm xmlns:a="http://schemas.openxmlformats.org/drawingml/2006/main">
            <a:off x="6381750" y="2085975"/>
            <a:ext cx="5162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Decision controls</a:t>
            </a:r>
          </a:p>
        </p:txBody>
      </p:sp>
      <p:sp>
        <p:nvSpPr>
          <p:cNvPr id="9" name="">
            <a:extLst xmlns:a="http://schemas.openxmlformats.org/drawingml/2006/main">
              <a:ext uri="{FF2B5EF4-FFF2-40B4-BE49-F238E27FC236}">
                <a16:creationId xmlns:a16="http://schemas.microsoft.com/office/drawing/2014/main" id="{5FC4BEBE-B261-476A-8D16-815C803894E4}"/>
              </a:ext>
            </a:extLst>
          </p:cNvPr>
          <p:cNvSpPr>
            <a:spLocks xmlns:a="http://schemas.openxmlformats.org/drawingml/2006/main" noGrp="1"/>
          </p:cNvSpPr>
          <p:nvPr/>
        </p:nvSpPr>
        <p:spPr>
          <a:xfrm xmlns:a="http://schemas.openxmlformats.org/drawingml/2006/main">
            <a:off x="6381750" y="2876550"/>
            <a:ext cx="5162550"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2D43"/>
                </a:solidFill>
                <a:latin typeface="Arial"/>
                <a:ea typeface="Arial"/>
                <a:cs typeface="Arial"/>
              </a:defRPr>
            </a:defPPr>
          </a:lstStyle>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FrozenEstimator sigmoid calibration</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Selection AP chooses the winner</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Selection F1 chooses thresholds</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Final test cannot select a new winner</a:t>
            </a:r>
          </a:p>
        </p:txBody>
      </p:sp>
      <p:sp>
        <p:nvSpPr>
          <p:cNvPr id="10" name="">
            <a:extLst xmlns:a="http://schemas.openxmlformats.org/drawingml/2006/main">
              <a:ext uri="{FF2B5EF4-FFF2-40B4-BE49-F238E27FC236}">
                <a16:creationId xmlns:a16="http://schemas.microsoft.com/office/drawing/2014/main" id="{478D1628-D84F-4EF2-A8D2-51576CCF6FBA}"/>
              </a:ext>
            </a:extLst>
          </p:cNvPr>
          <p:cNvSpPr>
            <a:spLocks xmlns:a="http://schemas.openxmlformats.org/drawingml/2006/main" noGrp="1"/>
          </p:cNvSpPr>
          <p:nvPr/>
        </p:nvSpPr>
        <p:spPr>
          <a:xfrm xmlns:a="http://schemas.openxmlformats.org/drawingml/2006/main">
            <a:off x="628650" y="5629275"/>
            <a:ext cx="1089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2D43"/>
                </a:solidFill>
                <a:latin typeface="Arial"/>
                <a:ea typeface="Arial"/>
                <a:cs typeface="Arial"/>
              </a:defRPr>
            </a:defPPr>
          </a:lstStyle>
          <a:p xmlns:a="http://schemas.openxmlformats.org/drawingml/2006/main">
            <a:pPr>
              <a:defRPr sz="1875" b="1">
                <a:solidFill>
                  <a:srgbClr val="172D43"/>
                </a:solidFill>
                <a:latin typeface="Arial"/>
                <a:ea typeface="Arial"/>
                <a:cs typeface="Arial"/>
              </a:defRPr>
            </a:pPr>
            <a:r>
              <a:rPr sz="1875" b="1">
                <a:solidFill>
                  <a:srgbClr val="172D43"/>
                </a:solidFill>
                <a:latin typeface="Arial"/>
                <a:ea typeface="Arial"/>
                <a:cs typeface="Arial"/>
              </a:rPr>
              <a:t>A threshold label does not determine the top-K contact quota.</a:t>
            </a:r>
          </a:p>
        </p:txBody>
      </p:sp>
    </p:spTree>
    <p:extLst>
      <p:ext uri="{BB962C8B-B14F-4D97-AF65-F5344CB8AC3E}">
        <p14:creationId xmlns:p14="http://schemas.microsoft.com/office/powerpoint/2010/main" val="21084315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BA98BA-F948-44DC-8749-B85E94C3DFFB}"/>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GaussianNB wins before test results are opened</a:t>
            </a:r>
          </a:p>
        </p:txBody>
      </p:sp>
      <p:sp>
        <p:nvSpPr>
          <p:cNvPr id="2" name="">
            <a:extLst xmlns:a="http://schemas.openxmlformats.org/drawingml/2006/main">
              <a:ext uri="{FF2B5EF4-FFF2-40B4-BE49-F238E27FC236}">
                <a16:creationId xmlns:a16="http://schemas.microsoft.com/office/drawing/2014/main" id="{BED3CAB1-62B0-46C6-83EA-73B480E2BDD6}"/>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Selection AP is the declared primary metric | GaussianNB threshold fixed at 0.09</a:t>
            </a:r>
          </a:p>
        </p:txBody>
      </p:sp>
      <p:sp>
        <p:nvSpPr>
          <p:cNvPr id="3" name="">
            <a:extLst xmlns:a="http://schemas.openxmlformats.org/drawingml/2006/main">
              <a:ext uri="{FF2B5EF4-FFF2-40B4-BE49-F238E27FC236}">
                <a16:creationId xmlns:a16="http://schemas.microsoft.com/office/drawing/2014/main" id="{32275627-CADF-45B4-AA77-146257CFB4C9}"/>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39AD93-0121-465F-ACF6-6AE6F394EEAE}"/>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260533A7-7E8A-4E73-B9DF-9D0854AA0C91}"/>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09</a:t>
            </a:r>
          </a:p>
        </p:txBody>
      </p:sp>
      <p:graphicFrame>
        <p:nvGraphicFramePr>
          <p:cNvPr id="6" name="Chart">
            <a:extLst xmlns:a="http://schemas.openxmlformats.org/drawingml/2006/main">
              <a:ext uri="{FF2B5EF4-FFF2-40B4-BE49-F238E27FC236}">
                <a16:creationId xmlns:a16="http://schemas.microsoft.com/office/drawing/2014/main" id="{BFCA3037-241D-418A-9543-17409DBDE674}"/>
              </a:ext>
            </a:extLst>
          </p:cNvPr>
          <p:cNvGraphicFramePr/>
          <p:nvPr/>
        </p:nvGraphicFramePr>
        <p:xfrm>
          <a:off xmlns:a="http://schemas.openxmlformats.org/drawingml/2006/main" x="790575" y="2028825"/>
          <a:ext xmlns:a="http://schemas.openxmlformats.org/drawingml/2006/main" cx="10467975" cy="3343275"/>
        </p:xfrm>
        <a:graphic xmlns:a="http://schemas.openxmlformats.org/drawingml/2006/main">
          <a:graphicData uri="http://schemas.openxmlformats.org/drawingml/2006/chart">
            <c:chart xmlns:r="http://schemas.openxmlformats.org/officeDocument/2006/relationships" xmlns:c="http://schemas.openxmlformats.org/drawingml/2006/chart" r:id="R0dff9bde13ec4a30"/>
          </a:graphicData>
        </a:graphic>
      </p:graphicFrame>
      <p:sp>
        <p:nvSpPr>
          <p:cNvPr id="7" name="">
            <a:extLst xmlns:a="http://schemas.openxmlformats.org/drawingml/2006/main">
              <a:ext uri="{FF2B5EF4-FFF2-40B4-BE49-F238E27FC236}">
                <a16:creationId xmlns:a16="http://schemas.microsoft.com/office/drawing/2014/main" id="{C84F27B1-9822-4F56-A670-211CE69CF561}"/>
              </a:ext>
            </a:extLst>
          </p:cNvPr>
          <p:cNvSpPr>
            <a:spLocks xmlns:a="http://schemas.openxmlformats.org/drawingml/2006/main" noGrp="1"/>
          </p:cNvSpPr>
          <p:nvPr/>
        </p:nvSpPr>
        <p:spPr>
          <a:xfrm xmlns:a="http://schemas.openxmlformats.org/drawingml/2006/main">
            <a:off x="628650" y="5695950"/>
            <a:ext cx="10934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The selection lock pins the winner, thresholds, models, and dataset/config hashes.</a:t>
            </a:r>
          </a:p>
        </p:txBody>
      </p:sp>
    </p:spTree>
    <p:extLst>
      <p:ext uri="{BB962C8B-B14F-4D97-AF65-F5344CB8AC3E}">
        <p14:creationId xmlns:p14="http://schemas.microsoft.com/office/powerpoint/2010/main" val="145904142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6C2711-47AC-4E33-9769-D31AB2766A83}"/>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Final test results show different tradeoffs</a:t>
            </a:r>
          </a:p>
        </p:txBody>
      </p:sp>
      <p:sp>
        <p:nvSpPr>
          <p:cNvPr id="2" name="">
            <a:extLst xmlns:a="http://schemas.openxmlformats.org/drawingml/2006/main">
              <a:ext uri="{FF2B5EF4-FFF2-40B4-BE49-F238E27FC236}">
                <a16:creationId xmlns:a16="http://schemas.microsoft.com/office/drawing/2014/main" id="{5CF7D359-C4B8-4C43-B6CF-08963321E72A}"/>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8,238 observations | K=824 | Thresholds fixed on selection | No model reselection</a:t>
            </a:r>
          </a:p>
        </p:txBody>
      </p:sp>
      <p:sp>
        <p:nvSpPr>
          <p:cNvPr id="3" name="">
            <a:extLst xmlns:a="http://schemas.openxmlformats.org/drawingml/2006/main">
              <a:ext uri="{FF2B5EF4-FFF2-40B4-BE49-F238E27FC236}">
                <a16:creationId xmlns:a16="http://schemas.microsoft.com/office/drawing/2014/main" id="{D1B6B13E-234F-46F2-A611-00ED8FD13D91}"/>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495E5D-E97D-4798-BE1B-1AD5F2260BF6}"/>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5BD0AE1B-FB72-4E2C-9FF4-24D63662E8D4}"/>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10</a:t>
            </a:r>
          </a:p>
        </p:txBody>
      </p:sp>
      <p:graphicFrame>
        <p:nvGraphicFramePr>
          <p:cNvPr id="6" name="">
            <a:extLst xmlns:a="http://schemas.openxmlformats.org/drawingml/2006/main">
              <a:ext uri="{FF2B5EF4-FFF2-40B4-BE49-F238E27FC236}">
                <a16:creationId xmlns:a16="http://schemas.microsoft.com/office/drawing/2014/main" id="{37A19411-410C-42DE-B4AD-6142C26B8F8C}"/>
              </a:ext>
            </a:extLst>
          </p:cNvPr>
          <p:cNvGraphicFramePr/>
          <p:nvPr/>
        </p:nvGraphicFramePr>
        <p:xfrm>
          <a:off xmlns:a="http://schemas.openxmlformats.org/drawingml/2006/main" x="609600" y="2057400"/>
          <a:ext xmlns:a="http://schemas.openxmlformats.org/drawingml/2006/main" cx="10972800" cy="3343275"/>
        </p:xfrm>
        <a:graphic xmlns:a="http://schemas.openxmlformats.org/drawingml/2006/main">
          <a:graphicData uri="http://schemas.openxmlformats.org/drawingml/2006/table">
            <a:tbl>
              <a:tblPr/>
              <a:tblGrid>
                <a:gridCol w="2914650"/>
                <a:gridCol w="1343025"/>
                <a:gridCol w="1343025"/>
                <a:gridCol w="1343025"/>
                <a:gridCol w="1343025"/>
                <a:gridCol w="1343025"/>
                <a:gridCol w="1343025"/>
              </a:tblGrid>
              <a:tr h="557213">
                <a:tc>
                  <a:txBody>
                    <a:bodyPr/>
                    <a:lstStyle/>
                    <a:p>
                      <a:r>
                        <a:rPr sz="1575" b="1">
                          <a:solidFill>
                            <a:srgbClr val="FFFFFF"/>
                          </a:solidFill>
                          <a:latin typeface="Arial"/>
                          <a:ea typeface="Arial"/>
                          <a:cs typeface="Arial"/>
                        </a:rPr>
                        <a:t>Model</a:t>
                      </a:r>
                    </a:p>
                  </a:txBody>
                  <a:tcPr marL="91440" marR="91440" marT="45720" marB="45720">
                    <a:solidFill>
                      <a:srgbClr val="172D43"/>
                    </a:solidFill>
                  </a:tcPr>
                </a:tc>
                <a:tc>
                  <a:txBody>
                    <a:bodyPr/>
                    <a:lstStyle/>
                    <a:p>
                      <a:r>
                        <a:rPr sz="1575" b="1">
                          <a:solidFill>
                            <a:srgbClr val="FFFFFF"/>
                          </a:solidFill>
                          <a:latin typeface="Arial"/>
                          <a:ea typeface="Arial"/>
                          <a:cs typeface="Arial"/>
                        </a:rPr>
                        <a:t>AP</a:t>
                      </a:r>
                    </a:p>
                  </a:txBody>
                  <a:tcPr marL="91440" marR="91440" marT="45720" marB="45720">
                    <a:solidFill>
                      <a:srgbClr val="172D43"/>
                    </a:solidFill>
                  </a:tcPr>
                </a:tc>
                <a:tc>
                  <a:txBody>
                    <a:bodyPr/>
                    <a:lstStyle/>
                    <a:p>
                      <a:r>
                        <a:rPr sz="1575" b="1">
                          <a:solidFill>
                            <a:srgbClr val="FFFFFF"/>
                          </a:solidFill>
                          <a:latin typeface="Arial"/>
                          <a:ea typeface="Arial"/>
                          <a:cs typeface="Arial"/>
                        </a:rPr>
                        <a:t>ROC-AUC</a:t>
                      </a:r>
                    </a:p>
                  </a:txBody>
                  <a:tcPr marL="91440" marR="91440" marT="45720" marB="45720">
                    <a:solidFill>
                      <a:srgbClr val="172D43"/>
                    </a:solidFill>
                  </a:tcPr>
                </a:tc>
                <a:tc>
                  <a:txBody>
                    <a:bodyPr/>
                    <a:lstStyle/>
                    <a:p>
                      <a:r>
                        <a:rPr sz="1575" b="1">
                          <a:solidFill>
                            <a:srgbClr val="FFFFFF"/>
                          </a:solidFill>
                          <a:latin typeface="Arial"/>
                          <a:ea typeface="Arial"/>
                          <a:cs typeface="Arial"/>
                        </a:rPr>
                        <a:t>P@K</a:t>
                      </a:r>
                    </a:p>
                  </a:txBody>
                  <a:tcPr marL="91440" marR="91440" marT="45720" marB="45720">
                    <a:solidFill>
                      <a:srgbClr val="172D43"/>
                    </a:solidFill>
                  </a:tcPr>
                </a:tc>
                <a:tc>
                  <a:txBody>
                    <a:bodyPr/>
                    <a:lstStyle/>
                    <a:p>
                      <a:r>
                        <a:rPr sz="1575" b="1">
                          <a:solidFill>
                            <a:srgbClr val="FFFFFF"/>
                          </a:solidFill>
                          <a:latin typeface="Arial"/>
                          <a:ea typeface="Arial"/>
                          <a:cs typeface="Arial"/>
                        </a:rPr>
                        <a:t>R@K</a:t>
                      </a:r>
                    </a:p>
                  </a:txBody>
                  <a:tcPr marL="91440" marR="91440" marT="45720" marB="45720">
                    <a:solidFill>
                      <a:srgbClr val="172D43"/>
                    </a:solidFill>
                  </a:tcPr>
                </a:tc>
                <a:tc>
                  <a:txBody>
                    <a:bodyPr/>
                    <a:lstStyle/>
                    <a:p>
                      <a:r>
                        <a:rPr sz="1575" b="1">
                          <a:solidFill>
                            <a:srgbClr val="FFFFFF"/>
                          </a:solidFill>
                          <a:latin typeface="Arial"/>
                          <a:ea typeface="Arial"/>
                          <a:cs typeface="Arial"/>
                        </a:rPr>
                        <a:t>Lift@K</a:t>
                      </a:r>
                    </a:p>
                  </a:txBody>
                  <a:tcPr marL="91440" marR="91440" marT="45720" marB="45720">
                    <a:solidFill>
                      <a:srgbClr val="172D43"/>
                    </a:solidFill>
                  </a:tcPr>
                </a:tc>
                <a:tc>
                  <a:txBody>
                    <a:bodyPr/>
                    <a:lstStyle/>
                    <a:p>
                      <a:r>
                        <a:rPr sz="1575" b="1">
                          <a:solidFill>
                            <a:srgbClr val="FFFFFF"/>
                          </a:solidFill>
                          <a:latin typeface="Arial"/>
                          <a:ea typeface="Arial"/>
                          <a:cs typeface="Arial"/>
                        </a:rPr>
                        <a:t>Brier</a:t>
                      </a:r>
                    </a:p>
                  </a:txBody>
                  <a:tcPr marL="91440" marR="91440" marT="45720" marB="45720">
                    <a:solidFill>
                      <a:srgbClr val="172D43"/>
                    </a:solidFill>
                  </a:tcPr>
                </a:tc>
              </a:tr>
              <a:tr h="557213">
                <a:tc>
                  <a:txBody>
                    <a:bodyPr/>
                    <a:lstStyle/>
                    <a:p>
                      <a:r>
                        <a:rPr sz="1575" b="0">
                          <a:solidFill>
                            <a:srgbClr val="172D43"/>
                          </a:solidFill>
                          <a:latin typeface="Arial"/>
                          <a:ea typeface="Arial"/>
                          <a:cs typeface="Arial"/>
                        </a:rPr>
                        <a:t>Logistic Regression</a:t>
                      </a:r>
                    </a:p>
                  </a:txBody>
                  <a:tcPr marL="91440" marR="91440" marT="45720" marB="45720">
                    <a:solidFill>
                      <a:srgbClr val="F0F5F6"/>
                    </a:solidFill>
                  </a:tcPr>
                </a:tc>
                <a:tc>
                  <a:txBody>
                    <a:bodyPr/>
                    <a:lstStyle/>
                    <a:p>
                      <a:r>
                        <a:rPr sz="1575" b="0">
                          <a:solidFill>
                            <a:srgbClr val="172D43"/>
                          </a:solidFill>
                          <a:latin typeface="Arial"/>
                          <a:ea typeface="Arial"/>
                          <a:cs typeface="Arial"/>
                        </a:rPr>
                        <a:t>0.4130</a:t>
                      </a:r>
                    </a:p>
                  </a:txBody>
                  <a:tcPr marL="91440" marR="91440" marT="45720" marB="45720">
                    <a:solidFill>
                      <a:srgbClr val="F0F5F6"/>
                    </a:solidFill>
                  </a:tcPr>
                </a:tc>
                <a:tc>
                  <a:txBody>
                    <a:bodyPr/>
                    <a:lstStyle/>
                    <a:p>
                      <a:r>
                        <a:rPr sz="1575" b="0">
                          <a:solidFill>
                            <a:srgbClr val="172D43"/>
                          </a:solidFill>
                          <a:latin typeface="Arial"/>
                          <a:ea typeface="Arial"/>
                          <a:cs typeface="Arial"/>
                        </a:rPr>
                        <a:t>0.5364</a:t>
                      </a:r>
                    </a:p>
                  </a:txBody>
                  <a:tcPr marL="91440" marR="91440" marT="45720" marB="45720">
                    <a:solidFill>
                      <a:srgbClr val="F0F5F6"/>
                    </a:solidFill>
                  </a:tcPr>
                </a:tc>
                <a:tc>
                  <a:txBody>
                    <a:bodyPr/>
                    <a:lstStyle/>
                    <a:p>
                      <a:r>
                        <a:rPr sz="1575" b="0">
                          <a:solidFill>
                            <a:srgbClr val="172D43"/>
                          </a:solidFill>
                          <a:latin typeface="Arial"/>
                          <a:ea typeface="Arial"/>
                          <a:cs typeface="Arial"/>
                        </a:rPr>
                        <a:t>0.6517</a:t>
                      </a:r>
                    </a:p>
                  </a:txBody>
                  <a:tcPr marL="91440" marR="91440" marT="45720" marB="45720">
                    <a:solidFill>
                      <a:srgbClr val="F0F5F6"/>
                    </a:solidFill>
                  </a:tcPr>
                </a:tc>
                <a:tc>
                  <a:txBody>
                    <a:bodyPr/>
                    <a:lstStyle/>
                    <a:p>
                      <a:r>
                        <a:rPr sz="1575" b="0">
                          <a:solidFill>
                            <a:srgbClr val="172D43"/>
                          </a:solidFill>
                          <a:latin typeface="Arial"/>
                          <a:ea typeface="Arial"/>
                          <a:cs typeface="Arial"/>
                        </a:rPr>
                        <a:t>0.2114</a:t>
                      </a:r>
                    </a:p>
                  </a:txBody>
                  <a:tcPr marL="91440" marR="91440" marT="45720" marB="45720">
                    <a:solidFill>
                      <a:srgbClr val="F0F5F6"/>
                    </a:solidFill>
                  </a:tcPr>
                </a:tc>
                <a:tc>
                  <a:txBody>
                    <a:bodyPr/>
                    <a:lstStyle/>
                    <a:p>
                      <a:r>
                        <a:rPr sz="1575" b="0">
                          <a:solidFill>
                            <a:srgbClr val="172D43"/>
                          </a:solidFill>
                          <a:latin typeface="Arial"/>
                          <a:ea typeface="Arial"/>
                          <a:cs typeface="Arial"/>
                        </a:rPr>
                        <a:t>2.1137</a:t>
                      </a:r>
                    </a:p>
                  </a:txBody>
                  <a:tcPr marL="91440" marR="91440" marT="45720" marB="45720">
                    <a:solidFill>
                      <a:srgbClr val="F0F5F6"/>
                    </a:solidFill>
                  </a:tcPr>
                </a:tc>
                <a:tc>
                  <a:txBody>
                    <a:bodyPr/>
                    <a:lstStyle/>
                    <a:p>
                      <a:r>
                        <a:rPr sz="1575" b="0">
                          <a:solidFill>
                            <a:srgbClr val="172D43"/>
                          </a:solidFill>
                          <a:latin typeface="Arial"/>
                          <a:ea typeface="Arial"/>
                          <a:cs typeface="Arial"/>
                        </a:rPr>
                        <a:t>0.2455</a:t>
                      </a:r>
                    </a:p>
                  </a:txBody>
                  <a:tcPr marL="91440" marR="91440" marT="45720" marB="45720">
                    <a:solidFill>
                      <a:srgbClr val="F0F5F6"/>
                    </a:solidFill>
                  </a:tcPr>
                </a:tc>
              </a:tr>
              <a:tr h="557213">
                <a:tc>
                  <a:txBody>
                    <a:bodyPr/>
                    <a:lstStyle/>
                    <a:p>
                      <a:r>
                        <a:rPr sz="1575" b="0">
                          <a:solidFill>
                            <a:srgbClr val="172D43"/>
                          </a:solidFill>
                          <a:latin typeface="Arial"/>
                          <a:ea typeface="Arial"/>
                          <a:cs typeface="Arial"/>
                        </a:rPr>
                        <a:t>Gaussian Naive Bayes</a:t>
                      </a:r>
                    </a:p>
                  </a:txBody>
                  <a:tcPr marL="91440" marR="91440" marT="45720" marB="45720">
                    <a:solidFill>
                      <a:srgbClr val="FFFFFF"/>
                    </a:solidFill>
                  </a:tcPr>
                </a:tc>
                <a:tc>
                  <a:txBody>
                    <a:bodyPr/>
                    <a:lstStyle/>
                    <a:p>
                      <a:r>
                        <a:rPr sz="1575" b="0">
                          <a:solidFill>
                            <a:srgbClr val="172D43"/>
                          </a:solidFill>
                          <a:latin typeface="Arial"/>
                          <a:ea typeface="Arial"/>
                          <a:cs typeface="Arial"/>
                        </a:rPr>
                        <a:t>0.5076</a:t>
                      </a:r>
                    </a:p>
                  </a:txBody>
                  <a:tcPr marL="91440" marR="91440" marT="45720" marB="45720">
                    <a:solidFill>
                      <a:srgbClr val="FFFFFF"/>
                    </a:solidFill>
                  </a:tcPr>
                </a:tc>
                <a:tc>
                  <a:txBody>
                    <a:bodyPr/>
                    <a:lstStyle/>
                    <a:p>
                      <a:r>
                        <a:rPr sz="1575" b="0">
                          <a:solidFill>
                            <a:srgbClr val="172D43"/>
                          </a:solidFill>
                          <a:latin typeface="Arial"/>
                          <a:ea typeface="Arial"/>
                          <a:cs typeface="Arial"/>
                        </a:rPr>
                        <a:t>0.6667</a:t>
                      </a:r>
                    </a:p>
                  </a:txBody>
                  <a:tcPr marL="91440" marR="91440" marT="45720" marB="45720">
                    <a:solidFill>
                      <a:srgbClr val="FFFFFF"/>
                    </a:solidFill>
                  </a:tcPr>
                </a:tc>
                <a:tc>
                  <a:txBody>
                    <a:bodyPr/>
                    <a:lstStyle/>
                    <a:p>
                      <a:r>
                        <a:rPr sz="1575" b="0">
                          <a:solidFill>
                            <a:srgbClr val="172D43"/>
                          </a:solidFill>
                          <a:latin typeface="Arial"/>
                          <a:ea typeface="Arial"/>
                          <a:cs typeface="Arial"/>
                        </a:rPr>
                        <a:t>0.6214</a:t>
                      </a:r>
                    </a:p>
                  </a:txBody>
                  <a:tcPr marL="91440" marR="91440" marT="45720" marB="45720">
                    <a:solidFill>
                      <a:srgbClr val="FFFFFF"/>
                    </a:solidFill>
                  </a:tcPr>
                </a:tc>
                <a:tc>
                  <a:txBody>
                    <a:bodyPr/>
                    <a:lstStyle/>
                    <a:p>
                      <a:r>
                        <a:rPr sz="1575" b="0">
                          <a:solidFill>
                            <a:srgbClr val="172D43"/>
                          </a:solidFill>
                          <a:latin typeface="Arial"/>
                          <a:ea typeface="Arial"/>
                          <a:cs typeface="Arial"/>
                        </a:rPr>
                        <a:t>0.2016</a:t>
                      </a:r>
                    </a:p>
                  </a:txBody>
                  <a:tcPr marL="91440" marR="91440" marT="45720" marB="45720">
                    <a:solidFill>
                      <a:srgbClr val="FFFFFF"/>
                    </a:solidFill>
                  </a:tcPr>
                </a:tc>
                <a:tc>
                  <a:txBody>
                    <a:bodyPr/>
                    <a:lstStyle/>
                    <a:p>
                      <a:r>
                        <a:rPr sz="1575" b="0">
                          <a:solidFill>
                            <a:srgbClr val="172D43"/>
                          </a:solidFill>
                          <a:latin typeface="Arial"/>
                          <a:ea typeface="Arial"/>
                          <a:cs typeface="Arial"/>
                        </a:rPr>
                        <a:t>2.0153</a:t>
                      </a:r>
                    </a:p>
                  </a:txBody>
                  <a:tcPr marL="91440" marR="91440" marT="45720" marB="45720">
                    <a:solidFill>
                      <a:srgbClr val="FFFFFF"/>
                    </a:solidFill>
                  </a:tcPr>
                </a:tc>
                <a:tc>
                  <a:txBody>
                    <a:bodyPr/>
                    <a:lstStyle/>
                    <a:p>
                      <a:r>
                        <a:rPr sz="1575" b="0">
                          <a:solidFill>
                            <a:srgbClr val="172D43"/>
                          </a:solidFill>
                          <a:latin typeface="Arial"/>
                          <a:ea typeface="Arial"/>
                          <a:cs typeface="Arial"/>
                        </a:rPr>
                        <a:t>0.2546</a:t>
                      </a:r>
                    </a:p>
                  </a:txBody>
                  <a:tcPr marL="91440" marR="91440" marT="45720" marB="45720">
                    <a:solidFill>
                      <a:srgbClr val="FFFFFF"/>
                    </a:solidFill>
                  </a:tcPr>
                </a:tc>
              </a:tr>
              <a:tr h="557213">
                <a:tc>
                  <a:txBody>
                    <a:bodyPr/>
                    <a:lstStyle/>
                    <a:p>
                      <a:r>
                        <a:rPr sz="1575" b="0">
                          <a:solidFill>
                            <a:srgbClr val="172D43"/>
                          </a:solidFill>
                          <a:latin typeface="Arial"/>
                          <a:ea typeface="Arial"/>
                          <a:cs typeface="Arial"/>
                        </a:rPr>
                        <a:t>Decision Tree</a:t>
                      </a:r>
                    </a:p>
                  </a:txBody>
                  <a:tcPr marL="91440" marR="91440" marT="45720" marB="45720">
                    <a:solidFill>
                      <a:srgbClr val="F0F5F6"/>
                    </a:solidFill>
                  </a:tcPr>
                </a:tc>
                <a:tc>
                  <a:txBody>
                    <a:bodyPr/>
                    <a:lstStyle/>
                    <a:p>
                      <a:r>
                        <a:rPr sz="1575" b="0">
                          <a:solidFill>
                            <a:srgbClr val="172D43"/>
                          </a:solidFill>
                          <a:latin typeface="Arial"/>
                          <a:ea typeface="Arial"/>
                          <a:cs typeface="Arial"/>
                        </a:rPr>
                        <a:t>0.3893</a:t>
                      </a:r>
                    </a:p>
                  </a:txBody>
                  <a:tcPr marL="91440" marR="91440" marT="45720" marB="45720">
                    <a:solidFill>
                      <a:srgbClr val="F0F5F6"/>
                    </a:solidFill>
                  </a:tcPr>
                </a:tc>
                <a:tc>
                  <a:txBody>
                    <a:bodyPr/>
                    <a:lstStyle/>
                    <a:p>
                      <a:r>
                        <a:rPr sz="1575" b="0">
                          <a:solidFill>
                            <a:srgbClr val="172D43"/>
                          </a:solidFill>
                          <a:latin typeface="Arial"/>
                          <a:ea typeface="Arial"/>
                          <a:cs typeface="Arial"/>
                        </a:rPr>
                        <a:t>0.5531</a:t>
                      </a:r>
                    </a:p>
                  </a:txBody>
                  <a:tcPr marL="91440" marR="91440" marT="45720" marB="45720">
                    <a:solidFill>
                      <a:srgbClr val="F0F5F6"/>
                    </a:solidFill>
                  </a:tcPr>
                </a:tc>
                <a:tc>
                  <a:txBody>
                    <a:bodyPr/>
                    <a:lstStyle/>
                    <a:p>
                      <a:r>
                        <a:rPr sz="1575" b="0">
                          <a:solidFill>
                            <a:srgbClr val="172D43"/>
                          </a:solidFill>
                          <a:latin typeface="Arial"/>
                          <a:ea typeface="Arial"/>
                          <a:cs typeface="Arial"/>
                        </a:rPr>
                        <a:t>0.4879</a:t>
                      </a:r>
                    </a:p>
                  </a:txBody>
                  <a:tcPr marL="91440" marR="91440" marT="45720" marB="45720">
                    <a:solidFill>
                      <a:srgbClr val="F0F5F6"/>
                    </a:solidFill>
                  </a:tcPr>
                </a:tc>
                <a:tc>
                  <a:txBody>
                    <a:bodyPr/>
                    <a:lstStyle/>
                    <a:p>
                      <a:r>
                        <a:rPr sz="1575" b="0">
                          <a:solidFill>
                            <a:srgbClr val="172D43"/>
                          </a:solidFill>
                          <a:latin typeface="Arial"/>
                          <a:ea typeface="Arial"/>
                          <a:cs typeface="Arial"/>
                        </a:rPr>
                        <a:t>0.1583</a:t>
                      </a:r>
                    </a:p>
                  </a:txBody>
                  <a:tcPr marL="91440" marR="91440" marT="45720" marB="45720">
                    <a:solidFill>
                      <a:srgbClr val="F0F5F6"/>
                    </a:solidFill>
                  </a:tcPr>
                </a:tc>
                <a:tc>
                  <a:txBody>
                    <a:bodyPr/>
                    <a:lstStyle/>
                    <a:p>
                      <a:r>
                        <a:rPr sz="1575" b="0">
                          <a:solidFill>
                            <a:srgbClr val="172D43"/>
                          </a:solidFill>
                          <a:latin typeface="Arial"/>
                          <a:ea typeface="Arial"/>
                          <a:cs typeface="Arial"/>
                        </a:rPr>
                        <a:t>1.5823</a:t>
                      </a:r>
                    </a:p>
                  </a:txBody>
                  <a:tcPr marL="91440" marR="91440" marT="45720" marB="45720">
                    <a:solidFill>
                      <a:srgbClr val="F0F5F6"/>
                    </a:solidFill>
                  </a:tcPr>
                </a:tc>
                <a:tc>
                  <a:txBody>
                    <a:bodyPr/>
                    <a:lstStyle/>
                    <a:p>
                      <a:r>
                        <a:rPr sz="1575" b="0">
                          <a:solidFill>
                            <a:srgbClr val="172D43"/>
                          </a:solidFill>
                          <a:latin typeface="Arial"/>
                          <a:ea typeface="Arial"/>
                          <a:cs typeface="Arial"/>
                        </a:rPr>
                        <a:t>0.2523</a:t>
                      </a:r>
                    </a:p>
                  </a:txBody>
                  <a:tcPr marL="91440" marR="91440" marT="45720" marB="45720">
                    <a:solidFill>
                      <a:srgbClr val="F0F5F6"/>
                    </a:solidFill>
                  </a:tcPr>
                </a:tc>
              </a:tr>
              <a:tr h="557213">
                <a:tc>
                  <a:txBody>
                    <a:bodyPr/>
                    <a:lstStyle/>
                    <a:p>
                      <a:r>
                        <a:rPr sz="1575" b="0">
                          <a:solidFill>
                            <a:srgbClr val="172D43"/>
                          </a:solidFill>
                          <a:latin typeface="Arial"/>
                          <a:ea typeface="Arial"/>
                          <a:cs typeface="Arial"/>
                        </a:rPr>
                        <a:t>Random Forest</a:t>
                      </a:r>
                    </a:p>
                  </a:txBody>
                  <a:tcPr marL="91440" marR="91440" marT="45720" marB="45720">
                    <a:solidFill>
                      <a:srgbClr val="FFFFFF"/>
                    </a:solidFill>
                  </a:tcPr>
                </a:tc>
                <a:tc>
                  <a:txBody>
                    <a:bodyPr/>
                    <a:lstStyle/>
                    <a:p>
                      <a:r>
                        <a:rPr sz="1575" b="0">
                          <a:solidFill>
                            <a:srgbClr val="172D43"/>
                          </a:solidFill>
                          <a:latin typeface="Arial"/>
                          <a:ea typeface="Arial"/>
                          <a:cs typeface="Arial"/>
                        </a:rPr>
                        <a:t>0.3415</a:t>
                      </a:r>
                    </a:p>
                  </a:txBody>
                  <a:tcPr marL="91440" marR="91440" marT="45720" marB="45720">
                    <a:solidFill>
                      <a:srgbClr val="FFFFFF"/>
                    </a:solidFill>
                  </a:tcPr>
                </a:tc>
                <a:tc>
                  <a:txBody>
                    <a:bodyPr/>
                    <a:lstStyle/>
                    <a:p>
                      <a:r>
                        <a:rPr sz="1575" b="0">
                          <a:solidFill>
                            <a:srgbClr val="172D43"/>
                          </a:solidFill>
                          <a:latin typeface="Arial"/>
                          <a:ea typeface="Arial"/>
                          <a:cs typeface="Arial"/>
                        </a:rPr>
                        <a:t>0.5769</a:t>
                      </a:r>
                    </a:p>
                  </a:txBody>
                  <a:tcPr marL="91440" marR="91440" marT="45720" marB="45720">
                    <a:solidFill>
                      <a:srgbClr val="FFFFFF"/>
                    </a:solidFill>
                  </a:tcPr>
                </a:tc>
                <a:tc>
                  <a:txBody>
                    <a:bodyPr/>
                    <a:lstStyle/>
                    <a:p>
                      <a:r>
                        <a:rPr sz="1575" b="0">
                          <a:solidFill>
                            <a:srgbClr val="172D43"/>
                          </a:solidFill>
                          <a:latin typeface="Arial"/>
                          <a:ea typeface="Arial"/>
                          <a:cs typeface="Arial"/>
                        </a:rPr>
                        <a:t>0.2852</a:t>
                      </a:r>
                    </a:p>
                  </a:txBody>
                  <a:tcPr marL="91440" marR="91440" marT="45720" marB="45720">
                    <a:solidFill>
                      <a:srgbClr val="FFFFFF"/>
                    </a:solidFill>
                  </a:tcPr>
                </a:tc>
                <a:tc>
                  <a:txBody>
                    <a:bodyPr/>
                    <a:lstStyle/>
                    <a:p>
                      <a:r>
                        <a:rPr sz="1575" b="0">
                          <a:solidFill>
                            <a:srgbClr val="172D43"/>
                          </a:solidFill>
                          <a:latin typeface="Arial"/>
                          <a:ea typeface="Arial"/>
                          <a:cs typeface="Arial"/>
                        </a:rPr>
                        <a:t>0.0925</a:t>
                      </a:r>
                    </a:p>
                  </a:txBody>
                  <a:tcPr marL="91440" marR="91440" marT="45720" marB="45720">
                    <a:solidFill>
                      <a:srgbClr val="FFFFFF"/>
                    </a:solidFill>
                  </a:tcPr>
                </a:tc>
                <a:tc>
                  <a:txBody>
                    <a:bodyPr/>
                    <a:lstStyle/>
                    <a:p>
                      <a:r>
                        <a:rPr sz="1575" b="0">
                          <a:solidFill>
                            <a:srgbClr val="172D43"/>
                          </a:solidFill>
                          <a:latin typeface="Arial"/>
                          <a:ea typeface="Arial"/>
                          <a:cs typeface="Arial"/>
                        </a:rPr>
                        <a:t>0.9250</a:t>
                      </a:r>
                    </a:p>
                  </a:txBody>
                  <a:tcPr marL="91440" marR="91440" marT="45720" marB="45720">
                    <a:solidFill>
                      <a:srgbClr val="FFFFFF"/>
                    </a:solidFill>
                  </a:tcPr>
                </a:tc>
                <a:tc>
                  <a:txBody>
                    <a:bodyPr/>
                    <a:lstStyle/>
                    <a:p>
                      <a:r>
                        <a:rPr sz="1575" b="0">
                          <a:solidFill>
                            <a:srgbClr val="172D43"/>
                          </a:solidFill>
                          <a:latin typeface="Arial"/>
                          <a:ea typeface="Arial"/>
                          <a:cs typeface="Arial"/>
                        </a:rPr>
                        <a:t>0.2558</a:t>
                      </a:r>
                    </a:p>
                  </a:txBody>
                  <a:tcPr marL="91440" marR="91440" marT="45720" marB="45720">
                    <a:solidFill>
                      <a:srgbClr val="FFFFFF"/>
                    </a:solidFill>
                  </a:tcPr>
                </a:tc>
              </a:tr>
              <a:tr h="557213">
                <a:tc>
                  <a:txBody>
                    <a:bodyPr/>
                    <a:lstStyle/>
                    <a:p>
                      <a:r>
                        <a:rPr sz="1575" b="0">
                          <a:solidFill>
                            <a:srgbClr val="172D43"/>
                          </a:solidFill>
                          <a:latin typeface="Arial"/>
                          <a:ea typeface="Arial"/>
                          <a:cs typeface="Arial"/>
                        </a:rPr>
                        <a:t>Gradient Boosting</a:t>
                      </a:r>
                    </a:p>
                  </a:txBody>
                  <a:tcPr marL="91440" marR="91440" marT="45720" marB="45720">
                    <a:solidFill>
                      <a:srgbClr val="F0F5F6"/>
                    </a:solidFill>
                  </a:tcPr>
                </a:tc>
                <a:tc>
                  <a:txBody>
                    <a:bodyPr/>
                    <a:lstStyle/>
                    <a:p>
                      <a:r>
                        <a:rPr sz="1575" b="0">
                          <a:solidFill>
                            <a:srgbClr val="172D43"/>
                          </a:solidFill>
                          <a:latin typeface="Arial"/>
                          <a:ea typeface="Arial"/>
                          <a:cs typeface="Arial"/>
                        </a:rPr>
                        <a:t>0.4012</a:t>
                      </a:r>
                    </a:p>
                  </a:txBody>
                  <a:tcPr marL="91440" marR="91440" marT="45720" marB="45720">
                    <a:solidFill>
                      <a:srgbClr val="F0F5F6"/>
                    </a:solidFill>
                  </a:tcPr>
                </a:tc>
                <a:tc>
                  <a:txBody>
                    <a:bodyPr/>
                    <a:lstStyle/>
                    <a:p>
                      <a:r>
                        <a:rPr sz="1575" b="0">
                          <a:solidFill>
                            <a:srgbClr val="172D43"/>
                          </a:solidFill>
                          <a:latin typeface="Arial"/>
                          <a:ea typeface="Arial"/>
                          <a:cs typeface="Arial"/>
                        </a:rPr>
                        <a:t>0.5363</a:t>
                      </a:r>
                    </a:p>
                  </a:txBody>
                  <a:tcPr marL="91440" marR="91440" marT="45720" marB="45720">
                    <a:solidFill>
                      <a:srgbClr val="F0F5F6"/>
                    </a:solidFill>
                  </a:tcPr>
                </a:tc>
                <a:tc>
                  <a:txBody>
                    <a:bodyPr/>
                    <a:lstStyle/>
                    <a:p>
                      <a:r>
                        <a:rPr sz="1575" b="0">
                          <a:solidFill>
                            <a:srgbClr val="172D43"/>
                          </a:solidFill>
                          <a:latin typeface="Arial"/>
                          <a:ea typeface="Arial"/>
                          <a:cs typeface="Arial"/>
                        </a:rPr>
                        <a:t>0.5510</a:t>
                      </a:r>
                    </a:p>
                  </a:txBody>
                  <a:tcPr marL="91440" marR="91440" marT="45720" marB="45720">
                    <a:solidFill>
                      <a:srgbClr val="F0F5F6"/>
                    </a:solidFill>
                  </a:tcPr>
                </a:tc>
                <a:tc>
                  <a:txBody>
                    <a:bodyPr/>
                    <a:lstStyle/>
                    <a:p>
                      <a:r>
                        <a:rPr sz="1575" b="0">
                          <a:solidFill>
                            <a:srgbClr val="172D43"/>
                          </a:solidFill>
                          <a:latin typeface="Arial"/>
                          <a:ea typeface="Arial"/>
                          <a:cs typeface="Arial"/>
                        </a:rPr>
                        <a:t>0.1787</a:t>
                      </a:r>
                    </a:p>
                  </a:txBody>
                  <a:tcPr marL="91440" marR="91440" marT="45720" marB="45720">
                    <a:solidFill>
                      <a:srgbClr val="F0F5F6"/>
                    </a:solidFill>
                  </a:tcPr>
                </a:tc>
                <a:tc>
                  <a:txBody>
                    <a:bodyPr/>
                    <a:lstStyle/>
                    <a:p>
                      <a:r>
                        <a:rPr sz="1575" b="0">
                          <a:solidFill>
                            <a:srgbClr val="172D43"/>
                          </a:solidFill>
                          <a:latin typeface="Arial"/>
                          <a:ea typeface="Arial"/>
                          <a:cs typeface="Arial"/>
                        </a:rPr>
                        <a:t>1.7870</a:t>
                      </a:r>
                    </a:p>
                  </a:txBody>
                  <a:tcPr marL="91440" marR="91440" marT="45720" marB="45720">
                    <a:solidFill>
                      <a:srgbClr val="F0F5F6"/>
                    </a:solidFill>
                  </a:tcPr>
                </a:tc>
                <a:tc>
                  <a:txBody>
                    <a:bodyPr/>
                    <a:lstStyle/>
                    <a:p>
                      <a:r>
                        <a:rPr sz="1575" b="0">
                          <a:solidFill>
                            <a:srgbClr val="172D43"/>
                          </a:solidFill>
                          <a:latin typeface="Arial"/>
                          <a:ea typeface="Arial"/>
                          <a:cs typeface="Arial"/>
                        </a:rPr>
                        <a:t>0.2419</a:t>
                      </a:r>
                    </a:p>
                  </a:txBody>
                  <a:tcPr marL="91440" marR="91440" marT="45720" marB="45720">
                    <a:solidFill>
                      <a:srgbClr val="F0F5F6"/>
                    </a:solidFill>
                  </a:tcPr>
                </a:tc>
              </a:tr>
            </a:tbl>
          </a:graphicData>
        </a:graphic>
      </p:graphicFrame>
      <p:sp>
        <p:nvSpPr>
          <p:cNvPr id="7" name="">
            <a:extLst xmlns:a="http://schemas.openxmlformats.org/drawingml/2006/main">
              <a:ext uri="{FF2B5EF4-FFF2-40B4-BE49-F238E27FC236}">
                <a16:creationId xmlns:a16="http://schemas.microsoft.com/office/drawing/2014/main" id="{CD694B08-F20A-4D7A-B983-67B8A56CC3DB}"/>
              </a:ext>
            </a:extLst>
          </p:cNvPr>
          <p:cNvSpPr>
            <a:spLocks xmlns:a="http://schemas.openxmlformats.org/drawingml/2006/main" noGrp="1"/>
          </p:cNvSpPr>
          <p:nvPr/>
        </p:nvSpPr>
        <p:spPr>
          <a:xfrm xmlns:a="http://schemas.openxmlformats.org/drawingml/2006/main">
            <a:off x="628650" y="564832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GaussianNB remains active even though Logistic Regression has higher test Precision@K.</a:t>
            </a:r>
          </a:p>
        </p:txBody>
      </p:sp>
    </p:spTree>
    <p:extLst>
      <p:ext uri="{BB962C8B-B14F-4D97-AF65-F5344CB8AC3E}">
        <p14:creationId xmlns:p14="http://schemas.microsoft.com/office/powerpoint/2010/main" val="19674078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EF4A92-54B3-4877-9A68-438BD8F6E7EB}"/>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Capacity and classification answer different questions</a:t>
            </a:r>
          </a:p>
        </p:txBody>
      </p:sp>
      <p:sp>
        <p:nvSpPr>
          <p:cNvPr id="2" name="">
            <a:extLst xmlns:a="http://schemas.openxmlformats.org/drawingml/2006/main">
              <a:ext uri="{FF2B5EF4-FFF2-40B4-BE49-F238E27FC236}">
                <a16:creationId xmlns:a16="http://schemas.microsoft.com/office/drawing/2014/main" id="{16EB69B3-3D66-45C2-915C-20EAAC42DAA8}"/>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A 10% contact quota is not the same as a probability threshold</a:t>
            </a:r>
          </a:p>
        </p:txBody>
      </p:sp>
      <p:sp>
        <p:nvSpPr>
          <p:cNvPr id="3" name="">
            <a:extLst xmlns:a="http://schemas.openxmlformats.org/drawingml/2006/main">
              <a:ext uri="{FF2B5EF4-FFF2-40B4-BE49-F238E27FC236}">
                <a16:creationId xmlns:a16="http://schemas.microsoft.com/office/drawing/2014/main" id="{8B4DE0C3-FF66-4F82-995B-635DE06C11D0}"/>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97DC56-251B-4171-95D5-5407D97DFBE3}"/>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31E17C73-183D-4490-B771-8DFC54B855EB}"/>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87D35540-E5BC-48C9-952B-6620F4D538CC}"/>
              </a:ext>
            </a:extLst>
          </p:cNvPr>
          <p:cNvSpPr>
            <a:spLocks xmlns:a="http://schemas.openxmlformats.org/drawingml/2006/main" noGrp="1"/>
          </p:cNvSpPr>
          <p:nvPr/>
        </p:nvSpPr>
        <p:spPr>
          <a:xfrm xmlns:a="http://schemas.openxmlformats.org/drawingml/2006/main">
            <a:off x="628650" y="2076450"/>
            <a:ext cx="49244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87F83"/>
                </a:solidFill>
                <a:latin typeface="Arial"/>
                <a:ea typeface="Arial"/>
                <a:cs typeface="Arial"/>
              </a:defRPr>
            </a:defPPr>
          </a:lstStyle>
          <a:p xmlns:a="http://schemas.openxmlformats.org/drawingml/2006/main">
            <a:pPr>
              <a:defRPr sz="2400" b="1">
                <a:solidFill>
                  <a:srgbClr val="087F83"/>
                </a:solidFill>
                <a:latin typeface="Arial"/>
                <a:ea typeface="Arial"/>
                <a:cs typeface="Arial"/>
              </a:defRPr>
            </a:pPr>
            <a:r>
              <a:rPr sz="2400" b="1">
                <a:solidFill>
                  <a:srgbClr val="087F83"/>
                </a:solidFill>
                <a:latin typeface="Arial"/>
                <a:ea typeface="Arial"/>
                <a:cs typeface="Arial"/>
              </a:rPr>
              <a:t>Contact quota</a:t>
            </a:r>
          </a:p>
        </p:txBody>
      </p:sp>
      <p:sp>
        <p:nvSpPr>
          <p:cNvPr id="7" name="">
            <a:extLst xmlns:a="http://schemas.openxmlformats.org/drawingml/2006/main">
              <a:ext uri="{FF2B5EF4-FFF2-40B4-BE49-F238E27FC236}">
                <a16:creationId xmlns:a16="http://schemas.microsoft.com/office/drawing/2014/main" id="{69A5F0DD-402D-4B1D-AA78-B0FC4207DA9B}"/>
              </a:ext>
            </a:extLst>
          </p:cNvPr>
          <p:cNvSpPr>
            <a:spLocks xmlns:a="http://schemas.openxmlformats.org/drawingml/2006/main" noGrp="1"/>
          </p:cNvSpPr>
          <p:nvPr/>
        </p:nvSpPr>
        <p:spPr>
          <a:xfrm xmlns:a="http://schemas.openxmlformats.org/drawingml/2006/main">
            <a:off x="628650" y="2905125"/>
            <a:ext cx="4953000"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2D43"/>
                </a:solidFill>
                <a:latin typeface="Arial"/>
                <a:ea typeface="Arial"/>
                <a:cs typeface="Arial"/>
              </a:defRPr>
            </a:defPPr>
          </a:lstStyle>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824 selected for contact</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512 yes within capacity</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312 no within capacity</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2,028 yes outside capacity</a:t>
            </a:r>
          </a:p>
        </p:txBody>
      </p:sp>
      <p:sp>
        <p:nvSpPr>
          <p:cNvPr id="8" name="">
            <a:extLst xmlns:a="http://schemas.openxmlformats.org/drawingml/2006/main">
              <a:ext uri="{FF2B5EF4-FFF2-40B4-BE49-F238E27FC236}">
                <a16:creationId xmlns:a16="http://schemas.microsoft.com/office/drawing/2014/main" id="{2B604A37-9B78-4A19-AEC8-CB340A8F39A5}"/>
              </a:ext>
            </a:extLst>
          </p:cNvPr>
          <p:cNvSpPr>
            <a:spLocks xmlns:a="http://schemas.openxmlformats.org/drawingml/2006/main" noGrp="1"/>
          </p:cNvSpPr>
          <p:nvPr/>
        </p:nvSpPr>
        <p:spPr>
          <a:xfrm xmlns:a="http://schemas.openxmlformats.org/drawingml/2006/main">
            <a:off x="6362700" y="2076450"/>
            <a:ext cx="5200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87F83"/>
                </a:solidFill>
                <a:latin typeface="Arial"/>
                <a:ea typeface="Arial"/>
                <a:cs typeface="Arial"/>
              </a:defRPr>
            </a:defPPr>
          </a:lstStyle>
          <a:p xmlns:a="http://schemas.openxmlformats.org/drawingml/2006/main">
            <a:pPr>
              <a:defRPr sz="2400" b="1">
                <a:solidFill>
                  <a:srgbClr val="087F83"/>
                </a:solidFill>
                <a:latin typeface="Arial"/>
                <a:ea typeface="Arial"/>
                <a:cs typeface="Arial"/>
              </a:defRPr>
            </a:pPr>
            <a:r>
              <a:rPr sz="2400" b="1">
                <a:solidFill>
                  <a:srgbClr val="087F83"/>
                </a:solidFill>
                <a:latin typeface="Arial"/>
                <a:ea typeface="Arial"/>
                <a:cs typeface="Arial"/>
              </a:rPr>
              <a:t>Frozen threshold 0.09</a:t>
            </a:r>
          </a:p>
        </p:txBody>
      </p:sp>
      <p:sp>
        <p:nvSpPr>
          <p:cNvPr id="9" name="">
            <a:extLst xmlns:a="http://schemas.openxmlformats.org/drawingml/2006/main">
              <a:ext uri="{FF2B5EF4-FFF2-40B4-BE49-F238E27FC236}">
                <a16:creationId xmlns:a16="http://schemas.microsoft.com/office/drawing/2014/main" id="{7664190F-4D51-49CF-9BCE-8A9192EA5ACB}"/>
              </a:ext>
            </a:extLst>
          </p:cNvPr>
          <p:cNvSpPr>
            <a:spLocks xmlns:a="http://schemas.openxmlformats.org/drawingml/2006/main" noGrp="1"/>
          </p:cNvSpPr>
          <p:nvPr/>
        </p:nvSpPr>
        <p:spPr>
          <a:xfrm xmlns:a="http://schemas.openxmlformats.org/drawingml/2006/main">
            <a:off x="6362700" y="2905125"/>
            <a:ext cx="5191125"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2D43"/>
                </a:solidFill>
                <a:latin typeface="Arial"/>
                <a:ea typeface="Arial"/>
                <a:cs typeface="Arial"/>
              </a:defRPr>
            </a:defPPr>
          </a:lstStyle>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5,965 predicted yes labels</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34.53% precision</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81.10% recall</a:t>
            </a:r>
          </a:p>
          <a:p xmlns:a="http://schemas.openxmlformats.org/drawingml/2006/main">
            <a:pPr>
              <a:defRPr sz="2325" b="0">
                <a:solidFill>
                  <a:srgbClr val="172D43"/>
                </a:solidFill>
                <a:latin typeface="Arial"/>
                <a:ea typeface="Arial"/>
                <a:cs typeface="Arial"/>
              </a:defRPr>
            </a:pPr>
            <a:r>
              <a:rPr sz="2325" b="0">
                <a:solidFill>
                  <a:srgbClr val="172D43"/>
                </a:solidFill>
                <a:latin typeface="Arial"/>
                <a:ea typeface="Arial"/>
                <a:cs typeface="Arial"/>
              </a:rPr>
              <a:t>46.77% accuracy</a:t>
            </a:r>
          </a:p>
        </p:txBody>
      </p:sp>
      <p:sp>
        <p:nvSpPr>
          <p:cNvPr id="10" name="">
            <a:extLst xmlns:a="http://schemas.openxmlformats.org/drawingml/2006/main">
              <a:ext uri="{FF2B5EF4-FFF2-40B4-BE49-F238E27FC236}">
                <a16:creationId xmlns:a16="http://schemas.microsoft.com/office/drawing/2014/main" id="{285E1077-1F05-4D12-BFC8-57BBDB5599D4}"/>
              </a:ext>
            </a:extLst>
          </p:cNvPr>
          <p:cNvSpPr>
            <a:spLocks xmlns:a="http://schemas.openxmlformats.org/drawingml/2006/main" noGrp="1"/>
          </p:cNvSpPr>
          <p:nvPr/>
        </p:nvSpPr>
        <p:spPr>
          <a:xfrm xmlns:a="http://schemas.openxmlformats.org/drawingml/2006/main">
            <a:off x="628650" y="5686425"/>
            <a:ext cx="10934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No costs, deposit values, consent, or randomized no-contact outcomes are available.</a:t>
            </a:r>
          </a:p>
        </p:txBody>
      </p:sp>
    </p:spTree>
    <p:extLst>
      <p:ext uri="{BB962C8B-B14F-4D97-AF65-F5344CB8AC3E}">
        <p14:creationId xmlns:p14="http://schemas.microsoft.com/office/powerpoint/2010/main" val="3412934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731B2E-A948-4500-8E7E-4E9E3EF7224E}"/>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Good ranking does not guarantee reliable probabilities</a:t>
            </a:r>
          </a:p>
        </p:txBody>
      </p:sp>
      <p:sp>
        <p:nvSpPr>
          <p:cNvPr id="2" name="">
            <a:extLst xmlns:a="http://schemas.openxmlformats.org/drawingml/2006/main">
              <a:ext uri="{FF2B5EF4-FFF2-40B4-BE49-F238E27FC236}">
                <a16:creationId xmlns:a16="http://schemas.microsoft.com/office/drawing/2014/main" id="{C7E05CB6-46E5-4DB2-827E-6A94916C3413}"/>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Test Brier 0.2546 | Large prevalence shift | Production transfer is unproven</a:t>
            </a:r>
          </a:p>
        </p:txBody>
      </p:sp>
      <p:sp>
        <p:nvSpPr>
          <p:cNvPr id="3" name="">
            <a:extLst xmlns:a="http://schemas.openxmlformats.org/drawingml/2006/main">
              <a:ext uri="{FF2B5EF4-FFF2-40B4-BE49-F238E27FC236}">
                <a16:creationId xmlns:a16="http://schemas.microsoft.com/office/drawing/2014/main" id="{FC3205F8-9EE4-4643-B4F8-6EED990EDEC0}"/>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FBE4C2-56DD-4D63-995C-343634807C90}"/>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ABD20B1B-55C7-412F-AC2F-7AAA9970BED8}"/>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2C2631CD-DA0C-4457-B4D8-58ED5DCF1898}"/>
              </a:ext>
            </a:extLst>
          </p:cNvPr>
          <p:cNvSpPr>
            <a:spLocks xmlns:a="http://schemas.openxmlformats.org/drawingml/2006/main" noGrp="1"/>
          </p:cNvSpPr>
          <p:nvPr/>
        </p:nvSpPr>
        <p:spPr>
          <a:xfrm xmlns:a="http://schemas.openxmlformats.org/drawingml/2006/main">
            <a:off x="638175" y="2257425"/>
            <a:ext cx="48482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550" b="1">
                <a:solidFill>
                  <a:srgbClr val="087F83"/>
                </a:solidFill>
                <a:latin typeface="Arial"/>
                <a:ea typeface="Arial"/>
                <a:cs typeface="Arial"/>
              </a:defRPr>
            </a:defPPr>
          </a:lstStyle>
          <a:p xmlns:a="http://schemas.openxmlformats.org/drawingml/2006/main">
            <a:pPr>
              <a:defRPr sz="5550" b="1">
                <a:solidFill>
                  <a:srgbClr val="087F83"/>
                </a:solidFill>
                <a:latin typeface="Arial"/>
                <a:ea typeface="Arial"/>
                <a:cs typeface="Arial"/>
              </a:defRPr>
            </a:pPr>
            <a:r>
              <a:rPr sz="5550" b="1">
                <a:solidFill>
                  <a:srgbClr val="087F83"/>
                </a:solidFill>
                <a:latin typeface="Arial"/>
                <a:ea typeface="Arial"/>
                <a:cs typeface="Arial"/>
              </a:rPr>
              <a:t>4.81%</a:t>
            </a:r>
          </a:p>
        </p:txBody>
      </p:sp>
      <p:sp>
        <p:nvSpPr>
          <p:cNvPr id="7" name="">
            <a:extLst xmlns:a="http://schemas.openxmlformats.org/drawingml/2006/main">
              <a:ext uri="{FF2B5EF4-FFF2-40B4-BE49-F238E27FC236}">
                <a16:creationId xmlns:a16="http://schemas.microsoft.com/office/drawing/2014/main" id="{56D8679C-18ED-467C-BAEB-D9C307B67935}"/>
              </a:ext>
            </a:extLst>
          </p:cNvPr>
          <p:cNvSpPr>
            <a:spLocks xmlns:a="http://schemas.openxmlformats.org/drawingml/2006/main" noGrp="1"/>
          </p:cNvSpPr>
          <p:nvPr/>
        </p:nvSpPr>
        <p:spPr>
          <a:xfrm xmlns:a="http://schemas.openxmlformats.org/drawingml/2006/main">
            <a:off x="666750" y="3381375"/>
            <a:ext cx="4810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D43"/>
                </a:solidFill>
                <a:latin typeface="Arial"/>
                <a:ea typeface="Arial"/>
                <a:cs typeface="Arial"/>
              </a:defRPr>
            </a:defPPr>
          </a:lstStyle>
          <a:p xmlns:a="http://schemas.openxmlformats.org/drawingml/2006/main">
            <a:pPr>
              <a:defRPr sz="2175" b="0">
                <a:solidFill>
                  <a:srgbClr val="172D43"/>
                </a:solidFill>
                <a:latin typeface="Arial"/>
                <a:ea typeface="Arial"/>
                <a:cs typeface="Arial"/>
              </a:defRPr>
            </a:pPr>
            <a:r>
              <a:rPr sz="2175" b="0">
                <a:solidFill>
                  <a:srgbClr val="172D43"/>
                </a:solidFill>
                <a:latin typeface="Arial"/>
                <a:ea typeface="Arial"/>
                <a:cs typeface="Arial"/>
              </a:rPr>
              <a:t>train yes prevalence</a:t>
            </a:r>
          </a:p>
        </p:txBody>
      </p:sp>
      <p:sp>
        <p:nvSpPr>
          <p:cNvPr id="8" name="">
            <a:extLst xmlns:a="http://schemas.openxmlformats.org/drawingml/2006/main">
              <a:ext uri="{FF2B5EF4-FFF2-40B4-BE49-F238E27FC236}">
                <a16:creationId xmlns:a16="http://schemas.microsoft.com/office/drawing/2014/main" id="{59474034-A659-49EA-8D7E-A71BF42300B8}"/>
              </a:ext>
            </a:extLst>
          </p:cNvPr>
          <p:cNvSpPr>
            <a:spLocks xmlns:a="http://schemas.openxmlformats.org/drawingml/2006/main" noGrp="1"/>
          </p:cNvSpPr>
          <p:nvPr/>
        </p:nvSpPr>
        <p:spPr>
          <a:xfrm xmlns:a="http://schemas.openxmlformats.org/drawingml/2006/main">
            <a:off x="6391275" y="2257425"/>
            <a:ext cx="5143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550" b="1">
                <a:solidFill>
                  <a:srgbClr val="CB9344"/>
                </a:solidFill>
                <a:latin typeface="Arial"/>
                <a:ea typeface="Arial"/>
                <a:cs typeface="Arial"/>
              </a:defRPr>
            </a:defPPr>
          </a:lstStyle>
          <a:p xmlns:a="http://schemas.openxmlformats.org/drawingml/2006/main">
            <a:pPr>
              <a:defRPr sz="5550" b="1">
                <a:solidFill>
                  <a:srgbClr val="CB9344"/>
                </a:solidFill>
                <a:latin typeface="Arial"/>
                <a:ea typeface="Arial"/>
                <a:cs typeface="Arial"/>
              </a:defRPr>
            </a:pPr>
            <a:r>
              <a:rPr sz="5550" b="1">
                <a:solidFill>
                  <a:srgbClr val="CB9344"/>
                </a:solidFill>
                <a:latin typeface="Arial"/>
                <a:ea typeface="Arial"/>
                <a:cs typeface="Arial"/>
              </a:rPr>
              <a:t>30.83%</a:t>
            </a:r>
          </a:p>
        </p:txBody>
      </p:sp>
      <p:sp>
        <p:nvSpPr>
          <p:cNvPr id="9" name="">
            <a:extLst xmlns:a="http://schemas.openxmlformats.org/drawingml/2006/main">
              <a:ext uri="{FF2B5EF4-FFF2-40B4-BE49-F238E27FC236}">
                <a16:creationId xmlns:a16="http://schemas.microsoft.com/office/drawing/2014/main" id="{190FABB7-AD04-42D6-BC97-F4F88F028D73}"/>
              </a:ext>
            </a:extLst>
          </p:cNvPr>
          <p:cNvSpPr>
            <a:spLocks xmlns:a="http://schemas.openxmlformats.org/drawingml/2006/main" noGrp="1"/>
          </p:cNvSpPr>
          <p:nvPr/>
        </p:nvSpPr>
        <p:spPr>
          <a:xfrm xmlns:a="http://schemas.openxmlformats.org/drawingml/2006/main">
            <a:off x="6419850" y="3381375"/>
            <a:ext cx="5105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2D43"/>
                </a:solidFill>
                <a:latin typeface="Arial"/>
                <a:ea typeface="Arial"/>
                <a:cs typeface="Arial"/>
              </a:defRPr>
            </a:defPPr>
          </a:lstStyle>
          <a:p xmlns:a="http://schemas.openxmlformats.org/drawingml/2006/main">
            <a:pPr>
              <a:defRPr sz="2175" b="0">
                <a:solidFill>
                  <a:srgbClr val="172D43"/>
                </a:solidFill>
                <a:latin typeface="Arial"/>
                <a:ea typeface="Arial"/>
                <a:cs typeface="Arial"/>
              </a:defRPr>
            </a:pPr>
            <a:r>
              <a:rPr sz="2175" b="0">
                <a:solidFill>
                  <a:srgbClr val="172D43"/>
                </a:solidFill>
                <a:latin typeface="Arial"/>
                <a:ea typeface="Arial"/>
                <a:cs typeface="Arial"/>
              </a:rPr>
              <a:t>test yes prevalence</a:t>
            </a:r>
          </a:p>
        </p:txBody>
      </p:sp>
      <p:sp>
        <p:nvSpPr>
          <p:cNvPr id="10" name="">
            <a:extLst xmlns:a="http://schemas.openxmlformats.org/drawingml/2006/main">
              <a:ext uri="{FF2B5EF4-FFF2-40B4-BE49-F238E27FC236}">
                <a16:creationId xmlns:a16="http://schemas.microsoft.com/office/drawing/2014/main" id="{CF5B5749-1677-4D66-975C-511A9061BCCD}"/>
              </a:ext>
            </a:extLst>
          </p:cNvPr>
          <p:cNvSpPr>
            <a:spLocks xmlns:a="http://schemas.openxmlformats.org/drawingml/2006/main" noGrp="1"/>
          </p:cNvSpPr>
          <p:nvPr/>
        </p:nvSpPr>
        <p:spPr>
          <a:xfrm xmlns:a="http://schemas.openxmlformats.org/drawingml/2006/main">
            <a:off x="666750" y="4543425"/>
            <a:ext cx="108013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172D43"/>
                </a:solidFill>
                <a:latin typeface="Arial"/>
                <a:ea typeface="Arial"/>
                <a:cs typeface="Arial"/>
              </a:defRPr>
            </a:defPPr>
          </a:lstStyle>
          <a:p xmlns:a="http://schemas.openxmlformats.org/drawingml/2006/main">
            <a:pPr>
              <a:defRPr sz="2400" b="1">
                <a:solidFill>
                  <a:srgbClr val="172D43"/>
                </a:solidFill>
                <a:latin typeface="Arial"/>
                <a:ea typeface="Arial"/>
                <a:cs typeface="Arial"/>
              </a:defRPr>
            </a:pPr>
            <a:r>
              <a:rPr sz="2400" b="1">
                <a:solidFill>
                  <a:srgbClr val="172D43"/>
                </a:solidFill>
                <a:latin typeface="Arial"/>
                <a:ea typeface="Arial"/>
                <a:cs typeface="Arial"/>
              </a:rPr>
              <a:t>Validate calibration on new data. Monitor drift, label delay, and capacity performance.</a:t>
            </a:r>
          </a:p>
        </p:txBody>
      </p:sp>
    </p:spTree>
    <p:extLst>
      <p:ext uri="{BB962C8B-B14F-4D97-AF65-F5344CB8AC3E}">
        <p14:creationId xmlns:p14="http://schemas.microsoft.com/office/powerpoint/2010/main" val="18600125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E827BB-E2AE-41A4-AECD-A01FF8781052}"/>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Previous campaign history matters on selection</a:t>
            </a:r>
          </a:p>
        </p:txBody>
      </p:sp>
      <p:sp>
        <p:nvSpPr>
          <p:cNvPr id="2" name="">
            <a:extLst xmlns:a="http://schemas.openxmlformats.org/drawingml/2006/main">
              <a:ext uri="{FF2B5EF4-FFF2-40B4-BE49-F238E27FC236}">
                <a16:creationId xmlns:a16="http://schemas.microsoft.com/office/drawing/2014/main" id="{F76D6DDC-CEF0-47FF-9FD2-50BF88239D6F}"/>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Permutation importance | Five repeats | Association, not causal explanation</a:t>
            </a:r>
          </a:p>
        </p:txBody>
      </p:sp>
      <p:sp>
        <p:nvSpPr>
          <p:cNvPr id="3" name="">
            <a:extLst xmlns:a="http://schemas.openxmlformats.org/drawingml/2006/main">
              <a:ext uri="{FF2B5EF4-FFF2-40B4-BE49-F238E27FC236}">
                <a16:creationId xmlns:a16="http://schemas.microsoft.com/office/drawing/2014/main" id="{810A6499-981C-4D4C-A365-4DD31D6C759E}"/>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149B338-27F3-442E-AF9F-36DD8982538B}"/>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25631871-8626-4E8B-8556-8AA0BEFF0B88}"/>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13</a:t>
            </a:r>
          </a:p>
        </p:txBody>
      </p:sp>
      <p:graphicFrame>
        <p:nvGraphicFramePr>
          <p:cNvPr id="6" name="Chart">
            <a:extLst xmlns:a="http://schemas.openxmlformats.org/drawingml/2006/main">
              <a:ext uri="{FF2B5EF4-FFF2-40B4-BE49-F238E27FC236}">
                <a16:creationId xmlns:a16="http://schemas.microsoft.com/office/drawing/2014/main" id="{504A6C04-43F4-44E1-9402-72BDCC8A79D3}"/>
              </a:ext>
            </a:extLst>
          </p:cNvPr>
          <p:cNvGraphicFramePr/>
          <p:nvPr/>
        </p:nvGraphicFramePr>
        <p:xfrm>
          <a:off xmlns:a="http://schemas.openxmlformats.org/drawingml/2006/main" x="876300" y="2000250"/>
          <a:ext xmlns:a="http://schemas.openxmlformats.org/drawingml/2006/main" cx="10191750" cy="3333750"/>
        </p:xfrm>
        <a:graphic xmlns:a="http://schemas.openxmlformats.org/drawingml/2006/main">
          <a:graphicData uri="http://schemas.openxmlformats.org/drawingml/2006/chart">
            <c:chart xmlns:r="http://schemas.openxmlformats.org/officeDocument/2006/relationships" xmlns:c="http://schemas.openxmlformats.org/drawingml/2006/chart" r:id="R6b1cd2e609f54d4c"/>
          </a:graphicData>
        </a:graphic>
      </p:graphicFrame>
      <p:sp>
        <p:nvSpPr>
          <p:cNvPr id="7" name="">
            <a:extLst xmlns:a="http://schemas.openxmlformats.org/drawingml/2006/main">
              <a:ext uri="{FF2B5EF4-FFF2-40B4-BE49-F238E27FC236}">
                <a16:creationId xmlns:a16="http://schemas.microsoft.com/office/drawing/2014/main" id="{F5C08003-1686-4A03-8567-E6AFBFC4A513}"/>
              </a:ext>
            </a:extLst>
          </p:cNvPr>
          <p:cNvSpPr>
            <a:spLocks xmlns:a="http://schemas.openxmlformats.org/drawingml/2006/main" noGrp="1"/>
          </p:cNvSpPr>
          <p:nvPr/>
        </p:nvSpPr>
        <p:spPr>
          <a:xfrm xmlns:a="http://schemas.openxmlformats.org/drawingml/2006/main">
            <a:off x="628650" y="5353050"/>
            <a:ext cx="10934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779"/>
                </a:solidFill>
                <a:latin typeface="Arial"/>
                <a:ea typeface="Arial"/>
                <a:cs typeface="Arial"/>
              </a:defRPr>
            </a:defPPr>
          </a:lstStyle>
          <a:p xmlns:a="http://schemas.openxmlformats.org/drawingml/2006/main">
            <a:pPr>
              <a:defRPr sz="1425" b="0">
                <a:solidFill>
                  <a:srgbClr val="536779"/>
                </a:solidFill>
                <a:latin typeface="Arial"/>
                <a:ea typeface="Arial"/>
                <a:cs typeface="Arial"/>
              </a:defRPr>
            </a:pPr>
            <a:r>
              <a:rPr sz="1425" b="0">
                <a:solidFill>
                  <a:srgbClr val="536779"/>
                </a:solidFill>
                <a:latin typeface="Arial"/>
                <a:ea typeface="Arial"/>
                <a:cs typeface="Arial"/>
              </a:rPr>
              <a:t>Mean selection AP decrease; loan retains its negative importance (-0.0002).</a:t>
            </a:r>
          </a:p>
        </p:txBody>
      </p:sp>
      <p:sp>
        <p:nvSpPr>
          <p:cNvPr id="8" name="">
            <a:extLst xmlns:a="http://schemas.openxmlformats.org/drawingml/2006/main">
              <a:ext uri="{FF2B5EF4-FFF2-40B4-BE49-F238E27FC236}">
                <a16:creationId xmlns:a16="http://schemas.microsoft.com/office/drawing/2014/main" id="{C4E46690-C891-4CF6-8C52-96FDCC362A05}"/>
              </a:ext>
            </a:extLst>
          </p:cNvPr>
          <p:cNvSpPr>
            <a:spLocks xmlns:a="http://schemas.openxmlformats.org/drawingml/2006/main" noGrp="1"/>
          </p:cNvSpPr>
          <p:nvPr/>
        </p:nvSpPr>
        <p:spPr>
          <a:xfrm xmlns:a="http://schemas.openxmlformats.org/drawingml/2006/main">
            <a:off x="628650" y="5695950"/>
            <a:ext cx="1093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Correlated features and small subgroups limit attribution. No fairness guarantee is made.</a:t>
            </a:r>
          </a:p>
        </p:txBody>
      </p:sp>
    </p:spTree>
    <p:extLst>
      <p:ext uri="{BB962C8B-B14F-4D97-AF65-F5344CB8AC3E}">
        <p14:creationId xmlns:p14="http://schemas.microsoft.com/office/powerpoint/2010/main" val="210775527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84C978A-5E94-4E92-9240-E8DE9C24198F}"/>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The application demonstrates input through export</a:t>
            </a:r>
          </a:p>
        </p:txBody>
      </p:sp>
      <p:sp>
        <p:nvSpPr>
          <p:cNvPr id="2" name="">
            <a:extLst xmlns:a="http://schemas.openxmlformats.org/drawingml/2006/main">
              <a:ext uri="{FF2B5EF4-FFF2-40B4-BE49-F238E27FC236}">
                <a16:creationId xmlns:a16="http://schemas.microsoft.com/office/drawing/2014/main" id="{041C73C0-EC83-44AF-A189-18E6D5E10352}"/>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Local scoring with a trusted frozen model | No training during page reruns</a:t>
            </a:r>
          </a:p>
        </p:txBody>
      </p:sp>
      <p:sp>
        <p:nvSpPr>
          <p:cNvPr id="3" name="">
            <a:extLst xmlns:a="http://schemas.openxmlformats.org/drawingml/2006/main">
              <a:ext uri="{FF2B5EF4-FFF2-40B4-BE49-F238E27FC236}">
                <a16:creationId xmlns:a16="http://schemas.microsoft.com/office/drawing/2014/main" id="{6AD7B7C8-5125-4F19-8E23-AB91DA5A6802}"/>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97C565-CD2A-4EFC-819B-EE9ABD9C09B2}"/>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1E46EAC1-49FE-4754-B022-05CBA383813B}"/>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F4FCEE8-FE82-445F-8674-6CF018F0C5CB}"/>
              </a:ext>
            </a:extLst>
          </p:cNvPr>
          <p:cNvSpPr>
            <a:spLocks xmlns:a="http://schemas.openxmlformats.org/drawingml/2006/main" noGrp="1"/>
          </p:cNvSpPr>
          <p:nvPr/>
        </p:nvSpPr>
        <p:spPr>
          <a:xfrm xmlns:a="http://schemas.openxmlformats.org/drawingml/2006/main">
            <a:off x="628650" y="2162175"/>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CB03AAF0-2CC5-4B93-B763-37A3BF010E9C}"/>
              </a:ext>
            </a:extLst>
          </p:cNvPr>
          <p:cNvSpPr>
            <a:spLocks xmlns:a="http://schemas.openxmlformats.org/drawingml/2006/main" noGrp="1"/>
          </p:cNvSpPr>
          <p:nvPr/>
        </p:nvSpPr>
        <p:spPr>
          <a:xfrm xmlns:a="http://schemas.openxmlformats.org/drawingml/2006/main">
            <a:off x="1428750" y="21907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Inspect</a:t>
            </a:r>
          </a:p>
        </p:txBody>
      </p:sp>
      <p:sp>
        <p:nvSpPr>
          <p:cNvPr id="8" name="">
            <a:extLst xmlns:a="http://schemas.openxmlformats.org/drawingml/2006/main">
              <a:ext uri="{FF2B5EF4-FFF2-40B4-BE49-F238E27FC236}">
                <a16:creationId xmlns:a16="http://schemas.microsoft.com/office/drawing/2014/main" id="{13C6C2FC-7307-4232-883C-A610BFAACAE0}"/>
              </a:ext>
            </a:extLst>
          </p:cNvPr>
          <p:cNvSpPr>
            <a:spLocks xmlns:a="http://schemas.openxmlformats.org/drawingml/2006/main" noGrp="1"/>
          </p:cNvSpPr>
          <p:nvPr/>
        </p:nvSpPr>
        <p:spPr>
          <a:xfrm xmlns:a="http://schemas.openxmlformats.org/drawingml/2006/main">
            <a:off x="1428750" y="2800350"/>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KDD and model evidence</a:t>
            </a:r>
          </a:p>
        </p:txBody>
      </p:sp>
      <p:sp>
        <p:nvSpPr>
          <p:cNvPr id="9" name="">
            <a:extLst xmlns:a="http://schemas.openxmlformats.org/drawingml/2006/main">
              <a:ext uri="{FF2B5EF4-FFF2-40B4-BE49-F238E27FC236}">
                <a16:creationId xmlns:a16="http://schemas.microsoft.com/office/drawing/2014/main" id="{DD418803-1764-4463-99C2-242DE2F8CAA9}"/>
              </a:ext>
            </a:extLst>
          </p:cNvPr>
          <p:cNvSpPr>
            <a:spLocks xmlns:a="http://schemas.openxmlformats.org/drawingml/2006/main" noGrp="1"/>
          </p:cNvSpPr>
          <p:nvPr/>
        </p:nvSpPr>
        <p:spPr>
          <a:xfrm xmlns:a="http://schemas.openxmlformats.org/drawingml/2006/main">
            <a:off x="4343400" y="2162175"/>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56FD11B-F66B-4E1D-9FC7-81EBC4C56705}"/>
              </a:ext>
            </a:extLst>
          </p:cNvPr>
          <p:cNvSpPr>
            <a:spLocks xmlns:a="http://schemas.openxmlformats.org/drawingml/2006/main" noGrp="1"/>
          </p:cNvSpPr>
          <p:nvPr/>
        </p:nvSpPr>
        <p:spPr>
          <a:xfrm xmlns:a="http://schemas.openxmlformats.org/drawingml/2006/main">
            <a:off x="5143500" y="21907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Predict</a:t>
            </a:r>
          </a:p>
        </p:txBody>
      </p:sp>
      <p:sp>
        <p:nvSpPr>
          <p:cNvPr id="11" name="">
            <a:extLst xmlns:a="http://schemas.openxmlformats.org/drawingml/2006/main">
              <a:ext uri="{FF2B5EF4-FFF2-40B4-BE49-F238E27FC236}">
                <a16:creationId xmlns:a16="http://schemas.microsoft.com/office/drawing/2014/main" id="{96EC62B3-2453-438C-88FC-B2A0F694AAEC}"/>
              </a:ext>
            </a:extLst>
          </p:cNvPr>
          <p:cNvSpPr>
            <a:spLocks xmlns:a="http://schemas.openxmlformats.org/drawingml/2006/main" noGrp="1"/>
          </p:cNvSpPr>
          <p:nvPr/>
        </p:nvSpPr>
        <p:spPr>
          <a:xfrm xmlns:a="http://schemas.openxmlformats.org/drawingml/2006/main">
            <a:off x="5143500" y="2800350"/>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One synthetic observation</a:t>
            </a:r>
          </a:p>
        </p:txBody>
      </p:sp>
      <p:sp>
        <p:nvSpPr>
          <p:cNvPr id="12" name="">
            <a:extLst xmlns:a="http://schemas.openxmlformats.org/drawingml/2006/main">
              <a:ext uri="{FF2B5EF4-FFF2-40B4-BE49-F238E27FC236}">
                <a16:creationId xmlns:a16="http://schemas.microsoft.com/office/drawing/2014/main" id="{0F102906-4563-490D-A24B-6109C08EFF9B}"/>
              </a:ext>
            </a:extLst>
          </p:cNvPr>
          <p:cNvSpPr>
            <a:spLocks xmlns:a="http://schemas.openxmlformats.org/drawingml/2006/main" noGrp="1"/>
          </p:cNvSpPr>
          <p:nvPr/>
        </p:nvSpPr>
        <p:spPr>
          <a:xfrm xmlns:a="http://schemas.openxmlformats.org/drawingml/2006/main">
            <a:off x="8058150" y="2162175"/>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2AF04EC1-094E-41A2-9DAB-8C6C0C027D3F}"/>
              </a:ext>
            </a:extLst>
          </p:cNvPr>
          <p:cNvSpPr>
            <a:spLocks xmlns:a="http://schemas.openxmlformats.org/drawingml/2006/main" noGrp="1"/>
          </p:cNvSpPr>
          <p:nvPr/>
        </p:nvSpPr>
        <p:spPr>
          <a:xfrm xmlns:a="http://schemas.openxmlformats.org/drawingml/2006/main">
            <a:off x="8858250" y="21907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Score</a:t>
            </a:r>
          </a:p>
        </p:txBody>
      </p:sp>
      <p:sp>
        <p:nvSpPr>
          <p:cNvPr id="14" name="">
            <a:extLst xmlns:a="http://schemas.openxmlformats.org/drawingml/2006/main">
              <a:ext uri="{FF2B5EF4-FFF2-40B4-BE49-F238E27FC236}">
                <a16:creationId xmlns:a16="http://schemas.microsoft.com/office/drawing/2014/main" id="{EE7937FD-3651-4B18-806E-4854E6251CF0}"/>
              </a:ext>
            </a:extLst>
          </p:cNvPr>
          <p:cNvSpPr>
            <a:spLocks xmlns:a="http://schemas.openxmlformats.org/drawingml/2006/main" noGrp="1"/>
          </p:cNvSpPr>
          <p:nvPr/>
        </p:nvSpPr>
        <p:spPr>
          <a:xfrm xmlns:a="http://schemas.openxmlformats.org/drawingml/2006/main">
            <a:off x="8858250" y="2800350"/>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Valid CSV at q=10%</a:t>
            </a:r>
          </a:p>
        </p:txBody>
      </p:sp>
      <p:sp>
        <p:nvSpPr>
          <p:cNvPr id="15" name="">
            <a:extLst xmlns:a="http://schemas.openxmlformats.org/drawingml/2006/main">
              <a:ext uri="{FF2B5EF4-FFF2-40B4-BE49-F238E27FC236}">
                <a16:creationId xmlns:a16="http://schemas.microsoft.com/office/drawing/2014/main" id="{7D9B9BDF-5CFE-49AA-BAA5-222B404E3402}"/>
              </a:ext>
            </a:extLst>
          </p:cNvPr>
          <p:cNvSpPr>
            <a:spLocks xmlns:a="http://schemas.openxmlformats.org/drawingml/2006/main" noGrp="1"/>
          </p:cNvSpPr>
          <p:nvPr/>
        </p:nvSpPr>
        <p:spPr>
          <a:xfrm xmlns:a="http://schemas.openxmlformats.org/drawingml/2006/main">
            <a:off x="628650" y="3924300"/>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04</a:t>
            </a:r>
          </a:p>
        </p:txBody>
      </p:sp>
      <p:sp>
        <p:nvSpPr>
          <p:cNvPr id="16" name="">
            <a:extLst xmlns:a="http://schemas.openxmlformats.org/drawingml/2006/main">
              <a:ext uri="{FF2B5EF4-FFF2-40B4-BE49-F238E27FC236}">
                <a16:creationId xmlns:a16="http://schemas.microsoft.com/office/drawing/2014/main" id="{E8FA8575-DA32-4C81-9B31-597661D971D1}"/>
              </a:ext>
            </a:extLst>
          </p:cNvPr>
          <p:cNvSpPr>
            <a:spLocks xmlns:a="http://schemas.openxmlformats.org/drawingml/2006/main" noGrp="1"/>
          </p:cNvSpPr>
          <p:nvPr/>
        </p:nvSpPr>
        <p:spPr>
          <a:xfrm xmlns:a="http://schemas.openxmlformats.org/drawingml/2006/main">
            <a:off x="1428750" y="3952875"/>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Rerank</a:t>
            </a:r>
          </a:p>
        </p:txBody>
      </p:sp>
      <p:sp>
        <p:nvSpPr>
          <p:cNvPr id="17" name="">
            <a:extLst xmlns:a="http://schemas.openxmlformats.org/drawingml/2006/main">
              <a:ext uri="{FF2B5EF4-FFF2-40B4-BE49-F238E27FC236}">
                <a16:creationId xmlns:a16="http://schemas.microsoft.com/office/drawing/2014/main" id="{8DF393ED-BC5A-4B7F-8A61-6339848299DB}"/>
              </a:ext>
            </a:extLst>
          </p:cNvPr>
          <p:cNvSpPr>
            <a:spLocks xmlns:a="http://schemas.openxmlformats.org/drawingml/2006/main" noGrp="1"/>
          </p:cNvSpPr>
          <p:nvPr/>
        </p:nvSpPr>
        <p:spPr>
          <a:xfrm xmlns:a="http://schemas.openxmlformats.org/drawingml/2006/main">
            <a:off x="1428750" y="4562475"/>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Change K without training</a:t>
            </a:r>
          </a:p>
        </p:txBody>
      </p:sp>
      <p:sp>
        <p:nvSpPr>
          <p:cNvPr id="18" name="">
            <a:extLst xmlns:a="http://schemas.openxmlformats.org/drawingml/2006/main">
              <a:ext uri="{FF2B5EF4-FFF2-40B4-BE49-F238E27FC236}">
                <a16:creationId xmlns:a16="http://schemas.microsoft.com/office/drawing/2014/main" id="{AEDA6186-1E02-4F24-BCF8-7C15A2824387}"/>
              </a:ext>
            </a:extLst>
          </p:cNvPr>
          <p:cNvSpPr>
            <a:spLocks xmlns:a="http://schemas.openxmlformats.org/drawingml/2006/main" noGrp="1"/>
          </p:cNvSpPr>
          <p:nvPr/>
        </p:nvSpPr>
        <p:spPr>
          <a:xfrm xmlns:a="http://schemas.openxmlformats.org/drawingml/2006/main">
            <a:off x="4343400" y="3924300"/>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05</a:t>
            </a:r>
          </a:p>
        </p:txBody>
      </p:sp>
      <p:sp>
        <p:nvSpPr>
          <p:cNvPr id="19" name="">
            <a:extLst xmlns:a="http://schemas.openxmlformats.org/drawingml/2006/main">
              <a:ext uri="{FF2B5EF4-FFF2-40B4-BE49-F238E27FC236}">
                <a16:creationId xmlns:a16="http://schemas.microsoft.com/office/drawing/2014/main" id="{9C3C82EE-9222-46DB-B2F2-7447E031D4BD}"/>
              </a:ext>
            </a:extLst>
          </p:cNvPr>
          <p:cNvSpPr>
            <a:spLocks xmlns:a="http://schemas.openxmlformats.org/drawingml/2006/main" noGrp="1"/>
          </p:cNvSpPr>
          <p:nvPr/>
        </p:nvSpPr>
        <p:spPr>
          <a:xfrm xmlns:a="http://schemas.openxmlformats.org/drawingml/2006/main">
            <a:off x="5143500" y="3952875"/>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Export</a:t>
            </a:r>
          </a:p>
        </p:txBody>
      </p:sp>
      <p:sp>
        <p:nvSpPr>
          <p:cNvPr id="20" name="">
            <a:extLst xmlns:a="http://schemas.openxmlformats.org/drawingml/2006/main">
              <a:ext uri="{FF2B5EF4-FFF2-40B4-BE49-F238E27FC236}">
                <a16:creationId xmlns:a16="http://schemas.microsoft.com/office/drawing/2014/main" id="{7A9FC760-16BC-4C34-81C2-E3DD0EF5F3F8}"/>
              </a:ext>
            </a:extLst>
          </p:cNvPr>
          <p:cNvSpPr>
            <a:spLocks xmlns:a="http://schemas.openxmlformats.org/drawingml/2006/main" noGrp="1"/>
          </p:cNvSpPr>
          <p:nvPr/>
        </p:nvSpPr>
        <p:spPr>
          <a:xfrm xmlns:a="http://schemas.openxmlformats.org/drawingml/2006/main">
            <a:off x="5143500" y="4562475"/>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CSV/JSON and provenance</a:t>
            </a:r>
          </a:p>
        </p:txBody>
      </p:sp>
      <p:sp>
        <p:nvSpPr>
          <p:cNvPr id="21" name="">
            <a:extLst xmlns:a="http://schemas.openxmlformats.org/drawingml/2006/main">
              <a:ext uri="{FF2B5EF4-FFF2-40B4-BE49-F238E27FC236}">
                <a16:creationId xmlns:a16="http://schemas.microsoft.com/office/drawing/2014/main" id="{4982845C-5291-47DB-A872-CF739356FAAA}"/>
              </a:ext>
            </a:extLst>
          </p:cNvPr>
          <p:cNvSpPr>
            <a:spLocks xmlns:a="http://schemas.openxmlformats.org/drawingml/2006/main" noGrp="1"/>
          </p:cNvSpPr>
          <p:nvPr/>
        </p:nvSpPr>
        <p:spPr>
          <a:xfrm xmlns:a="http://schemas.openxmlformats.org/drawingml/2006/main">
            <a:off x="8058150" y="3924300"/>
            <a:ext cx="762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087F83"/>
                </a:solidFill>
                <a:latin typeface="Arial"/>
                <a:ea typeface="Arial"/>
                <a:cs typeface="Arial"/>
              </a:defRPr>
            </a:defPPr>
          </a:lstStyle>
          <a:p xmlns:a="http://schemas.openxmlformats.org/drawingml/2006/main">
            <a:pPr>
              <a:defRPr sz="2700" b="1">
                <a:solidFill>
                  <a:srgbClr val="087F83"/>
                </a:solidFill>
                <a:latin typeface="Arial"/>
                <a:ea typeface="Arial"/>
                <a:cs typeface="Arial"/>
              </a:defRPr>
            </a:pPr>
            <a:r>
              <a:rPr sz="2700" b="1">
                <a:solidFill>
                  <a:srgbClr val="087F83"/>
                </a:solidFill>
                <a:latin typeface="Arial"/>
                <a:ea typeface="Arial"/>
                <a:cs typeface="Arial"/>
              </a:rPr>
              <a:t>06</a:t>
            </a:r>
          </a:p>
        </p:txBody>
      </p:sp>
      <p:sp>
        <p:nvSpPr>
          <p:cNvPr id="22" name="">
            <a:extLst xmlns:a="http://schemas.openxmlformats.org/drawingml/2006/main">
              <a:ext uri="{FF2B5EF4-FFF2-40B4-BE49-F238E27FC236}">
                <a16:creationId xmlns:a16="http://schemas.microsoft.com/office/drawing/2014/main" id="{F43D01A6-EE28-4B0F-B424-7F9D84832F59}"/>
              </a:ext>
            </a:extLst>
          </p:cNvPr>
          <p:cNvSpPr>
            <a:spLocks xmlns:a="http://schemas.openxmlformats.org/drawingml/2006/main" noGrp="1"/>
          </p:cNvSpPr>
          <p:nvPr/>
        </p:nvSpPr>
        <p:spPr>
          <a:xfrm xmlns:a="http://schemas.openxmlformats.org/drawingml/2006/main">
            <a:off x="8858250" y="3952875"/>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2D43"/>
                </a:solidFill>
                <a:latin typeface="Arial"/>
                <a:ea typeface="Arial"/>
                <a:cs typeface="Arial"/>
              </a:defRPr>
            </a:defPPr>
          </a:lstStyle>
          <a:p xmlns:a="http://schemas.openxmlformats.org/drawingml/2006/main">
            <a:pPr>
              <a:defRPr sz="2100" b="1">
                <a:solidFill>
                  <a:srgbClr val="172D43"/>
                </a:solidFill>
                <a:latin typeface="Arial"/>
                <a:ea typeface="Arial"/>
                <a:cs typeface="Arial"/>
              </a:defRPr>
            </a:pPr>
            <a:r>
              <a:rPr sz="2100" b="1">
                <a:solidFill>
                  <a:srgbClr val="172D43"/>
                </a:solidFill>
                <a:latin typeface="Arial"/>
                <a:ea typeface="Arial"/>
                <a:cs typeface="Arial"/>
              </a:rPr>
              <a:t>Reject</a:t>
            </a:r>
          </a:p>
        </p:txBody>
      </p:sp>
      <p:sp>
        <p:nvSpPr>
          <p:cNvPr id="23" name="">
            <a:extLst xmlns:a="http://schemas.openxmlformats.org/drawingml/2006/main">
              <a:ext uri="{FF2B5EF4-FFF2-40B4-BE49-F238E27FC236}">
                <a16:creationId xmlns:a16="http://schemas.microsoft.com/office/drawing/2014/main" id="{92D951E2-A9F6-4222-9CD7-5A4F71E7E674}"/>
              </a:ext>
            </a:extLst>
          </p:cNvPr>
          <p:cNvSpPr>
            <a:spLocks xmlns:a="http://schemas.openxmlformats.org/drawingml/2006/main" noGrp="1"/>
          </p:cNvSpPr>
          <p:nvPr/>
        </p:nvSpPr>
        <p:spPr>
          <a:xfrm xmlns:a="http://schemas.openxmlformats.org/drawingml/2006/main">
            <a:off x="8858250" y="4562475"/>
            <a:ext cx="2714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Invalid batch and error report</a:t>
            </a:r>
          </a:p>
        </p:txBody>
      </p:sp>
      <p:sp>
        <p:nvSpPr>
          <p:cNvPr id="24" name="">
            <a:extLst xmlns:a="http://schemas.openxmlformats.org/drawingml/2006/main">
              <a:ext uri="{FF2B5EF4-FFF2-40B4-BE49-F238E27FC236}">
                <a16:creationId xmlns:a16="http://schemas.microsoft.com/office/drawing/2014/main" id="{9C2B5662-C7AB-47D1-8BE6-EE891535E647}"/>
              </a:ext>
            </a:extLst>
          </p:cNvPr>
          <p:cNvSpPr>
            <a:spLocks xmlns:a="http://schemas.openxmlformats.org/drawingml/2006/main" noGrp="1"/>
          </p:cNvSpPr>
          <p:nvPr/>
        </p:nvSpPr>
        <p:spPr>
          <a:xfrm xmlns:a="http://schemas.openxmlformats.org/drawingml/2006/main">
            <a:off x="628650" y="5724525"/>
            <a:ext cx="1093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Software quality: 244 passing tests; predictive results remain separate.</a:t>
            </a:r>
          </a:p>
        </p:txBody>
      </p:sp>
    </p:spTree>
    <p:extLst>
      <p:ext uri="{BB962C8B-B14F-4D97-AF65-F5344CB8AC3E}">
        <p14:creationId xmlns:p14="http://schemas.microsoft.com/office/powerpoint/2010/main" val="15295020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EF6AFC-C3BC-44FC-BBC0-2D3B0E225D49}"/>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A next experiment must use current, permissioned data</a:t>
            </a:r>
          </a:p>
        </p:txBody>
      </p:sp>
      <p:sp>
        <p:nvSpPr>
          <p:cNvPr id="2" name="">
            <a:extLst xmlns:a="http://schemas.openxmlformats.org/drawingml/2006/main">
              <a:ext uri="{FF2B5EF4-FFF2-40B4-BE49-F238E27FC236}">
                <a16:creationId xmlns:a16="http://schemas.microsoft.com/office/drawing/2014/main" id="{BB2D68D2-D40F-4C76-BD26-F27AAA37E215}"/>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Historical Portugal results do not establish production validity in Indonesia</a:t>
            </a:r>
          </a:p>
        </p:txBody>
      </p:sp>
      <p:sp>
        <p:nvSpPr>
          <p:cNvPr id="3" name="">
            <a:extLst xmlns:a="http://schemas.openxmlformats.org/drawingml/2006/main">
              <a:ext uri="{FF2B5EF4-FFF2-40B4-BE49-F238E27FC236}">
                <a16:creationId xmlns:a16="http://schemas.microsoft.com/office/drawing/2014/main" id="{0B21A083-5DF3-481C-8985-D9498FCFB0B1}"/>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3A834A-F7B2-4949-BBC3-791AA18C78FE}"/>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E1B62285-F3EB-441F-9A48-0C856ABED6EA}"/>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AA066BB1-C95B-48AF-962E-0AF11F63CD3C}"/>
              </a:ext>
            </a:extLst>
          </p:cNvPr>
          <p:cNvSpPr>
            <a:spLocks xmlns:a="http://schemas.openxmlformats.org/drawingml/2006/main" noGrp="1"/>
          </p:cNvSpPr>
          <p:nvPr/>
        </p:nvSpPr>
        <p:spPr>
          <a:xfrm xmlns:a="http://schemas.openxmlformats.org/drawingml/2006/main">
            <a:off x="628650" y="2085975"/>
            <a:ext cx="4905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Current limitations</a:t>
            </a:r>
          </a:p>
        </p:txBody>
      </p:sp>
      <p:sp>
        <p:nvSpPr>
          <p:cNvPr id="7" name="">
            <a:extLst xmlns:a="http://schemas.openxmlformats.org/drawingml/2006/main">
              <a:ext uri="{FF2B5EF4-FFF2-40B4-BE49-F238E27FC236}">
                <a16:creationId xmlns:a16="http://schemas.microsoft.com/office/drawing/2014/main" id="{CDC0DA04-F3D4-4AF0-9D65-41C37A91699F}"/>
              </a:ext>
            </a:extLst>
          </p:cNvPr>
          <p:cNvSpPr>
            <a:spLocks xmlns:a="http://schemas.openxmlformats.org/drawingml/2006/main" noGrp="1"/>
          </p:cNvSpPr>
          <p:nvPr/>
        </p:nvSpPr>
        <p:spPr>
          <a:xfrm xmlns:a="http://schemas.openxmlformats.org/drawingml/2006/main">
            <a:off x="628650" y="2914650"/>
            <a:ext cx="4962525"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2D43"/>
                </a:solidFill>
                <a:latin typeface="Arial"/>
                <a:ea typeface="Arial"/>
                <a:cs typeface="Arial"/>
              </a:defRPr>
            </a:defPPr>
          </a:lstStyle>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Old and geographically different data</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No verified customer/time isolation</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No ROI or treatment-effect evidence</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Calibration and fairness unproven</a:t>
            </a:r>
          </a:p>
        </p:txBody>
      </p:sp>
      <p:sp>
        <p:nvSpPr>
          <p:cNvPr id="8" name="">
            <a:extLst xmlns:a="http://schemas.openxmlformats.org/drawingml/2006/main">
              <a:ext uri="{FF2B5EF4-FFF2-40B4-BE49-F238E27FC236}">
                <a16:creationId xmlns:a16="http://schemas.microsoft.com/office/drawing/2014/main" id="{DF48A424-6E3F-4404-A0FA-F8F13874CC4C}"/>
              </a:ext>
            </a:extLst>
          </p:cNvPr>
          <p:cNvSpPr>
            <a:spLocks xmlns:a="http://schemas.openxmlformats.org/drawingml/2006/main" noGrp="1"/>
          </p:cNvSpPr>
          <p:nvPr/>
        </p:nvSpPr>
        <p:spPr>
          <a:xfrm xmlns:a="http://schemas.openxmlformats.org/drawingml/2006/main">
            <a:off x="6381750" y="2085975"/>
            <a:ext cx="5162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Next validation</a:t>
            </a:r>
          </a:p>
        </p:txBody>
      </p:sp>
      <p:sp>
        <p:nvSpPr>
          <p:cNvPr id="9" name="">
            <a:extLst xmlns:a="http://schemas.openxmlformats.org/drawingml/2006/main">
              <a:ext uri="{FF2B5EF4-FFF2-40B4-BE49-F238E27FC236}">
                <a16:creationId xmlns:a16="http://schemas.microsoft.com/office/drawing/2014/main" id="{AE45793B-B653-49D7-B10D-F706B91B32B8}"/>
              </a:ext>
            </a:extLst>
          </p:cNvPr>
          <p:cNvSpPr>
            <a:spLocks xmlns:a="http://schemas.openxmlformats.org/drawingml/2006/main" noGrp="1"/>
          </p:cNvSpPr>
          <p:nvPr/>
        </p:nvSpPr>
        <p:spPr>
          <a:xfrm xmlns:a="http://schemas.openxmlformats.org/drawingml/2006/main">
            <a:off x="6381750" y="2914650"/>
            <a:ext cx="51625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2D43"/>
                </a:solidFill>
                <a:latin typeface="Arial"/>
                <a:ea typeface="Arial"/>
                <a:cs typeface="Arial"/>
              </a:defRPr>
            </a:defPPr>
          </a:lstStyle>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Point-in-time customer snapshots</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New out-of-time holdout</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Drift and subgroup monitoring</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Prospective controlled campaign</a:t>
            </a:r>
          </a:p>
        </p:txBody>
      </p:sp>
      <p:sp>
        <p:nvSpPr>
          <p:cNvPr id="10" name="">
            <a:extLst xmlns:a="http://schemas.openxmlformats.org/drawingml/2006/main">
              <a:ext uri="{FF2B5EF4-FFF2-40B4-BE49-F238E27FC236}">
                <a16:creationId xmlns:a16="http://schemas.microsoft.com/office/drawing/2014/main" id="{2EC4D82A-866D-44BC-823A-82EA46D82AF3}"/>
              </a:ext>
            </a:extLst>
          </p:cNvPr>
          <p:cNvSpPr>
            <a:spLocks xmlns:a="http://schemas.openxmlformats.org/drawingml/2006/main" noGrp="1"/>
          </p:cNvSpPr>
          <p:nvPr/>
        </p:nvSpPr>
        <p:spPr>
          <a:xfrm xmlns:a="http://schemas.openxmlformats.org/drawingml/2006/main">
            <a:off x="628650" y="5705475"/>
            <a:ext cx="1093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36779"/>
                </a:solidFill>
                <a:latin typeface="Arial"/>
                <a:ea typeface="Arial"/>
                <a:cs typeface="Arial"/>
              </a:defRPr>
            </a:defPPr>
          </a:lstStyle>
          <a:p xmlns:a="http://schemas.openxmlformats.org/drawingml/2006/main">
            <a:pPr>
              <a:defRPr sz="1650" b="0">
                <a:solidFill>
                  <a:srgbClr val="536779"/>
                </a:solidFill>
                <a:latin typeface="Arial"/>
                <a:ea typeface="Arial"/>
                <a:cs typeface="Arial"/>
              </a:defRPr>
            </a:pPr>
            <a:r>
              <a:rPr sz="1650" b="0">
                <a:solidFill>
                  <a:srgbClr val="536779"/>
                </a:solidFill>
                <a:latin typeface="Arial"/>
                <a:ea typeface="Arial"/>
                <a:cs typeface="Arial"/>
              </a:rPr>
              <a:t>Preserve the current frozen evidence. New decisions require a new evaluation protocol.</a:t>
            </a:r>
          </a:p>
        </p:txBody>
      </p:sp>
    </p:spTree>
    <p:extLst>
      <p:ext uri="{BB962C8B-B14F-4D97-AF65-F5344CB8AC3E}">
        <p14:creationId xmlns:p14="http://schemas.microsoft.com/office/powerpoint/2010/main" val="172899059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11640E-2620-4775-AFDC-0D82B3D9D82A}"/>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2D43"/>
                </a:solidFill>
                <a:latin typeface="Arial"/>
                <a:ea typeface="Arial"/>
                <a:cs typeface="Arial"/>
              </a:defRPr>
            </a:defPPr>
          </a:lstStyle>
          <a:p xmlns:a="http://schemas.openxmlformats.org/drawingml/2006/main">
            <a:pPr>
              <a:defRPr sz="3000" b="1">
                <a:solidFill>
                  <a:srgbClr val="172D43"/>
                </a:solidFill>
                <a:latin typeface="Arial"/>
                <a:ea typeface="Arial"/>
                <a:cs typeface="Arial"/>
              </a:defRPr>
            </a:pPr>
            <a:r>
              <a:rPr sz="3000" b="1">
                <a:solidFill>
                  <a:srgbClr val="172D43"/>
                </a:solidFill>
                <a:latin typeface="Arial"/>
                <a:ea typeface="Arial"/>
                <a:cs typeface="Arial"/>
              </a:rPr>
              <a:t>Approve a validation study, not a production launch</a:t>
            </a:r>
          </a:p>
        </p:txBody>
      </p:sp>
      <p:sp>
        <p:nvSpPr>
          <p:cNvPr id="2" name="">
            <a:extLst xmlns:a="http://schemas.openxmlformats.org/drawingml/2006/main">
              <a:ext uri="{FF2B5EF4-FFF2-40B4-BE49-F238E27FC236}">
                <a16:creationId xmlns:a16="http://schemas.microsoft.com/office/drawing/2014/main" id="{342AEA2E-A8F9-4EF9-A4DD-C531C8D67FA0}"/>
              </a:ext>
            </a:extLst>
          </p:cNvPr>
          <p:cNvSpPr>
            <a:spLocks xmlns:a="http://schemas.openxmlformats.org/drawingml/2006/main" noGrp="1"/>
          </p:cNvSpPr>
          <p:nvPr/>
        </p:nvSpPr>
        <p:spPr>
          <a:xfrm xmlns:a="http://schemas.openxmlformats.org/drawingml/2006/main">
            <a:off x="628650" y="11906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536779"/>
                </a:solidFill>
                <a:latin typeface="Arial"/>
                <a:ea typeface="Arial"/>
                <a:cs typeface="Arial"/>
              </a:defRPr>
            </a:defPPr>
          </a:lstStyle>
          <a:p xmlns:a="http://schemas.openxmlformats.org/drawingml/2006/main">
            <a:pPr>
              <a:defRPr sz="1725" b="0">
                <a:solidFill>
                  <a:srgbClr val="536779"/>
                </a:solidFill>
                <a:latin typeface="Arial"/>
                <a:ea typeface="Arial"/>
                <a:cs typeface="Arial"/>
              </a:defRPr>
            </a:pPr>
            <a:r>
              <a:rPr sz="1725" b="0">
                <a:solidFill>
                  <a:srgbClr val="536779"/>
                </a:solidFill>
                <a:latin typeface="Arial"/>
                <a:ea typeface="Arial"/>
                <a:cs typeface="Arial"/>
              </a:rPr>
              <a:t>Retrospective ranking is promising; future probability reliability remains unproven</a:t>
            </a:r>
          </a:p>
        </p:txBody>
      </p:sp>
      <p:sp>
        <p:nvSpPr>
          <p:cNvPr id="3" name="">
            <a:extLst xmlns:a="http://schemas.openxmlformats.org/drawingml/2006/main">
              <a:ext uri="{FF2B5EF4-FFF2-40B4-BE49-F238E27FC236}">
                <a16:creationId xmlns:a16="http://schemas.microsoft.com/office/drawing/2014/main" id="{EB6DEF40-9E80-4EC4-8D43-E7EB8AD927EE}"/>
              </a:ext>
            </a:extLst>
          </p:cNvPr>
          <p:cNvSpPr>
            <a:spLocks xmlns:a="http://schemas.openxmlformats.org/drawingml/2006/main" noGrp="1"/>
          </p:cNvSpPr>
          <p:nvPr/>
        </p:nvSpPr>
        <p:spPr>
          <a:xfrm xmlns:a="http://schemas.openxmlformats.org/drawingml/2006/main">
            <a:off x="609600" y="6267450"/>
            <a:ext cx="10972800" cy="19050"/>
          </a:xfrm>
          <a:prstGeom xmlns:a="http://schemas.openxmlformats.org/drawingml/2006/main" prst="rect">
            <a:avLst/>
          </a:prstGeom>
          <a:solidFill xmlns:a="http://schemas.openxmlformats.org/drawingml/2006/main">
            <a:srgbClr val="D6E2E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D5D97C6-41B1-4F72-B6E1-9235D8E12DF6}"/>
              </a:ext>
            </a:extLst>
          </p:cNvPr>
          <p:cNvSpPr>
            <a:spLocks xmlns:a="http://schemas.openxmlformats.org/drawingml/2006/main" noGrp="1"/>
          </p:cNvSpPr>
          <p:nvPr/>
        </p:nvSpPr>
        <p:spPr>
          <a:xfrm xmlns:a="http://schemas.openxmlformats.org/drawingml/2006/main">
            <a:off x="609600" y="6419850"/>
            <a:ext cx="885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DepoRank | COMP6140001 Data Mining</a:t>
            </a:r>
          </a:p>
        </p:txBody>
      </p:sp>
      <p:sp>
        <p:nvSpPr>
          <p:cNvPr id="5" name="">
            <a:extLst xmlns:a="http://schemas.openxmlformats.org/drawingml/2006/main">
              <a:ext uri="{FF2B5EF4-FFF2-40B4-BE49-F238E27FC236}">
                <a16:creationId xmlns:a16="http://schemas.microsoft.com/office/drawing/2014/main" id="{62CB0CFE-8B0C-48E6-8356-3A87473D0524}"/>
              </a:ext>
            </a:extLst>
          </p:cNvPr>
          <p:cNvSpPr>
            <a:spLocks xmlns:a="http://schemas.openxmlformats.org/drawingml/2006/main" noGrp="1"/>
          </p:cNvSpPr>
          <p:nvPr/>
        </p:nvSpPr>
        <p:spPr>
          <a:xfrm xmlns:a="http://schemas.openxmlformats.org/drawingml/2006/main">
            <a:off x="10953750" y="64198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536779"/>
                </a:solidFill>
                <a:latin typeface="Arial"/>
                <a:ea typeface="Arial"/>
                <a:cs typeface="Arial"/>
              </a:defRPr>
            </a:defPPr>
          </a:lstStyle>
          <a:p xmlns:a="http://schemas.openxmlformats.org/drawingml/2006/main">
            <a:pPr>
              <a:defRPr sz="1125" b="0">
                <a:solidFill>
                  <a:srgbClr val="536779"/>
                </a:solidFill>
                <a:latin typeface="Arial"/>
                <a:ea typeface="Arial"/>
                <a:cs typeface="Arial"/>
              </a:defRPr>
            </a:pPr>
            <a:r>
              <a:rPr sz="1125" b="0">
                <a:solidFill>
                  <a:srgbClr val="536779"/>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F5546F4B-42EA-425D-93AF-C7D66396308E}"/>
              </a:ext>
            </a:extLst>
          </p:cNvPr>
          <p:cNvSpPr>
            <a:spLocks xmlns:a="http://schemas.openxmlformats.org/drawingml/2006/main" noGrp="1"/>
          </p:cNvSpPr>
          <p:nvPr/>
        </p:nvSpPr>
        <p:spPr>
          <a:xfrm xmlns:a="http://schemas.openxmlformats.org/drawingml/2006/main">
            <a:off x="628650" y="2133600"/>
            <a:ext cx="49625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Measured on the frozen test</a:t>
            </a:r>
          </a:p>
        </p:txBody>
      </p:sp>
      <p:sp>
        <p:nvSpPr>
          <p:cNvPr id="7" name="">
            <a:extLst xmlns:a="http://schemas.openxmlformats.org/drawingml/2006/main">
              <a:ext uri="{FF2B5EF4-FFF2-40B4-BE49-F238E27FC236}">
                <a16:creationId xmlns:a16="http://schemas.microsoft.com/office/drawing/2014/main" id="{AE7C52C3-1631-4F65-8436-3C6822059618}"/>
              </a:ext>
            </a:extLst>
          </p:cNvPr>
          <p:cNvSpPr>
            <a:spLocks xmlns:a="http://schemas.openxmlformats.org/drawingml/2006/main" noGrp="1"/>
          </p:cNvSpPr>
          <p:nvPr/>
        </p:nvSpPr>
        <p:spPr>
          <a:xfrm xmlns:a="http://schemas.openxmlformats.org/drawingml/2006/main">
            <a:off x="628650" y="2962275"/>
            <a:ext cx="4962525"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2D43"/>
                </a:solidFill>
                <a:latin typeface="Arial"/>
                <a:ea typeface="Arial"/>
                <a:cs typeface="Arial"/>
              </a:defRPr>
            </a:defPPr>
          </a:lstStyle>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62.14% Precision@824</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20.16% Recall@824</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2.02 lift over test prevalence</a:t>
            </a:r>
          </a:p>
          <a:p xmlns:a="http://schemas.openxmlformats.org/drawingml/2006/main">
            <a:pPr>
              <a:defRPr sz="2100" b="0">
                <a:solidFill>
                  <a:srgbClr val="172D43"/>
                </a:solidFill>
                <a:latin typeface="Arial"/>
                <a:ea typeface="Arial"/>
                <a:cs typeface="Arial"/>
              </a:defRPr>
            </a:pPr>
            <a:r>
              <a:rPr sz="2100" b="0">
                <a:solidFill>
                  <a:srgbClr val="172D43"/>
                </a:solidFill>
                <a:latin typeface="Arial"/>
                <a:ea typeface="Arial"/>
                <a:cs typeface="Arial"/>
              </a:rPr>
              <a:t>46.77% threshold accuracy</a:t>
            </a:r>
          </a:p>
        </p:txBody>
      </p:sp>
      <p:sp>
        <p:nvSpPr>
          <p:cNvPr id="8" name="">
            <a:extLst xmlns:a="http://schemas.openxmlformats.org/drawingml/2006/main">
              <a:ext uri="{FF2B5EF4-FFF2-40B4-BE49-F238E27FC236}">
                <a16:creationId xmlns:a16="http://schemas.microsoft.com/office/drawing/2014/main" id="{1CC74BA1-4F46-495F-8E92-A96680E83495}"/>
              </a:ext>
            </a:extLst>
          </p:cNvPr>
          <p:cNvSpPr>
            <a:spLocks xmlns:a="http://schemas.openxmlformats.org/drawingml/2006/main" noGrp="1"/>
          </p:cNvSpPr>
          <p:nvPr/>
        </p:nvSpPr>
        <p:spPr>
          <a:xfrm xmlns:a="http://schemas.openxmlformats.org/drawingml/2006/main">
            <a:off x="6381750" y="2133600"/>
            <a:ext cx="5162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087F83"/>
                </a:solidFill>
                <a:latin typeface="Arial"/>
                <a:ea typeface="Arial"/>
                <a:cs typeface="Arial"/>
              </a:defRPr>
            </a:defPPr>
          </a:lstStyle>
          <a:p xmlns:a="http://schemas.openxmlformats.org/drawingml/2006/main">
            <a:pPr>
              <a:defRPr sz="2325" b="1">
                <a:solidFill>
                  <a:srgbClr val="087F83"/>
                </a:solidFill>
                <a:latin typeface="Arial"/>
                <a:ea typeface="Arial"/>
                <a:cs typeface="Arial"/>
              </a:defRPr>
            </a:pPr>
            <a:r>
              <a:rPr sz="2325" b="1">
                <a:solidFill>
                  <a:srgbClr val="087F83"/>
                </a:solidFill>
                <a:latin typeface="Arial"/>
                <a:ea typeface="Arial"/>
                <a:cs typeface="Arial"/>
              </a:rPr>
              <a:t>Decision requested</a:t>
            </a:r>
          </a:p>
        </p:txBody>
      </p:sp>
      <p:sp>
        <p:nvSpPr>
          <p:cNvPr id="9" name="">
            <a:extLst xmlns:a="http://schemas.openxmlformats.org/drawingml/2006/main">
              <a:ext uri="{FF2B5EF4-FFF2-40B4-BE49-F238E27FC236}">
                <a16:creationId xmlns:a16="http://schemas.microsoft.com/office/drawing/2014/main" id="{5B8311A2-A10D-420C-909C-0B2BD9C87362}"/>
              </a:ext>
            </a:extLst>
          </p:cNvPr>
          <p:cNvSpPr>
            <a:spLocks xmlns:a="http://schemas.openxmlformats.org/drawingml/2006/main" noGrp="1"/>
          </p:cNvSpPr>
          <p:nvPr/>
        </p:nvSpPr>
        <p:spPr>
          <a:xfrm xmlns:a="http://schemas.openxmlformats.org/drawingml/2006/main">
            <a:off x="6381750" y="2962275"/>
            <a:ext cx="516255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2D43"/>
                </a:solidFill>
                <a:latin typeface="Arial"/>
                <a:ea typeface="Arial"/>
                <a:cs typeface="Arial"/>
              </a:defRPr>
            </a:defPPr>
          </a:lstStyle>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Approve access to current data</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Define capacity and contact eligibility</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Test calibration before probability claims</a:t>
            </a:r>
          </a:p>
          <a:p xmlns:a="http://schemas.openxmlformats.org/drawingml/2006/main">
            <a:pPr>
              <a:defRPr sz="2025" b="0">
                <a:solidFill>
                  <a:srgbClr val="172D43"/>
                </a:solidFill>
                <a:latin typeface="Arial"/>
                <a:ea typeface="Arial"/>
                <a:cs typeface="Arial"/>
              </a:defRPr>
            </a:pPr>
            <a:r>
              <a:rPr sz="2025" b="0">
                <a:solidFill>
                  <a:srgbClr val="172D43"/>
                </a:solidFill>
                <a:latin typeface="Arial"/>
                <a:ea typeface="Arial"/>
                <a:cs typeface="Arial"/>
              </a:rPr>
              <a:t>Measure response in a controlled study</a:t>
            </a:r>
          </a:p>
        </p:txBody>
      </p:sp>
      <p:sp>
        <p:nvSpPr>
          <p:cNvPr id="10" name="">
            <a:extLst xmlns:a="http://schemas.openxmlformats.org/drawingml/2006/main">
              <a:ext uri="{FF2B5EF4-FFF2-40B4-BE49-F238E27FC236}">
                <a16:creationId xmlns:a16="http://schemas.microsoft.com/office/drawing/2014/main" id="{FB210B85-3C92-452B-9047-5DB1A1A16ED4}"/>
              </a:ext>
            </a:extLst>
          </p:cNvPr>
          <p:cNvSpPr>
            <a:spLocks xmlns:a="http://schemas.openxmlformats.org/drawingml/2006/main" noGrp="1"/>
          </p:cNvSpPr>
          <p:nvPr/>
        </p:nvSpPr>
        <p:spPr>
          <a:xfrm xmlns:a="http://schemas.openxmlformats.org/drawingml/2006/main">
            <a:off x="628650" y="5715000"/>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36779"/>
                </a:solidFill>
                <a:latin typeface="Arial"/>
                <a:ea typeface="Arial"/>
                <a:cs typeface="Arial"/>
              </a:defRPr>
            </a:defPPr>
          </a:lstStyle>
          <a:p xmlns:a="http://schemas.openxmlformats.org/drawingml/2006/main">
            <a:pPr>
              <a:defRPr sz="1575" b="0">
                <a:solidFill>
                  <a:srgbClr val="536779"/>
                </a:solidFill>
                <a:latin typeface="Arial"/>
                <a:ea typeface="Arial"/>
                <a:cs typeface="Arial"/>
              </a:defRPr>
            </a:pPr>
            <a:r>
              <a:rPr sz="1575" b="0">
                <a:solidFill>
                  <a:srgbClr val="536779"/>
                </a:solidFill>
                <a:latin typeface="Arial"/>
                <a:ea typeface="Arial"/>
                <a:cs typeface="Arial"/>
              </a:rPr>
              <a:t>Reproducible application and evidence: github.com/DlegendZ/DepoRank</a:t>
            </a:r>
          </a:p>
        </p:txBody>
      </p:sp>
    </p:spTree>
    <p:extLst>
      <p:ext uri="{BB962C8B-B14F-4D97-AF65-F5344CB8AC3E}">
        <p14:creationId xmlns:p14="http://schemas.microsoft.com/office/powerpoint/2010/main" val="17468340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2026-10-06T05:02:26.8040000Z</dcterms:created>
  <dcterms:modified xsi:type="dcterms:W3CDTF">2026-10-06T05:02:26.8040000Z</dcterms:modified>
</coreProperties>
</file>