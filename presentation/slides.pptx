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0cb5409e52d4526" /><Relationship Type="http://schemas.openxmlformats.org/officeDocument/2006/relationships/extended-properties" Target="/docProps/app.xml" Id="R1de6fa7392024e97" /><Relationship Type="http://schemas.openxmlformats.org/officeDocument/2006/relationships/officeDocument" Target="/ppt/presentation.xml" Id="Rdbd5595a589b4117" /></Relationships>
</file>

<file path=ppt/presentation.xml><?xml version="1.0" encoding="utf-8"?>
<p:presentation xmlns:p="http://schemas.openxmlformats.org/presentationml/2006/main">
  <p:sldMasterIdLst>
    <p:sldMasterId xmlns:r="http://schemas.openxmlformats.org/officeDocument/2006/relationships" id="2147483648" r:id="Ra96055ae58eb4813"/>
  </p:sldMasterIdLst>
  <p:notesMasterIdLst>
    <p:notesMasterId xmlns:r="http://schemas.openxmlformats.org/officeDocument/2006/relationships" r:id="R87f29b3c856f4437"/>
  </p:notesMasterIdLst>
  <p:sldIdLst>
    <p:sldId xmlns:r="http://schemas.openxmlformats.org/officeDocument/2006/relationships" id="256" r:id="R7e2ed537c3994917"/>
    <p:sldId xmlns:r="http://schemas.openxmlformats.org/officeDocument/2006/relationships" id="257" r:id="R725b46a2cbcb4d03"/>
    <p:sldId xmlns:r="http://schemas.openxmlformats.org/officeDocument/2006/relationships" id="258" r:id="R93512a3f9a264b94"/>
    <p:sldId xmlns:r="http://schemas.openxmlformats.org/officeDocument/2006/relationships" id="259" r:id="Rc5d8abb7a7bd4a86"/>
    <p:sldId xmlns:r="http://schemas.openxmlformats.org/officeDocument/2006/relationships" id="260" r:id="R8ca8362ff6474e80"/>
    <p:sldId xmlns:r="http://schemas.openxmlformats.org/officeDocument/2006/relationships" id="261" r:id="Rfd87a31ebde14530"/>
    <p:sldId xmlns:r="http://schemas.openxmlformats.org/officeDocument/2006/relationships" id="262" r:id="R8e7fccfdabf549ef"/>
    <p:sldId xmlns:r="http://schemas.openxmlformats.org/officeDocument/2006/relationships" id="263" r:id="Rfd4dc838a29e4a24"/>
    <p:sldId xmlns:r="http://schemas.openxmlformats.org/officeDocument/2006/relationships" id="264" r:id="R9bd08e19267344fb"/>
    <p:sldId xmlns:r="http://schemas.openxmlformats.org/officeDocument/2006/relationships" id="265" r:id="R94dea03c656b4d00"/>
    <p:sldId xmlns:r="http://schemas.openxmlformats.org/officeDocument/2006/relationships" id="266" r:id="Raaf0a9fa45a9404f"/>
    <p:sldId xmlns:r="http://schemas.openxmlformats.org/officeDocument/2006/relationships" id="267" r:id="R9bf4fab9f05f40f4"/>
    <p:sldId xmlns:r="http://schemas.openxmlformats.org/officeDocument/2006/relationships" id="268" r:id="Rc4d15712f37c430e"/>
    <p:sldId xmlns:r="http://schemas.openxmlformats.org/officeDocument/2006/relationships" id="269" r:id="R54d839aa665346d2"/>
    <p:sldId xmlns:r="http://schemas.openxmlformats.org/officeDocument/2006/relationships" id="270" r:id="R46bce58565844738"/>
    <p:sldId xmlns:r="http://schemas.openxmlformats.org/officeDocument/2006/relationships" id="271" r:id="R6a828441fce24b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0f3b27c03b492a" /><Relationship Type="http://schemas.openxmlformats.org/officeDocument/2006/relationships/slideMaster" Target="/ppt/slideMasters/slideMaster1.xml" Id="Ra96055ae58eb4813" /><Relationship Type="http://schemas.openxmlformats.org/officeDocument/2006/relationships/notesMaster" Target="/ppt/notesMasters/notesMaster1.xml" Id="R87f29b3c856f4437" /><Relationship Type="http://schemas.openxmlformats.org/officeDocument/2006/relationships/presProps" Target="/ppt/presProps.xml" Id="Ra96a9cbb0cf44d78" /><Relationship Type="http://schemas.openxmlformats.org/officeDocument/2006/relationships/tableStyles" Target="/ppt/tableStyles.xml" Id="R558363cef8fe4e22" /><Relationship Type="http://schemas.openxmlformats.org/officeDocument/2006/relationships/slide" Target="/ppt/slides/slide1.xml" Id="R7e2ed537c3994917" /><Relationship Type="http://schemas.openxmlformats.org/officeDocument/2006/relationships/slide" Target="/ppt/slides/slide2.xml" Id="R725b46a2cbcb4d03" /><Relationship Type="http://schemas.openxmlformats.org/officeDocument/2006/relationships/slide" Target="/ppt/slides/slide3.xml" Id="R93512a3f9a264b94" /><Relationship Type="http://schemas.openxmlformats.org/officeDocument/2006/relationships/slide" Target="/ppt/slides/slide4.xml" Id="Rc5d8abb7a7bd4a86" /><Relationship Type="http://schemas.openxmlformats.org/officeDocument/2006/relationships/slide" Target="/ppt/slides/slide5.xml" Id="R8ca8362ff6474e80" /><Relationship Type="http://schemas.openxmlformats.org/officeDocument/2006/relationships/slide" Target="/ppt/slides/slide6.xml" Id="Rfd87a31ebde14530" /><Relationship Type="http://schemas.openxmlformats.org/officeDocument/2006/relationships/slide" Target="/ppt/slides/slide7.xml" Id="R8e7fccfdabf549ef" /><Relationship Type="http://schemas.openxmlformats.org/officeDocument/2006/relationships/slide" Target="/ppt/slides/slide8.xml" Id="Rfd4dc838a29e4a24" /><Relationship Type="http://schemas.openxmlformats.org/officeDocument/2006/relationships/slide" Target="/ppt/slides/slide9.xml" Id="R9bd08e19267344fb" /><Relationship Type="http://schemas.openxmlformats.org/officeDocument/2006/relationships/slide" Target="/ppt/slides/slide10.xml" Id="R94dea03c656b4d00" /><Relationship Type="http://schemas.openxmlformats.org/officeDocument/2006/relationships/slide" Target="/ppt/slides/slide11.xml" Id="Raaf0a9fa45a9404f" /><Relationship Type="http://schemas.openxmlformats.org/officeDocument/2006/relationships/slide" Target="/ppt/slides/slide12.xml" Id="R9bf4fab9f05f40f4" /><Relationship Type="http://schemas.openxmlformats.org/officeDocument/2006/relationships/slide" Target="/ppt/slides/slide13.xml" Id="Rc4d15712f37c430e" /><Relationship Type="http://schemas.openxmlformats.org/officeDocument/2006/relationships/slide" Target="/ppt/slides/slide14.xml" Id="R54d839aa665346d2" /><Relationship Type="http://schemas.openxmlformats.org/officeDocument/2006/relationships/slide" Target="/ppt/slides/slide15.xml" Id="R46bce58565844738" /><Relationship Type="http://schemas.openxmlformats.org/officeDocument/2006/relationships/slide" Target="/ppt/slides/slide16.xml" Id="R6a828441fce24b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6a122ffb7e4c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ac8bb4af0e4814" /><Relationship Type="http://schemas.openxmlformats.org/officeDocument/2006/relationships/notesMaster" Target="/ppt/notesMasters/notesMaster1.xml" Id="R9e39e941ec124d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93dca5b33e4fe9" /><Relationship Type="http://schemas.openxmlformats.org/officeDocument/2006/relationships/notesMaster" Target="/ppt/notesMasters/notesMaster1.xml" Id="Rff9d023121b849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2b8721e470435f" /><Relationship Type="http://schemas.openxmlformats.org/officeDocument/2006/relationships/notesMaster" Target="/ppt/notesMasters/notesMaster1.xml" Id="R88edfcad66904c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24f59038fe4190" /><Relationship Type="http://schemas.openxmlformats.org/officeDocument/2006/relationships/notesMaster" Target="/ppt/notesMasters/notesMaster1.xml" Id="R9204199e74a745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cfb166d97141ad" /><Relationship Type="http://schemas.openxmlformats.org/officeDocument/2006/relationships/notesMaster" Target="/ppt/notesMasters/notesMaster1.xml" Id="R191311c3a59d43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eaf6c5880f480d" /><Relationship Type="http://schemas.openxmlformats.org/officeDocument/2006/relationships/notesMaster" Target="/ppt/notesMasters/notesMaster1.xml" Id="Rd0d1ae09af5a46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396f1f65294e34" /><Relationship Type="http://schemas.openxmlformats.org/officeDocument/2006/relationships/notesMaster" Target="/ppt/notesMasters/notesMaster1.xml" Id="Rdbb6ff5ffb4642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236b94eaf14ed6" /><Relationship Type="http://schemas.openxmlformats.org/officeDocument/2006/relationships/notesMaster" Target="/ppt/notesMasters/notesMaster1.xml" Id="Rc9b398c606394e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27fd459ac5492d" /><Relationship Type="http://schemas.openxmlformats.org/officeDocument/2006/relationships/notesMaster" Target="/ppt/notesMasters/notesMaster1.xml" Id="Rf7376bac10674f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d5cea9009124e51" /><Relationship Type="http://schemas.openxmlformats.org/officeDocument/2006/relationships/notesMaster" Target="/ppt/notesMasters/notesMaster1.xml" Id="Re727c716a6d245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be1a0968f0c4cff" /><Relationship Type="http://schemas.openxmlformats.org/officeDocument/2006/relationships/notesMaster" Target="/ppt/notesMasters/notesMaster1.xml" Id="R2734f148b8bd4f7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8dc310f5c5c4cef" /><Relationship Type="http://schemas.openxmlformats.org/officeDocument/2006/relationships/notesMaster" Target="/ppt/notesMasters/notesMaster1.xml" Id="R509e5e249855441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ac13799a73b4083" /><Relationship Type="http://schemas.openxmlformats.org/officeDocument/2006/relationships/notesMaster" Target="/ppt/notesMasters/notesMaster1.xml" Id="R3ca13812d43c49a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6513353d50340fc" /><Relationship Type="http://schemas.openxmlformats.org/officeDocument/2006/relationships/notesMaster" Target="/ppt/notesMasters/notesMaster1.xml" Id="Rd7b3de1507f3493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820e443fcfe4da0" /><Relationship Type="http://schemas.openxmlformats.org/officeDocument/2006/relationships/notesMaster" Target="/ppt/notesMasters/notesMaster1.xml" Id="R66f5aec67c034c0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a824c962dbf4eed" /><Relationship Type="http://schemas.openxmlformats.org/officeDocument/2006/relationships/notesMaster" Target="/ppt/notesMasters/notesMaster1.xml" Id="R797fcf57272345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stakeholder problem: finite contact capacity. Explain that the project compares five models and exposes an auditable local application. The presentation uses a fixed historical experiment, not prospective banking results.</a:t>
            </a:r>
          </a:p>
          <a:p xmlns:a="http://schemas.openxmlformats.org/drawingml/2006/main">
            <a:r>
              <a:t/>
            </a:r>
          </a:p>
          <a:p xmlns:a="http://schemas.openxmlformats.org/drawingml/2006/main">
            <a:r>
              <a:t>Evidence: frozen run 20261005T141242Z_4ac2cd71; reports/presentation_data.json; selection/test metrics and selection_lock.json. Chart values are rounded to six decimal places; full precision remains in the frozen evidence. Dataset: https://archive.ics.uci.edu/dataset/222/bank+marketing; Moro et al. (2014), https://doi.org/10.1016/j.dss.2014.03.001.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the campaign decision. At q=10%, K is ceil(0.10*8238)=824. The top 824 contain 512 yes and 312 no observations. Lift is relative to the test base rate, not causal marketing uplift. This is evidence of concentration, not guaranteed conversion or profit.</a:t>
            </a:r>
          </a:p>
          <a:p xmlns:a="http://schemas.openxmlformats.org/drawingml/2006/main">
            <a:r>
              <a:t/>
            </a:r>
          </a:p>
          <a:p xmlns:a="http://schemas.openxmlformats.org/drawingml/2006/main">
            <a:r>
              <a:t>Evidence: frozen run 20261005T141242Z_4ac2cd71; reports/presentation_data.json; selection/test metrics and selection_lock.json. Chart values are rounded to six decimal places; full precision remains in the frozen evidence. Dataset: https://archive.ics.uci.edu/dataset/222/bank+marketing; Moro et al. (2014), https://doi.org/10.1016/j.dss.2014.03.001.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decision before discussing algorithms. A threshold classification and a ranked contact list solve different tasks. The app never decides credit eligibility, consent, or production campaign policy. One observation is a historical contact record, not a verified unique customer.</a:t>
            </a:r>
          </a:p>
          <a:p xmlns:a="http://schemas.openxmlformats.org/drawingml/2006/main">
            <a:r>
              <a:t/>
            </a:r>
          </a:p>
          <a:p xmlns:a="http://schemas.openxmlformats.org/drawingml/2006/main">
            <a:r>
              <a:t>Evidence: frozen run 20261005T141242Z_4ac2cd71; reports/presentation_data.json; selection/test metrics and selection_lock.json. Chart values are rounded to six decimal places; full precision remains in the frozen evidence. Dataset: https://archive.ics.uci.edu/dataset/222/bank+marketing; Moro et al. (2014), https://doi.org/10.1016/j.dss.2014.03.001.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unchanged official CSV contains 41,188 observations, 20 original inputs, and y. There are 4,640 yes and 36,548 no labels, 12 full-row duplicates, and 4,110 audit warnings. Duplicate/unknown values are recorded rather than silently repaired. The rows are date-ordered but no unique customer ID or exact decision timestamp is available.</a:t>
            </a:r>
          </a:p>
          <a:p xmlns:a="http://schemas.openxmlformats.org/drawingml/2006/main">
            <a:r>
              <a:t/>
            </a:r>
          </a:p>
          <a:p xmlns:a="http://schemas.openxmlformats.org/drawingml/2006/main">
            <a:r>
              <a:t>Evidence: frozen run 20261005T141242Z_4ac2cd71; reports/presentation_data.json; selection/test metrics and selection_lock.json. Chart values are rounded to six decimal places; full precision remains in the frozen evidence. Dataset: https://archive.ics.uci.edu/dataset/222/bank+marketing; Moro et al. (2014), https://doi.org/10.1016/j.dss.2014.03.001.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selection, preprocessing, transformation, data mining, and interpretation/evaluation. Explain checksum verification, unknown-category preservation, pdays sentinel handling, fold-fitted encoders/scalers, model search, and frozen evaluation. A local CSV/registry is not an enterprise data warehouse.</a:t>
            </a:r>
          </a:p>
          <a:p xmlns:a="http://schemas.openxmlformats.org/drawingml/2006/main">
            <a:r>
              <a:t/>
            </a:r>
          </a:p>
          <a:p xmlns:a="http://schemas.openxmlformats.org/drawingml/2006/main">
            <a:r>
              <a:t>Evidence: frozen run 20261005T141242Z_4ac2cd71; reports/presentation_data.json; selection/test metrics and selection_lock.json. Chart values are rounded to six decimal places; full precision remains in the frozen evidence. Dataset: https://archive.ics.uci.edu/dataset/222/bank+marketing; Moro et al. (2014), https://doi.org/10.1016/j.dss.2014.03.001.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 has 24,712 rows and 4.81% yes; calibration and selection each have 4,119 rows with 10.15% and 11.99% yes; test has 8,238 rows and 30.83% yes. Original order is a temporal proxy, not proof of customer separation. This drift is a central limitation, not a post-test justification for changing the model.</a:t>
            </a:r>
          </a:p>
          <a:p xmlns:a="http://schemas.openxmlformats.org/drawingml/2006/main">
            <a:r>
              <a:t/>
            </a:r>
          </a:p>
          <a:p xmlns:a="http://schemas.openxmlformats.org/drawingml/2006/main">
            <a:r>
              <a:t>Evidence: frozen run 20261005T141242Z_4ac2cd71; reports/presentation_data.json; selection/test metrics and selection_lock.json. Chart values are rounded to six decimal places; full precision remains in the frozen evidence. Dataset: https://archive.ics.uci.edu/dataset/222/bank+marketing; Moro et al. (2014), https://doi.org/10.1016/j.dss.2014.03.001.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five required model families, not five hyperparameter variants of one model. Dummy prior and seeded random ranking are extra baselines. Complexity does not guarantee better performance under temporal shift. All pipelines fit preprocessing only on train/fold data.</a:t>
            </a:r>
          </a:p>
          <a:p xmlns:a="http://schemas.openxmlformats.org/drawingml/2006/main">
            <a:r>
              <a:t/>
            </a:r>
          </a:p>
          <a:p xmlns:a="http://schemas.openxmlformats.org/drawingml/2006/main">
            <a:r>
              <a:t>Evidence: frozen run 20261005T141242Z_4ac2cd71; reports/presentation_data.json; selection/test metrics and selection_lock.json. Chart values are rounded to six decimal places; full precision remains in the frozen evidence. Dataset: https://archive.ics.uci.edu/dataset/222/bank+marketing; Moro et al. (2014), https://doi.org/10.1016/j.dss.2014.03.001.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features are age, job, marital, education, default, housing, loan, pdays, previous, and poutcome. Exclude post-call duration, ambiguous current-campaign count, target, IDs, and current-contact/economic context. pdays=999 becomes a no-contact flag; pdays=0 still means previously contacted. Search AP inside train. Freeze base models for sigmoid calibration. Choose winner and F1 threshold on selection. Lock before opening test.</a:t>
            </a:r>
          </a:p>
          <a:p xmlns:a="http://schemas.openxmlformats.org/drawingml/2006/main">
            <a:r>
              <a:t/>
            </a:r>
          </a:p>
          <a:p xmlns:a="http://schemas.openxmlformats.org/drawingml/2006/main">
            <a:r>
              <a:t>Evidence: frozen run 20261005T141242Z_4ac2cd71; reports/presentation_data.json; selection/test metrics and selection_lock.json. Chart values are rounded to six decimal places; full precision remains in the frozen evidence. Dataset: https://archive.ics.uci.edu/dataset/222/bank+marketing; Moro et al. (2014), https://doi.org/10.1016/j.dss.2014.03.001.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Selection AP is 0.2318 for GaussianNB and 0.1773 for the next-best Logistic Regression. The gap exceeds the declared practical tie window 0.005, so no tie-breaker changes the outcome. In a tie, use Precision@10%, Brier, prediction latency, and model ID. The lock pins model hashes and decisions before final test. Do not reselect based on a nicer test metric.</a:t>
            </a:r>
          </a:p>
          <a:p xmlns:a="http://schemas.openxmlformats.org/drawingml/2006/main">
            <a:r>
              <a:t/>
            </a:r>
          </a:p>
          <a:p xmlns:a="http://schemas.openxmlformats.org/drawingml/2006/main">
            <a:r>
              <a:t>Evidence: frozen run 20261005T141242Z_4ac2cd71; reports/presentation_data.json; selection/test metrics and selection_lock.json. Chart values are rounded to six decimal places; full precision remains in the frozen evidence. Dataset: https://archive.ics.uci.edu/dataset/222/bank+marketing; Moro et al. (2014), https://doi.org/10.1016/j.dss.2014.03.001.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AP alongside capacity and calibration. GaussianNB has best test AP and ROC-AUC. Logistic Regression has highest Precision@K. Gradient Boosting has lowest learned-model Brier. Random Forest has lift below one. All five results are retained. AP differs across blocks partly because prevalence differs. No confidence interval or repeated independent split is claimed.</a:t>
            </a:r>
          </a:p>
          <a:p xmlns:a="http://schemas.openxmlformats.org/drawingml/2006/main">
            <a:r>
              <a:t/>
            </a:r>
          </a:p>
          <a:p xmlns:a="http://schemas.openxmlformats.org/drawingml/2006/main">
            <a:r>
              <a:t>Evidence: frozen run 20261005T141242Z_4ac2cd71; reports/presentation_data.json; selection/test metrics and selection_lock.json. Chart values are rounded to six decimal places; full precision remains in the frozen evidence. Dataset: https://archive.ics.uci.edu/dataset/222/bank+marketing; Moro et al. (2014), https://doi.org/10.1016/j.dss.2014.03.001.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K=824, GaussianNB selects 512 positives and 312 negatives; 2,028 positives are outside capacity. At threshold 0.09, the model labels 5,965 observations yes, with precision 34.53%, recall 81.10%, F1 0.4844, and accuracy 46.77%. Majority-no accuracy is 69.17%. This poor classification/calibration must be acknowledged even though ranking has utility.</a:t>
            </a:r>
          </a:p>
          <a:p xmlns:a="http://schemas.openxmlformats.org/drawingml/2006/main">
            <a:r>
              <a:t/>
            </a:r>
          </a:p>
          <a:p xmlns:a="http://schemas.openxmlformats.org/drawingml/2006/main">
            <a:r>
              <a:t>Evidence: frozen run 20261005T141242Z_4ac2cd71; reports/presentation_data.json; selection/test metrics and selection_lock.json. Chart values are rounded to six decimal places; full precision remains in the frozen evidence. Dataset: https://archive.ics.uci.edu/dataset/222/bank+marketing; Moro et al. (2014), https://doi.org/10.1016/j.dss.2014.03.001.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make the strongest caveat clear. The calibrator was fit at roughly 10.15% prevalence and the later test block has 30.83% positives. The report's reliability plot documents transfer problems. Probability estimates and threshold labels need new validation before operational use. Do not recalibrate on test or call the current model production-ready.</a:t>
            </a:r>
          </a:p>
          <a:p xmlns:a="http://schemas.openxmlformats.org/drawingml/2006/main">
            <a:r>
              <a:t/>
            </a:r>
          </a:p>
          <a:p xmlns:a="http://schemas.openxmlformats.org/drawingml/2006/main">
            <a:r>
              <a:t>Evidence: frozen run 20261005T141242Z_4ac2cd71; reports/presentation_data.json; selection/test metrics and selection_lock.json. Chart values are rounded to six decimal places; full precision remains in the frozen evidence. Dataset: https://archive.ics.uci.edu/dataset/222/bank+marketing; Moro et al. (2014), https://doi.org/10.1016/j.dss.2014.03.001.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AP decreases are poutcome 0.0396, pdays 0.0327, and job 0.0239. Keep the small negative loan importance instead of hiding it. The repeats are sensitivity runs inside selection, not independent model experiments. Correlated features limit interpretation; subgroup sizes below 100 are marked insufficient evidence. Fairness is not established.</a:t>
            </a:r>
          </a:p>
          <a:p xmlns:a="http://schemas.openxmlformats.org/drawingml/2006/main">
            <a:r>
              <a:t/>
            </a:r>
          </a:p>
          <a:p xmlns:a="http://schemas.openxmlformats.org/drawingml/2006/main">
            <a:r>
              <a:t>Evidence: frozen run 20261005T141242Z_4ac2cd71; reports/presentation_data.json; selection/test metrics and selection_lock.json. Chart values are rounded to six decimal places; full precision remains in the frozen evidence. Dataset: https://archive.ics.uci.edu/dataset/222/bank+marketing; Moro et al. (2014), https://doi.org/10.1016/j.dss.2014.03.001.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live demo: open Overview and Data/KDD, compare selection/test metrics, predict one synthetic record, score demo_valid.csv at q=10%, change capacity without rescoring, export CSV/JSON metadata, then show whole-batch rejection using demo_invalid.csv. Clear session data afterward. The supplied labeled public subset is demonstration data, not a fresh holdout. Real customer data and model-file uploads must not be used.</a:t>
            </a:r>
          </a:p>
          <a:p xmlns:a="http://schemas.openxmlformats.org/drawingml/2006/main">
            <a:r>
              <a:t/>
            </a:r>
          </a:p>
          <a:p xmlns:a="http://schemas.openxmlformats.org/drawingml/2006/main">
            <a:r>
              <a:t>Evidence: frozen run 20261005T141242Z_4ac2cd71; reports/presentation_data.json; selection/test metrics and selection_lock.json. Chart values are rounded to six decimal places; full precision remains in the frozen evidence. Dataset: https://archive.ics.uci.edu/dataset/222/bank+marketing; Moro et al. (2014), https://doi.org/10.1016/j.dss.2014.03.001.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Summarize the limitations: old data, absent unique customer IDs/as-of timestamps, no consent/cost/causal treatment evidence, strong drift, and one fixed experiment without uncertainty intervals. Recommend a new out-of-time/customer-grouped experiment, calibration/subgroup monitoring, and a randomized campaign if the question is incremental response. Changes need a new independent holdout.</a:t>
            </a:r>
          </a:p>
          <a:p xmlns:a="http://schemas.openxmlformats.org/drawingml/2006/main">
            <a:r>
              <a:t/>
            </a:r>
          </a:p>
          <a:p xmlns:a="http://schemas.openxmlformats.org/drawingml/2006/main">
            <a:r>
              <a:t>Evidence: frozen run 20261005T141242Z_4ac2cd71; reports/presentation_data.json; selection/test metrics and selection_lock.json. Chart values are rounded to six decimal places; full precision remains in the frozen evidence. Dataset: https://archive.ics.uci.edu/dataset/222/bank+marketing; Moro et al. (2014), https://doi.org/10.1016/j.dss.2014.03.001.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stakeholder decision, not submission administration. Ask for a scoped validation study using current permissioned data, staffing capacity, lawful campaign eligibility, and a prospective controlled response experiment. The quoted metrics come from the frozen historical test only. Reproducible source and evidence will be available at the repository after the prepared artifacts are published; do not claim deployment or campaign approval has happened.</a:t>
            </a:r>
          </a:p>
          <a:p xmlns:a="http://schemas.openxmlformats.org/drawingml/2006/main">
            <a:r>
              <a:t/>
            </a:r>
          </a:p>
          <a:p xmlns:a="http://schemas.openxmlformats.org/drawingml/2006/main">
            <a:r>
              <a:t>Evidence: frozen run 20261005T141242Z_4ac2cd71; reports/presentation_data.json; selection/test metrics and selection_lock.json. Chart values are rounded to six decimal places; full precision remains in the frozen evidence. Dataset: https://archive.ics.uci.edu/dataset/222/bank+marketing; Moro et al. (2014), https://doi.org/10.1016/j.dss.2014.03.001.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4a20355132410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63b5391f5d34f2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67b47589d57494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72b3d1b20f244b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43d87c5e7b34b1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16921399f9c46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9CA437-88D6-4AE3-947F-24073D94895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56BA4CF-ED76-4027-AE6E-09413CA4789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D921CB8-81AB-4367-A842-F02F627ED83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CF2DAC-ED30-41DB-89ED-ED5ED4AC7D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8D6BDBE-1544-400A-95F7-666BF23B7AD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01904D5-077F-48B0-92A8-A74ED32A0A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8B5743-5317-48B4-A3B4-C2F753DF58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2B2230-E260-4937-A1CC-560E3CEE67B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0BB465-7B1F-4606-9064-A06BB61469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D37D628-0DD3-4E12-89D7-F5D62F9B59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dba2fa73be4804" /><Relationship Type="http://schemas.openxmlformats.org/officeDocument/2006/relationships/slideLayout" Target="/ppt/slideLayouts/slideLayout1.xml" Id="Ref7b6f3f223a4692" /><Relationship Type="http://schemas.openxmlformats.org/officeDocument/2006/relationships/slideLayout" Target="/ppt/slideLayouts/slideLayout2.xml" Id="R3166b186f3c44f9b" /><Relationship Type="http://schemas.openxmlformats.org/officeDocument/2006/relationships/slideLayout" Target="/ppt/slideLayouts/slideLayout3.xml" Id="R75569c3ad22c4493" /><Relationship Type="http://schemas.openxmlformats.org/officeDocument/2006/relationships/slideLayout" Target="/ppt/slideLayouts/slideLayout4.xml" Id="R67843351c0e04beb" /><Relationship Type="http://schemas.openxmlformats.org/officeDocument/2006/relationships/slideLayout" Target="/ppt/slideLayouts/slideLayout5.xml" Id="R174bc646638c4826" /><Relationship Type="http://schemas.openxmlformats.org/officeDocument/2006/relationships/slideLayout" Target="/ppt/slideLayouts/slideLayout6.xml" Id="Rac9c41478cdc44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7b6f3f223a4692"/>
    <p:sldLayoutId xmlns:r="http://schemas.openxmlformats.org/officeDocument/2006/relationships" id="2147483650" r:id="R3166b186f3c44f9b"/>
    <p:sldLayoutId xmlns:r="http://schemas.openxmlformats.org/officeDocument/2006/relationships" id="2147483651" r:id="R75569c3ad22c4493"/>
    <p:sldLayoutId xmlns:r="http://schemas.openxmlformats.org/officeDocument/2006/relationships" id="2147483652" r:id="R67843351c0e04beb"/>
    <p:sldLayoutId xmlns:r="http://schemas.openxmlformats.org/officeDocument/2006/relationships" id="2147483653" r:id="R174bc646638c4826"/>
    <p:sldLayoutId xmlns:r="http://schemas.openxmlformats.org/officeDocument/2006/relationships" id="2147483654" r:id="Rac9c41478cdc44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564ca203e3a47f2" /><Relationship Type="http://schemas.openxmlformats.org/officeDocument/2006/relationships/notesSlide" Target="/ppt/notesSlides/notesSlide1.xml" Id="Re34cbe2fe69548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8666b1084f24540" /><Relationship Type="http://schemas.openxmlformats.org/officeDocument/2006/relationships/notesSlide" Target="/ppt/notesSlides/notesSlide2.xml" Id="R516c56f2872a4f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126a08c16ab42a1" /><Relationship Type="http://schemas.openxmlformats.org/officeDocument/2006/relationships/notesSlide" Target="/ppt/notesSlides/notesSlide3.xml" Id="R0b8cd952d0634a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f6d280856f64870" /><Relationship Type="http://schemas.openxmlformats.org/officeDocument/2006/relationships/chart" Target="/ppt/slides/charts/chart1.xml" Id="R50a8d4840bfc43b7" /><Relationship Type="http://schemas.openxmlformats.org/officeDocument/2006/relationships/notesSlide" Target="/ppt/notesSlides/notesSlide4.xml" Id="Rd482d980d11946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88e973ea4b4bd9" /><Relationship Type="http://schemas.openxmlformats.org/officeDocument/2006/relationships/notesSlide" Target="/ppt/notesSlides/notesSlide5.xml" Id="Rec08e4d0a32d43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8f2caeca4524805" /><Relationship Type="http://schemas.openxmlformats.org/officeDocument/2006/relationships/chart" Target="/ppt/slides/charts/chart2.xml" Id="R8521f0be93444c8e" /><Relationship Type="http://schemas.openxmlformats.org/officeDocument/2006/relationships/notesSlide" Target="/ppt/notesSlides/notesSlide6.xml" Id="Rdb143eecd6cd47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56a1a4b00294641" /><Relationship Type="http://schemas.openxmlformats.org/officeDocument/2006/relationships/notesSlide" Target="/ppt/notesSlides/notesSlide7.xml" Id="R1644fbfc28d344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85f8b3254124c01" /><Relationship Type="http://schemas.openxmlformats.org/officeDocument/2006/relationships/notesSlide" Target="/ppt/notesSlides/notesSlide8.xml" Id="R7f1725ea809c40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0dc4ff163824db0" /><Relationship Type="http://schemas.openxmlformats.org/officeDocument/2006/relationships/chart" Target="/ppt/slides/charts/chart3.xml" Id="R7ed3de0b1bbb498d" /><Relationship Type="http://schemas.openxmlformats.org/officeDocument/2006/relationships/notesSlide" Target="/ppt/notesSlides/notesSlide9.xml" Id="R436e0320df6e42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b3eb64f81814649" /><Relationship Type="http://schemas.openxmlformats.org/officeDocument/2006/relationships/notesSlide" Target="/ppt/notesSlides/notesSlide10.xml" Id="Racf5520c1f5641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6d8d7fe933b4c49" /><Relationship Type="http://schemas.openxmlformats.org/officeDocument/2006/relationships/notesSlide" Target="/ppt/notesSlides/notesSlide11.xml" Id="R7bc520aead34460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90365b083da4e3d" /><Relationship Type="http://schemas.openxmlformats.org/officeDocument/2006/relationships/notesSlide" Target="/ppt/notesSlides/notesSlide12.xml" Id="R8e6bc619aea6469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8d83c0db5284c72" /><Relationship Type="http://schemas.openxmlformats.org/officeDocument/2006/relationships/chart" Target="/ppt/slides/charts/chart4.xml" Id="R05419c0ecc65437b" /><Relationship Type="http://schemas.openxmlformats.org/officeDocument/2006/relationships/notesSlide" Target="/ppt/notesSlides/notesSlide13.xml" Id="R410b3e0ddec6430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2014f9161ae4038" /><Relationship Type="http://schemas.openxmlformats.org/officeDocument/2006/relationships/notesSlide" Target="/ppt/notesSlides/notesSlide14.xml" Id="Rd6c84c12f310499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b96a39ba2d44e65" /><Relationship Type="http://schemas.openxmlformats.org/officeDocument/2006/relationships/notesSlide" Target="/ppt/notesSlides/notesSlide15.xml" Id="R89f53b79aea14a5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e3d15e68a21474f" /><Relationship Type="http://schemas.openxmlformats.org/officeDocument/2006/relationships/notesSlide" Target="/ppt/notesSlides/notesSlide16.xml" Id="Rcf4a446dd8a5404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doughnutChart>
        <c:ser>
          <c:idx val="0"/>
          <c:order val="0"/>
          <c:tx>
            <c:v>Target</c:v>
          </c:tx>
          <c:dPt>
            <c:idx val="0"/>
            <c:spPr>
              <a:solidFill xmlns:a="http://schemas.openxmlformats.org/drawingml/2006/main">
                <a:srgbClr val="087F83"/>
              </a:solidFill>
            </c:spPr>
          </c:dPt>
          <c:dPt>
            <c:idx val="1"/>
            <c:spPr>
              <a:solidFill xmlns:a="http://schemas.openxmlformats.org/drawingml/2006/main">
                <a:srgbClr val="172D43"/>
              </a:solidFill>
            </c:spPr>
          </c:dPt>
          <c:cat>
            <c:strRef>
              <c:f>'Chart Data'!$A$2:$A$3</c:f>
              <c:strCache>
                <c:ptCount val="2"/>
                <c:pt idx="0">
                  <c:v>yes</c:v>
                </c:pt>
                <c:pt idx="1">
                  <c:v>no</c:v>
                </c:pt>
              </c:strCache>
            </c:strRef>
          </c:cat>
          <c:val>
            <c:numRef>
              <c:f>'Chart Data'!$B$2:$B$3</c:f>
              <c:numCache>
                <c:formatCode>General</c:formatCode>
                <c:ptCount val="2"/>
                <c:pt idx="0">
                  <c:v>4640</c:v>
                </c:pt>
                <c:pt idx="1">
                  <c:v>36548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holeSize val="62"/>
      </c:doughnutChart>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2D43"/>
              </a:solidFill>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Yes prevalence</c:v>
          </c:tx>
          <c:spPr>
            <a:solidFill xmlns:a="http://schemas.openxmlformats.org/drawingml/2006/main">
              <a:srgbClr val="087F83"/>
            </a:solidFill>
          </c:spPr>
          <c:cat>
            <c:strRef>
              <c:f>'Chart Data'!$A$2:$A$5</c:f>
              <c:strCache>
                <c:ptCount val="4"/>
                <c:pt idx="0">
                  <c:v>train
24,712 rows</c:v>
                </c:pt>
                <c:pt idx="1">
                  <c:v>calibration
4,119 rows</c:v>
                </c:pt>
                <c:pt idx="2">
                  <c:v>selection
4,119 rows</c:v>
                </c:pt>
                <c:pt idx="3">
                  <c:v>test
8,238 rows</c:v>
                </c:pt>
              </c:strCache>
            </c:strRef>
          </c:cat>
          <c:val>
            <c:numRef>
              <c:f>'Chart Data'!$B$2:$B$5</c:f>
              <c:numCache>
                <c:formatCode>0%</c:formatCode>
                <c:ptCount val="4"/>
                <c:pt idx="0">
                  <c:v>0.048074</c:v>
                </c:pt>
                <c:pt idx="1">
                  <c:v>0.101481</c:v>
                </c:pt>
                <c:pt idx="2">
                  <c:v>0.119932</c:v>
                </c:pt>
                <c:pt idx="3">
                  <c:v>0.308327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72D43"/>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2D43"/>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2D43"/>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Selection AP</c:v>
          </c:tx>
          <c:spPr>
            <a:solidFill xmlns:a="http://schemas.openxmlformats.org/drawingml/2006/main">
              <a:srgbClr val="087F83"/>
            </a:solidFill>
          </c:spPr>
          <c:cat>
            <c:strRef>
              <c:f>'Chart Data'!$A$2:$A$6</c:f>
              <c:strCache>
                <c:ptCount val="5"/>
                <c:pt idx="0">
                  <c:v>Logistic
Regression</c:v>
                </c:pt>
                <c:pt idx="1">
                  <c:v>Gaussian
Naive Bayes</c:v>
                </c:pt>
                <c:pt idx="2">
                  <c:v>Decision
Tree</c:v>
                </c:pt>
                <c:pt idx="3">
                  <c:v>Random
Forest</c:v>
                </c:pt>
                <c:pt idx="4">
                  <c:v>Gradient
Boosting</c:v>
                </c:pt>
              </c:strCache>
            </c:strRef>
          </c:cat>
          <c:val>
            <c:numRef>
              <c:f>'Chart Data'!$B$2:$B$6</c:f>
              <c:numCache>
                <c:formatCode>0.00</c:formatCode>
                <c:ptCount val="5"/>
                <c:pt idx="0">
                  <c:v>0.177328</c:v>
                </c:pt>
                <c:pt idx="1">
                  <c:v>0.231758</c:v>
                </c:pt>
                <c:pt idx="2">
                  <c:v>0.160451</c:v>
                </c:pt>
                <c:pt idx="3">
                  <c:v>0.130742</c:v>
                </c:pt>
                <c:pt idx="4">
                  <c:v>0.176791</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350">
                  <a:solidFill>
                    <a:srgbClr val="172D43"/>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2D43"/>
                </a:solidFill>
                <a:latin typeface="Arial"/>
                <a:ea typeface="Arial"/>
                <a:cs typeface="Arial"/>
              </a:defRPr>
            </a:pPr>
          </a:p>
        </c:txPr>
        <c:crossAx val="48672768"/>
      </c:catAx>
      <c:valAx>
        <c:axId val="48672768"/>
        <c:scaling>
          <c:orientation val="minMax"/>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2D43"/>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Mean selection AP decrease</c:v>
          </c:tx>
          <c:spPr>
            <a:solidFill xmlns:a="http://schemas.openxmlformats.org/drawingml/2006/main">
              <a:srgbClr val="087F83"/>
            </a:solidFill>
          </c:spPr>
          <c:invertIfNegative val="0"/>
          <c:cat>
            <c:strRef>
              <c:f>'Chart Data'!$A$2:$A$11</c:f>
              <c:strCache>
                <c:ptCount val="10"/>
                <c:pt idx="0">
                  <c:v>poutcome</c:v>
                </c:pt>
                <c:pt idx="1">
                  <c:v>pdays</c:v>
                </c:pt>
                <c:pt idx="2">
                  <c:v>job</c:v>
                </c:pt>
                <c:pt idx="3">
                  <c:v>default</c:v>
                </c:pt>
                <c:pt idx="4">
                  <c:v>previous</c:v>
                </c:pt>
                <c:pt idx="5">
                  <c:v>education</c:v>
                </c:pt>
                <c:pt idx="6">
                  <c:v>age</c:v>
                </c:pt>
                <c:pt idx="7">
                  <c:v>marital</c:v>
                </c:pt>
                <c:pt idx="8">
                  <c:v>housing</c:v>
                </c:pt>
                <c:pt idx="9">
                  <c:v>loan</c:v>
                </c:pt>
              </c:strCache>
            </c:strRef>
          </c:cat>
          <c:val>
            <c:numRef>
              <c:f>'Chart Data'!$B$2:$B$11</c:f>
              <c:numCache>
                <c:formatCode>0.000</c:formatCode>
                <c:ptCount val="10"/>
                <c:pt idx="0">
                  <c:v>0.03958</c:v>
                </c:pt>
                <c:pt idx="1">
                  <c:v>0.032704</c:v>
                </c:pt>
                <c:pt idx="2">
                  <c:v>0.023937</c:v>
                </c:pt>
                <c:pt idx="3">
                  <c:v>0.005582</c:v>
                </c:pt>
                <c:pt idx="4">
                  <c:v>0.005452</c:v>
                </c:pt>
                <c:pt idx="5">
                  <c:v>0.002218</c:v>
                </c:pt>
                <c:pt idx="6">
                  <c:v>0.00183</c:v>
                </c:pt>
                <c:pt idx="7">
                  <c:v>0.001483</c:v>
                </c:pt>
                <c:pt idx="8">
                  <c:v>0.000327</c:v>
                </c:pt>
                <c:pt idx="9">
                  <c:v>-0.000174</c:v>
                </c:pt>
              </c:numCache>
            </c:numRef>
          </c:val>
        </c:ser>
        <c:dLbls>
          <c:numFmt formatCode="0.0000;-0.0000" sourceLinked="0"/>
          <c:txPr>
            <a:bodyPr xmlns:a="http://schemas.openxmlformats.org/drawingml/2006/main" anchorCtr="1"/>
            <a:lstStyle xmlns:a="http://schemas.openxmlformats.org/drawingml/2006/main"/>
            <a:p xmlns:a="http://schemas.openxmlformats.org/drawingml/2006/main">
              <a:pPr>
                <a:defRPr sz="1350">
                  <a:solidFill>
                    <a:srgbClr val="172D43"/>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l"/>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2D43"/>
                </a:solidFill>
                <a:latin typeface="Arial"/>
                <a:ea typeface="Arial"/>
                <a:cs typeface="Arial"/>
              </a:defRPr>
            </a:pPr>
          </a:p>
        </c:txPr>
        <c:crossAx val="48672768"/>
      </c:catAx>
      <c:valAx>
        <c:axId val="48672768"/>
        <c:scaling>
          <c:orientation val="minMax"/>
        </c:scaling>
        <c:delete val="0"/>
        <c:axPos val="b"/>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2D43"/>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2D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B206A2-2346-4479-A10F-6D6901575AB8}"/>
              </a:ext>
            </a:extLst>
          </p:cNvPr>
          <p:cNvSpPr>
            <a:spLocks xmlns:a="http://schemas.openxmlformats.org/drawingml/2006/main" noGrp="1"/>
          </p:cNvSpPr>
          <p:nvPr/>
        </p:nvSpPr>
        <p:spPr>
          <a:xfrm xmlns:a="http://schemas.openxmlformats.org/drawingml/2006/main">
            <a:off x="685800" y="990600"/>
            <a:ext cx="876300" cy="76200"/>
          </a:xfrm>
          <a:prstGeom xmlns:a="http://schemas.openxmlformats.org/drawingml/2006/main" prst="rect">
            <a:avLst/>
          </a:prstGeom>
          <a:solidFill xmlns:a="http://schemas.openxmlformats.org/drawingml/2006/main">
            <a:srgbClr val="CB93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CDE5FF-D8CD-4046-8C60-9B8661450750}"/>
              </a:ext>
            </a:extLst>
          </p:cNvPr>
          <p:cNvSpPr>
            <a:spLocks xmlns:a="http://schemas.openxmlformats.org/drawingml/2006/main" noGrp="1"/>
          </p:cNvSpPr>
          <p:nvPr/>
        </p:nvSpPr>
        <p:spPr>
          <a:xfrm xmlns:a="http://schemas.openxmlformats.org/drawingml/2006/main">
            <a:off x="647700" y="1543050"/>
            <a:ext cx="108966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6600" b="1">
                <a:solidFill>
                  <a:srgbClr val="FFFFFF"/>
                </a:solidFill>
                <a:latin typeface="Arial"/>
                <a:ea typeface="Arial"/>
                <a:cs typeface="Arial"/>
              </a:defRPr>
            </a:defPPr>
          </a:lstStyle>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DepoRank</a:t>
            </a:r>
          </a:p>
        </p:txBody>
      </p:sp>
      <p:sp>
        <p:nvSpPr>
          <p:cNvPr id="3" name="">
            <a:extLst xmlns:a="http://schemas.openxmlformats.org/drawingml/2006/main">
              <a:ext uri="{FF2B5EF4-FFF2-40B4-BE49-F238E27FC236}">
                <a16:creationId xmlns:a16="http://schemas.microsoft.com/office/drawing/2014/main" id="{C29BA8FB-66CB-4BEE-8DA9-0928DD72115E}"/>
              </a:ext>
            </a:extLst>
          </p:cNvPr>
          <p:cNvSpPr>
            <a:spLocks xmlns:a="http://schemas.openxmlformats.org/drawingml/2006/main" noGrp="1"/>
          </p:cNvSpPr>
          <p:nvPr/>
        </p:nvSpPr>
        <p:spPr>
          <a:xfrm xmlns:a="http://schemas.openxmlformats.org/drawingml/2006/main">
            <a:off x="685800" y="3028950"/>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0">
                <a:solidFill>
                  <a:srgbClr val="FFFFFF"/>
                </a:solidFill>
                <a:latin typeface="Arial"/>
                <a:ea typeface="Arial"/>
                <a:cs typeface="Arial"/>
              </a:defRPr>
            </a:defPPr>
          </a:lstStyle>
          <a:p xmlns:a="http://schemas.openxmlformats.org/drawingml/2006/main">
            <a:pPr>
              <a:defRPr sz="2925" b="0">
                <a:solidFill>
                  <a:srgbClr val="FFFFFF"/>
                </a:solidFill>
                <a:latin typeface="Arial"/>
                <a:ea typeface="Arial"/>
                <a:cs typeface="Arial"/>
              </a:defRPr>
            </a:pPr>
            <a:r>
              <a:rPr sz="2925" b="0">
                <a:solidFill>
                  <a:srgbClr val="FFFFFF"/>
                </a:solidFill>
                <a:latin typeface="Arial"/>
                <a:ea typeface="Arial"/>
                <a:cs typeface="Arial"/>
              </a:rPr>
              <a:t>Term deposit campaign prioritization</a:t>
            </a:r>
          </a:p>
        </p:txBody>
      </p:sp>
      <p:sp>
        <p:nvSpPr>
          <p:cNvPr id="4" name="">
            <a:extLst xmlns:a="http://schemas.openxmlformats.org/drawingml/2006/main">
              <a:ext uri="{FF2B5EF4-FFF2-40B4-BE49-F238E27FC236}">
                <a16:creationId xmlns:a16="http://schemas.microsoft.com/office/drawing/2014/main" id="{93C3FA3B-3B51-4D11-887B-A0696298BD21}"/>
              </a:ext>
            </a:extLst>
          </p:cNvPr>
          <p:cNvSpPr>
            <a:spLocks xmlns:a="http://schemas.openxmlformats.org/drawingml/2006/main" noGrp="1"/>
          </p:cNvSpPr>
          <p:nvPr/>
        </p:nvSpPr>
        <p:spPr>
          <a:xfrm xmlns:a="http://schemas.openxmlformats.org/drawingml/2006/main">
            <a:off x="704850" y="4076700"/>
            <a:ext cx="10001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BFD7DD"/>
                </a:solidFill>
                <a:latin typeface="Arial"/>
                <a:ea typeface="Arial"/>
                <a:cs typeface="Arial"/>
              </a:defRPr>
            </a:defPPr>
          </a:lstStyle>
          <a:p xmlns:a="http://schemas.openxmlformats.org/drawingml/2006/main">
            <a:pPr>
              <a:defRPr sz="1950" b="0">
                <a:solidFill>
                  <a:srgbClr val="BFD7DD"/>
                </a:solidFill>
                <a:latin typeface="Arial"/>
                <a:ea typeface="Arial"/>
                <a:cs typeface="Arial"/>
              </a:defRPr>
            </a:pPr>
            <a:r>
              <a:rPr sz="1950" b="0">
                <a:solidFill>
                  <a:srgbClr val="BFD7DD"/>
                </a:solidFill>
                <a:latin typeface="Arial"/>
                <a:ea typeface="Arial"/>
                <a:cs typeface="Arial"/>
              </a:rPr>
              <a:t>Five-model comparison and a frozen contact-ranking application</a:t>
            </a:r>
          </a:p>
        </p:txBody>
      </p:sp>
      <p:sp>
        <p:nvSpPr>
          <p:cNvPr id="5" name="">
            <a:extLst xmlns:a="http://schemas.openxmlformats.org/drawingml/2006/main">
              <a:ext uri="{FF2B5EF4-FFF2-40B4-BE49-F238E27FC236}">
                <a16:creationId xmlns:a16="http://schemas.microsoft.com/office/drawing/2014/main" id="{F028C4FB-780A-479F-A30F-889156B180BF}"/>
              </a:ext>
            </a:extLst>
          </p:cNvPr>
          <p:cNvSpPr>
            <a:spLocks xmlns:a="http://schemas.openxmlformats.org/drawingml/2006/main" noGrp="1"/>
          </p:cNvSpPr>
          <p:nvPr/>
        </p:nvSpPr>
        <p:spPr>
          <a:xfrm xmlns:a="http://schemas.openxmlformats.org/drawingml/2006/main">
            <a:off x="704850" y="5410200"/>
            <a:ext cx="10001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BFD7DD"/>
                </a:solidFill>
                <a:latin typeface="Arial"/>
                <a:ea typeface="Arial"/>
                <a:cs typeface="Arial"/>
              </a:defRPr>
            </a:defPPr>
          </a:lstStyle>
          <a:p xmlns:a="http://schemas.openxmlformats.org/drawingml/2006/main">
            <a:pPr>
              <a:defRPr sz="1650" b="0">
                <a:solidFill>
                  <a:srgbClr val="BFD7DD"/>
                </a:solidFill>
                <a:latin typeface="Arial"/>
                <a:ea typeface="Arial"/>
                <a:cs typeface="Arial"/>
              </a:defRPr>
            </a:pPr>
            <a:r>
              <a:rPr sz="1650" b="0">
                <a:solidFill>
                  <a:srgbClr val="BFD7DD"/>
                </a:solidFill>
                <a:latin typeface="Arial"/>
                <a:ea typeface="Arial"/>
                <a:cs typeface="Arial"/>
              </a:rPr>
              <a:t>COMP6140001 Data Mining</a:t>
            </a:r>
          </a:p>
          <a:p xmlns:a="http://schemas.openxmlformats.org/drawingml/2006/main">
            <a:pPr>
              <a:defRPr sz="1650" b="0">
                <a:solidFill>
                  <a:srgbClr val="BFD7DD"/>
                </a:solidFill>
                <a:latin typeface="Arial"/>
                <a:ea typeface="Arial"/>
                <a:cs typeface="Arial"/>
              </a:defRPr>
            </a:pPr>
            <a:r>
              <a:rPr sz="1650" b="0">
                <a:solidFill>
                  <a:srgbClr val="BFD7DD"/>
                </a:solidFill>
                <a:latin typeface="Arial"/>
                <a:ea typeface="Arial"/>
                <a:cs typeface="Arial"/>
              </a:rPr>
              <a:t>BINUS University | Academic Year 2026/2027</a:t>
            </a:r>
          </a:p>
        </p:txBody>
      </p:sp>
    </p:spTree>
    <p:extLst>
      <p:ext uri="{BB962C8B-B14F-4D97-AF65-F5344CB8AC3E}">
        <p14:creationId xmlns:p14="http://schemas.microsoft.com/office/powerpoint/2010/main" val="8157238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E6A47B1-8BD3-47AB-AE6F-F10B0930F804}"/>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D43"/>
                </a:solidFill>
                <a:latin typeface="Arial"/>
                <a:ea typeface="Arial"/>
                <a:cs typeface="Arial"/>
              </a:defRPr>
            </a:defPPr>
          </a:lstStyle>
          <a:p xmlns:a="http://schemas.openxmlformats.org/drawingml/2006/main">
            <a:pPr>
              <a:defRPr sz="3000" b="1">
                <a:solidFill>
                  <a:srgbClr val="172D43"/>
                </a:solidFill>
                <a:latin typeface="Arial"/>
                <a:ea typeface="Arial"/>
                <a:cs typeface="Arial"/>
              </a:defRPr>
            </a:pPr>
            <a:r>
              <a:rPr sz="3000" b="1">
                <a:solidFill>
                  <a:srgbClr val="172D43"/>
                </a:solidFill>
                <a:latin typeface="Arial"/>
                <a:ea typeface="Arial"/>
                <a:cs typeface="Arial"/>
              </a:rPr>
              <a:t>A fixed quota needs ranking, not a yes label</a:t>
            </a:r>
          </a:p>
        </p:txBody>
      </p:sp>
      <p:sp>
        <p:nvSpPr>
          <p:cNvPr id="2" name="">
            <a:extLst xmlns:a="http://schemas.openxmlformats.org/drawingml/2006/main">
              <a:ext uri="{FF2B5EF4-FFF2-40B4-BE49-F238E27FC236}">
                <a16:creationId xmlns:a16="http://schemas.microsoft.com/office/drawing/2014/main" id="{448B911B-85A0-427B-8526-257B8D07B76A}"/>
              </a:ext>
            </a:extLst>
          </p:cNvPr>
          <p:cNvSpPr>
            <a:spLocks xmlns:a="http://schemas.openxmlformats.org/drawingml/2006/main" noGrp="1"/>
          </p:cNvSpPr>
          <p:nvPr/>
        </p:nvSpPr>
        <p:spPr>
          <a:xfrm xmlns:a="http://schemas.openxmlformats.org/drawingml/2006/main">
            <a:off x="628650" y="11906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36779"/>
                </a:solidFill>
                <a:latin typeface="Arial"/>
                <a:ea typeface="Arial"/>
                <a:cs typeface="Arial"/>
              </a:defRPr>
            </a:def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Retrospective test evidence for the selection-frozen GaussianNB model</a:t>
            </a:r>
          </a:p>
        </p:txBody>
      </p:sp>
      <p:sp>
        <p:nvSpPr>
          <p:cNvPr id="3" name="">
            <a:extLst xmlns:a="http://schemas.openxmlformats.org/drawingml/2006/main">
              <a:ext uri="{FF2B5EF4-FFF2-40B4-BE49-F238E27FC236}">
                <a16:creationId xmlns:a16="http://schemas.microsoft.com/office/drawing/2014/main" id="{9C8013D8-C14A-4DF7-926F-BCFEBE16FD32}"/>
              </a:ext>
            </a:extLst>
          </p:cNvPr>
          <p:cNvSpPr>
            <a:spLocks xmlns:a="http://schemas.openxmlformats.org/drawingml/2006/main" noGrp="1"/>
          </p:cNvSpPr>
          <p:nvPr/>
        </p:nvSpPr>
        <p:spPr>
          <a:xfrm xmlns:a="http://schemas.openxmlformats.org/drawingml/2006/main">
            <a:off x="609600" y="6267450"/>
            <a:ext cx="10972800" cy="19050"/>
          </a:xfrm>
          <a:prstGeom xmlns:a="http://schemas.openxmlformats.org/drawingml/2006/main" prst="rect">
            <a:avLst/>
          </a:prstGeom>
          <a:solidFill xmlns:a="http://schemas.openxmlformats.org/drawingml/2006/main">
            <a:srgbClr val="D6E2E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BBC6612-0C71-41C2-959A-B2D80999E205}"/>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DepoRank | COMP6140001 Data Mining</a:t>
            </a:r>
          </a:p>
        </p:txBody>
      </p:sp>
      <p:sp>
        <p:nvSpPr>
          <p:cNvPr id="5" name="">
            <a:extLst xmlns:a="http://schemas.openxmlformats.org/drawingml/2006/main">
              <a:ext uri="{FF2B5EF4-FFF2-40B4-BE49-F238E27FC236}">
                <a16:creationId xmlns:a16="http://schemas.microsoft.com/office/drawing/2014/main" id="{7E16FA16-132F-4D16-B4F5-AAF8CC36368D}"/>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1C4891BA-1AE9-470F-9BF2-3ABDC68224F7}"/>
              </a:ext>
            </a:extLst>
          </p:cNvPr>
          <p:cNvSpPr>
            <a:spLocks xmlns:a="http://schemas.openxmlformats.org/drawingml/2006/main" noGrp="1"/>
          </p:cNvSpPr>
          <p:nvPr/>
        </p:nvSpPr>
        <p:spPr>
          <a:xfrm xmlns:a="http://schemas.openxmlformats.org/drawingml/2006/main">
            <a:off x="628650" y="2124075"/>
            <a:ext cx="31908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5925" b="1">
                <a:solidFill>
                  <a:srgbClr val="087F83"/>
                </a:solidFill>
                <a:latin typeface="Arial"/>
                <a:ea typeface="Arial"/>
                <a:cs typeface="Arial"/>
              </a:defRPr>
            </a:defPPr>
          </a:lstStyle>
          <a:p xmlns:a="http://schemas.openxmlformats.org/drawingml/2006/main">
            <a:pPr>
              <a:defRPr sz="5925" b="1">
                <a:solidFill>
                  <a:srgbClr val="087F83"/>
                </a:solidFill>
                <a:latin typeface="Arial"/>
                <a:ea typeface="Arial"/>
                <a:cs typeface="Arial"/>
              </a:defRPr>
            </a:pPr>
            <a:r>
              <a:rPr sz="5925" b="1">
                <a:solidFill>
                  <a:srgbClr val="087F83"/>
                </a:solidFill>
                <a:latin typeface="Arial"/>
                <a:ea typeface="Arial"/>
                <a:cs typeface="Arial"/>
              </a:rPr>
              <a:t>824</a:t>
            </a:r>
          </a:p>
        </p:txBody>
      </p:sp>
      <p:sp>
        <p:nvSpPr>
          <p:cNvPr id="7" name="">
            <a:extLst xmlns:a="http://schemas.openxmlformats.org/drawingml/2006/main">
              <a:ext uri="{FF2B5EF4-FFF2-40B4-BE49-F238E27FC236}">
                <a16:creationId xmlns:a16="http://schemas.microsoft.com/office/drawing/2014/main" id="{B916F2EE-985B-4393-B122-81D6BAE0F24C}"/>
              </a:ext>
            </a:extLst>
          </p:cNvPr>
          <p:cNvSpPr>
            <a:spLocks xmlns:a="http://schemas.openxmlformats.org/drawingml/2006/main" noGrp="1"/>
          </p:cNvSpPr>
          <p:nvPr/>
        </p:nvSpPr>
        <p:spPr>
          <a:xfrm xmlns:a="http://schemas.openxmlformats.org/drawingml/2006/main">
            <a:off x="666750" y="3248025"/>
            <a:ext cx="3095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2D43"/>
                </a:solidFill>
                <a:latin typeface="Arial"/>
                <a:ea typeface="Arial"/>
                <a:cs typeface="Arial"/>
              </a:defRPr>
            </a:defPPr>
          </a:lstStyle>
          <a:p xmlns:a="http://schemas.openxmlformats.org/drawingml/2006/main">
            <a:pPr>
              <a:defRPr sz="1950" b="0">
                <a:solidFill>
                  <a:srgbClr val="172D43"/>
                </a:solidFill>
                <a:latin typeface="Arial"/>
                <a:ea typeface="Arial"/>
                <a:cs typeface="Arial"/>
              </a:defRPr>
            </a:pPr>
            <a:r>
              <a:rPr sz="1950" b="0">
                <a:solidFill>
                  <a:srgbClr val="172D43"/>
                </a:solidFill>
                <a:latin typeface="Arial"/>
                <a:ea typeface="Arial"/>
                <a:cs typeface="Arial"/>
              </a:rPr>
              <a:t>contact priorities</a:t>
            </a:r>
          </a:p>
        </p:txBody>
      </p:sp>
      <p:sp>
        <p:nvSpPr>
          <p:cNvPr id="8" name="">
            <a:extLst xmlns:a="http://schemas.openxmlformats.org/drawingml/2006/main">
              <a:ext uri="{FF2B5EF4-FFF2-40B4-BE49-F238E27FC236}">
                <a16:creationId xmlns:a16="http://schemas.microsoft.com/office/drawing/2014/main" id="{251E652F-EE43-4F06-B1AC-8DC64C9CAC4D}"/>
              </a:ext>
            </a:extLst>
          </p:cNvPr>
          <p:cNvSpPr>
            <a:spLocks xmlns:a="http://schemas.openxmlformats.org/drawingml/2006/main" noGrp="1"/>
          </p:cNvSpPr>
          <p:nvPr/>
        </p:nvSpPr>
        <p:spPr>
          <a:xfrm xmlns:a="http://schemas.openxmlformats.org/drawingml/2006/main">
            <a:off x="4248150" y="2124075"/>
            <a:ext cx="31908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5925" b="1">
                <a:solidFill>
                  <a:srgbClr val="087F83"/>
                </a:solidFill>
                <a:latin typeface="Arial"/>
                <a:ea typeface="Arial"/>
                <a:cs typeface="Arial"/>
              </a:defRPr>
            </a:defPPr>
          </a:lstStyle>
          <a:p xmlns:a="http://schemas.openxmlformats.org/drawingml/2006/main">
            <a:pPr>
              <a:defRPr sz="5925" b="1">
                <a:solidFill>
                  <a:srgbClr val="087F83"/>
                </a:solidFill>
                <a:latin typeface="Arial"/>
                <a:ea typeface="Arial"/>
                <a:cs typeface="Arial"/>
              </a:defRPr>
            </a:pPr>
            <a:r>
              <a:rPr sz="5925" b="1">
                <a:solidFill>
                  <a:srgbClr val="087F83"/>
                </a:solidFill>
                <a:latin typeface="Arial"/>
                <a:ea typeface="Arial"/>
                <a:cs typeface="Arial"/>
              </a:rPr>
              <a:t>512</a:t>
            </a:r>
          </a:p>
        </p:txBody>
      </p:sp>
      <p:sp>
        <p:nvSpPr>
          <p:cNvPr id="9" name="">
            <a:extLst xmlns:a="http://schemas.openxmlformats.org/drawingml/2006/main">
              <a:ext uri="{FF2B5EF4-FFF2-40B4-BE49-F238E27FC236}">
                <a16:creationId xmlns:a16="http://schemas.microsoft.com/office/drawing/2014/main" id="{89B1A2B4-3BA9-4E12-869D-AC544D51BD4F}"/>
              </a:ext>
            </a:extLst>
          </p:cNvPr>
          <p:cNvSpPr>
            <a:spLocks xmlns:a="http://schemas.openxmlformats.org/drawingml/2006/main" noGrp="1"/>
          </p:cNvSpPr>
          <p:nvPr/>
        </p:nvSpPr>
        <p:spPr>
          <a:xfrm xmlns:a="http://schemas.openxmlformats.org/drawingml/2006/main">
            <a:off x="4286250" y="3248025"/>
            <a:ext cx="3209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2D43"/>
                </a:solidFill>
                <a:latin typeface="Arial"/>
                <a:ea typeface="Arial"/>
                <a:cs typeface="Arial"/>
              </a:defRPr>
            </a:defPPr>
          </a:lstStyle>
          <a:p xmlns:a="http://schemas.openxmlformats.org/drawingml/2006/main">
            <a:pPr>
              <a:defRPr sz="1950" b="0">
                <a:solidFill>
                  <a:srgbClr val="172D43"/>
                </a:solidFill>
                <a:latin typeface="Arial"/>
                <a:ea typeface="Arial"/>
                <a:cs typeface="Arial"/>
              </a:defRPr>
            </a:pPr>
            <a:r>
              <a:rPr sz="1950" b="0">
                <a:solidFill>
                  <a:srgbClr val="172D43"/>
                </a:solidFill>
                <a:latin typeface="Arial"/>
                <a:ea typeface="Arial"/>
                <a:cs typeface="Arial"/>
              </a:rPr>
              <a:t>historical yes outcomes</a:t>
            </a:r>
          </a:p>
        </p:txBody>
      </p:sp>
      <p:sp>
        <p:nvSpPr>
          <p:cNvPr id="10" name="">
            <a:extLst xmlns:a="http://schemas.openxmlformats.org/drawingml/2006/main">
              <a:ext uri="{FF2B5EF4-FFF2-40B4-BE49-F238E27FC236}">
                <a16:creationId xmlns:a16="http://schemas.microsoft.com/office/drawing/2014/main" id="{DD26DA96-1F6D-4735-AD32-6E23A117950D}"/>
              </a:ext>
            </a:extLst>
          </p:cNvPr>
          <p:cNvSpPr>
            <a:spLocks xmlns:a="http://schemas.openxmlformats.org/drawingml/2006/main" noGrp="1"/>
          </p:cNvSpPr>
          <p:nvPr/>
        </p:nvSpPr>
        <p:spPr>
          <a:xfrm xmlns:a="http://schemas.openxmlformats.org/drawingml/2006/main">
            <a:off x="7867650" y="2124075"/>
            <a:ext cx="31908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5925" b="1">
                <a:solidFill>
                  <a:srgbClr val="CB9344"/>
                </a:solidFill>
                <a:latin typeface="Arial"/>
                <a:ea typeface="Arial"/>
                <a:cs typeface="Arial"/>
              </a:defRPr>
            </a:defPPr>
          </a:lstStyle>
          <a:p xmlns:a="http://schemas.openxmlformats.org/drawingml/2006/main">
            <a:pPr>
              <a:defRPr sz="5925" b="1">
                <a:solidFill>
                  <a:srgbClr val="CB9344"/>
                </a:solidFill>
                <a:latin typeface="Arial"/>
                <a:ea typeface="Arial"/>
                <a:cs typeface="Arial"/>
              </a:defRPr>
            </a:pPr>
            <a:r>
              <a:rPr sz="5925" b="1">
                <a:solidFill>
                  <a:srgbClr val="CB9344"/>
                </a:solidFill>
                <a:latin typeface="Arial"/>
                <a:ea typeface="Arial"/>
                <a:cs typeface="Arial"/>
              </a:rPr>
              <a:t>2.02</a:t>
            </a:r>
          </a:p>
        </p:txBody>
      </p:sp>
      <p:sp>
        <p:nvSpPr>
          <p:cNvPr id="11" name="">
            <a:extLst xmlns:a="http://schemas.openxmlformats.org/drawingml/2006/main">
              <a:ext uri="{FF2B5EF4-FFF2-40B4-BE49-F238E27FC236}">
                <a16:creationId xmlns:a16="http://schemas.microsoft.com/office/drawing/2014/main" id="{DA540034-7920-457B-BC0F-F026E18AEB79}"/>
              </a:ext>
            </a:extLst>
          </p:cNvPr>
          <p:cNvSpPr>
            <a:spLocks xmlns:a="http://schemas.openxmlformats.org/drawingml/2006/main" noGrp="1"/>
          </p:cNvSpPr>
          <p:nvPr/>
        </p:nvSpPr>
        <p:spPr>
          <a:xfrm xmlns:a="http://schemas.openxmlformats.org/drawingml/2006/main">
            <a:off x="7905750" y="3248025"/>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2D43"/>
                </a:solidFill>
                <a:latin typeface="Arial"/>
                <a:ea typeface="Arial"/>
                <a:cs typeface="Arial"/>
              </a:defRPr>
            </a:defPPr>
          </a:lstStyle>
          <a:p xmlns:a="http://schemas.openxmlformats.org/drawingml/2006/main">
            <a:pPr>
              <a:defRPr sz="1950" b="0">
                <a:solidFill>
                  <a:srgbClr val="172D43"/>
                </a:solidFill>
                <a:latin typeface="Arial"/>
                <a:ea typeface="Arial"/>
                <a:cs typeface="Arial"/>
              </a:defRPr>
            </a:pPr>
            <a:r>
              <a:rPr sz="1950" b="0">
                <a:solidFill>
                  <a:srgbClr val="172D43"/>
                </a:solidFill>
                <a:latin typeface="Arial"/>
                <a:ea typeface="Arial"/>
                <a:cs typeface="Arial"/>
              </a:rPr>
              <a:t>lift over test prevalence</a:t>
            </a:r>
          </a:p>
        </p:txBody>
      </p:sp>
      <p:sp>
        <p:nvSpPr>
          <p:cNvPr id="12" name="">
            <a:extLst xmlns:a="http://schemas.openxmlformats.org/drawingml/2006/main">
              <a:ext uri="{FF2B5EF4-FFF2-40B4-BE49-F238E27FC236}">
                <a16:creationId xmlns:a16="http://schemas.microsoft.com/office/drawing/2014/main" id="{0A539326-B495-47F0-8758-9AF7AD412498}"/>
              </a:ext>
            </a:extLst>
          </p:cNvPr>
          <p:cNvSpPr>
            <a:spLocks xmlns:a="http://schemas.openxmlformats.org/drawingml/2006/main" noGrp="1"/>
          </p:cNvSpPr>
          <p:nvPr/>
        </p:nvSpPr>
        <p:spPr>
          <a:xfrm xmlns:a="http://schemas.openxmlformats.org/drawingml/2006/main">
            <a:off x="666750" y="46291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2D43"/>
                </a:solidFill>
                <a:latin typeface="Arial"/>
                <a:ea typeface="Arial"/>
                <a:cs typeface="Arial"/>
              </a:defRPr>
            </a:defPPr>
          </a:lstStyle>
          <a:p xmlns:a="http://schemas.openxmlformats.org/drawingml/2006/main">
            <a:pPr>
              <a:defRPr sz="2100" b="1">
                <a:solidFill>
                  <a:srgbClr val="172D43"/>
                </a:solidFill>
                <a:latin typeface="Arial"/>
                <a:ea typeface="Arial"/>
                <a:cs typeface="Arial"/>
              </a:defRPr>
            </a:pPr>
            <a:r>
              <a:rPr sz="2100" b="1">
                <a:solidFill>
                  <a:srgbClr val="172D43"/>
                </a:solidFill>
                <a:latin typeface="Arial"/>
                <a:ea typeface="Arial"/>
                <a:cs typeface="Arial"/>
              </a:rPr>
              <a:t>62.14% Precision@K | 20.16% Recall@K | 8,238 test observations</a:t>
            </a:r>
          </a:p>
        </p:txBody>
      </p:sp>
      <p:sp>
        <p:nvSpPr>
          <p:cNvPr id="13" name="">
            <a:extLst xmlns:a="http://schemas.openxmlformats.org/drawingml/2006/main">
              <a:ext uri="{FF2B5EF4-FFF2-40B4-BE49-F238E27FC236}">
                <a16:creationId xmlns:a16="http://schemas.microsoft.com/office/drawing/2014/main" id="{72E88A25-84E2-4C1E-B9E3-3FB9AE9FC107}"/>
              </a:ext>
            </a:extLst>
          </p:cNvPr>
          <p:cNvSpPr>
            <a:spLocks xmlns:a="http://schemas.openxmlformats.org/drawingml/2006/main" noGrp="1"/>
          </p:cNvSpPr>
          <p:nvPr/>
        </p:nvSpPr>
        <p:spPr>
          <a:xfrm xmlns:a="http://schemas.openxmlformats.org/drawingml/2006/main">
            <a:off x="666750" y="54673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36779"/>
                </a:solidFill>
                <a:latin typeface="Arial"/>
                <a:ea typeface="Arial"/>
                <a:cs typeface="Arial"/>
              </a:defRPr>
            </a:defPPr>
          </a:lstStyle>
          <a:p xmlns:a="http://schemas.openxmlformats.org/drawingml/2006/main">
            <a:pPr>
              <a:defRPr sz="1650" b="0">
                <a:solidFill>
                  <a:srgbClr val="536779"/>
                </a:solidFill>
                <a:latin typeface="Arial"/>
                <a:ea typeface="Arial"/>
                <a:cs typeface="Arial"/>
              </a:defRPr>
            </a:pPr>
            <a:r>
              <a:rPr sz="1650" b="0">
                <a:solidFill>
                  <a:srgbClr val="536779"/>
                </a:solidFill>
                <a:latin typeface="Arial"/>
                <a:ea typeface="Arial"/>
                <a:cs typeface="Arial"/>
              </a:rPr>
              <a:t>Historical outcomes are not causal uplift or a forecast of future subscriptions.</a:t>
            </a:r>
          </a:p>
        </p:txBody>
      </p:sp>
    </p:spTree>
    <p:extLst>
      <p:ext uri="{BB962C8B-B14F-4D97-AF65-F5344CB8AC3E}">
        <p14:creationId xmlns:p14="http://schemas.microsoft.com/office/powerpoint/2010/main" val="3519962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6FC584D-DCB7-419A-B15F-4B8FD3ED41A5}"/>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D43"/>
                </a:solidFill>
                <a:latin typeface="Arial"/>
                <a:ea typeface="Arial"/>
                <a:cs typeface="Arial"/>
              </a:defRPr>
            </a:defPPr>
          </a:lstStyle>
          <a:p xmlns:a="http://schemas.openxmlformats.org/drawingml/2006/main">
            <a:pPr>
              <a:defRPr sz="3000" b="1">
                <a:solidFill>
                  <a:srgbClr val="172D43"/>
                </a:solidFill>
                <a:latin typeface="Arial"/>
                <a:ea typeface="Arial"/>
                <a:cs typeface="Arial"/>
              </a:defRPr>
            </a:pPr>
            <a:r>
              <a:rPr sz="3000" b="1">
                <a:solidFill>
                  <a:srgbClr val="172D43"/>
                </a:solidFill>
                <a:latin typeface="Arial"/>
                <a:ea typeface="Arial"/>
                <a:cs typeface="Arial"/>
              </a:rPr>
              <a:t>Campaign planning within limited capacity</a:t>
            </a:r>
          </a:p>
        </p:txBody>
      </p:sp>
      <p:sp>
        <p:nvSpPr>
          <p:cNvPr id="2" name="">
            <a:extLst xmlns:a="http://schemas.openxmlformats.org/drawingml/2006/main">
              <a:ext uri="{FF2B5EF4-FFF2-40B4-BE49-F238E27FC236}">
                <a16:creationId xmlns:a16="http://schemas.microsoft.com/office/drawing/2014/main" id="{B1AF4E1C-1050-4280-A2AC-E4A4E4DF9F20}"/>
              </a:ext>
            </a:extLst>
          </p:cNvPr>
          <p:cNvSpPr>
            <a:spLocks xmlns:a="http://schemas.openxmlformats.org/drawingml/2006/main" noGrp="1"/>
          </p:cNvSpPr>
          <p:nvPr/>
        </p:nvSpPr>
        <p:spPr>
          <a:xfrm xmlns:a="http://schemas.openxmlformats.org/drawingml/2006/main">
            <a:off x="628650" y="11906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36779"/>
                </a:solidFill>
                <a:latin typeface="Arial"/>
                <a:ea typeface="Arial"/>
                <a:cs typeface="Arial"/>
              </a:defRPr>
            </a:def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Stakeholder: a campaign analyst allocating a fixed calling budget</a:t>
            </a:r>
          </a:p>
        </p:txBody>
      </p:sp>
      <p:sp>
        <p:nvSpPr>
          <p:cNvPr id="3" name="">
            <a:extLst xmlns:a="http://schemas.openxmlformats.org/drawingml/2006/main">
              <a:ext uri="{FF2B5EF4-FFF2-40B4-BE49-F238E27FC236}">
                <a16:creationId xmlns:a16="http://schemas.microsoft.com/office/drawing/2014/main" id="{342D1F83-BB8F-4276-9059-1D217FB3E814}"/>
              </a:ext>
            </a:extLst>
          </p:cNvPr>
          <p:cNvSpPr>
            <a:spLocks xmlns:a="http://schemas.openxmlformats.org/drawingml/2006/main" noGrp="1"/>
          </p:cNvSpPr>
          <p:nvPr/>
        </p:nvSpPr>
        <p:spPr>
          <a:xfrm xmlns:a="http://schemas.openxmlformats.org/drawingml/2006/main">
            <a:off x="609600" y="6267450"/>
            <a:ext cx="10972800" cy="19050"/>
          </a:xfrm>
          <a:prstGeom xmlns:a="http://schemas.openxmlformats.org/drawingml/2006/main" prst="rect">
            <a:avLst/>
          </a:prstGeom>
          <a:solidFill xmlns:a="http://schemas.openxmlformats.org/drawingml/2006/main">
            <a:srgbClr val="D6E2E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621E0E1-5A34-46D5-B690-2BBBEE639985}"/>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DepoRank | COMP6140001 Data Mining</a:t>
            </a:r>
          </a:p>
        </p:txBody>
      </p:sp>
      <p:sp>
        <p:nvSpPr>
          <p:cNvPr id="5" name="">
            <a:extLst xmlns:a="http://schemas.openxmlformats.org/drawingml/2006/main">
              <a:ext uri="{FF2B5EF4-FFF2-40B4-BE49-F238E27FC236}">
                <a16:creationId xmlns:a16="http://schemas.microsoft.com/office/drawing/2014/main" id="{AD866024-554A-470C-9CD3-3055F16CECAE}"/>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04B78A7B-3A8B-4748-A460-F136DC05E4B3}"/>
              </a:ext>
            </a:extLst>
          </p:cNvPr>
          <p:cNvSpPr>
            <a:spLocks xmlns:a="http://schemas.openxmlformats.org/drawingml/2006/main" noGrp="1"/>
          </p:cNvSpPr>
          <p:nvPr/>
        </p:nvSpPr>
        <p:spPr>
          <a:xfrm xmlns:a="http://schemas.openxmlformats.org/drawingml/2006/main">
            <a:off x="628650" y="2047875"/>
            <a:ext cx="481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087F83"/>
                </a:solidFill>
                <a:latin typeface="Arial"/>
                <a:ea typeface="Arial"/>
                <a:cs typeface="Arial"/>
              </a:defRPr>
            </a:defPPr>
          </a:lstStyle>
          <a:p xmlns:a="http://schemas.openxmlformats.org/drawingml/2006/main">
            <a:pPr>
              <a:defRPr sz="2250" b="1">
                <a:solidFill>
                  <a:srgbClr val="087F83"/>
                </a:solidFill>
                <a:latin typeface="Arial"/>
                <a:ea typeface="Arial"/>
                <a:cs typeface="Arial"/>
              </a:defRPr>
            </a:pPr>
            <a:r>
              <a:rPr sz="2250" b="1">
                <a:solidFill>
                  <a:srgbClr val="087F83"/>
                </a:solidFill>
                <a:latin typeface="Arial"/>
                <a:ea typeface="Arial"/>
                <a:cs typeface="Arial"/>
              </a:rPr>
              <a:t>Business question</a:t>
            </a:r>
          </a:p>
        </p:txBody>
      </p:sp>
      <p:sp>
        <p:nvSpPr>
          <p:cNvPr id="7" name="">
            <a:extLst xmlns:a="http://schemas.openxmlformats.org/drawingml/2006/main">
              <a:ext uri="{FF2B5EF4-FFF2-40B4-BE49-F238E27FC236}">
                <a16:creationId xmlns:a16="http://schemas.microsoft.com/office/drawing/2014/main" id="{F381B018-7E10-4839-AA60-FF6367EA5588}"/>
              </a:ext>
            </a:extLst>
          </p:cNvPr>
          <p:cNvSpPr>
            <a:spLocks xmlns:a="http://schemas.openxmlformats.org/drawingml/2006/main" noGrp="1"/>
          </p:cNvSpPr>
          <p:nvPr/>
        </p:nvSpPr>
        <p:spPr>
          <a:xfrm xmlns:a="http://schemas.openxmlformats.org/drawingml/2006/main">
            <a:off x="628650" y="2724150"/>
            <a:ext cx="481012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72D43"/>
                </a:solidFill>
                <a:latin typeface="Arial"/>
                <a:ea typeface="Arial"/>
                <a:cs typeface="Arial"/>
              </a:defRPr>
            </a:defPPr>
          </a:lstStyle>
          <a:p xmlns:a="http://schemas.openxmlformats.org/drawingml/2006/main">
            <a:pPr>
              <a:defRPr sz="2400" b="0">
                <a:solidFill>
                  <a:srgbClr val="172D43"/>
                </a:solidFill>
                <a:latin typeface="Arial"/>
                <a:ea typeface="Arial"/>
                <a:cs typeface="Arial"/>
              </a:defRPr>
            </a:pPr>
            <a:r>
              <a:rPr sz="2400" b="0">
                <a:solidFill>
                  <a:srgbClr val="172D43"/>
                </a:solidFill>
                <a:latin typeface="Arial"/>
                <a:ea typeface="Arial"/>
                <a:cs typeface="Arial"/>
              </a:rPr>
              <a:t>Which contact observations should receive the available campaign slots?</a:t>
            </a:r>
          </a:p>
        </p:txBody>
      </p:sp>
      <p:sp>
        <p:nvSpPr>
          <p:cNvPr id="8" name="">
            <a:extLst xmlns:a="http://schemas.openxmlformats.org/drawingml/2006/main">
              <a:ext uri="{FF2B5EF4-FFF2-40B4-BE49-F238E27FC236}">
                <a16:creationId xmlns:a16="http://schemas.microsoft.com/office/drawing/2014/main" id="{09E3965B-DD0C-436B-B4D2-A531DD3A39F4}"/>
              </a:ext>
            </a:extLst>
          </p:cNvPr>
          <p:cNvSpPr>
            <a:spLocks xmlns:a="http://schemas.openxmlformats.org/drawingml/2006/main" noGrp="1"/>
          </p:cNvSpPr>
          <p:nvPr/>
        </p:nvSpPr>
        <p:spPr>
          <a:xfrm xmlns:a="http://schemas.openxmlformats.org/drawingml/2006/main">
            <a:off x="6353175" y="2047875"/>
            <a:ext cx="5210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087F83"/>
                </a:solidFill>
                <a:latin typeface="Arial"/>
                <a:ea typeface="Arial"/>
                <a:cs typeface="Arial"/>
              </a:defRPr>
            </a:defPPr>
          </a:lstStyle>
          <a:p xmlns:a="http://schemas.openxmlformats.org/drawingml/2006/main">
            <a:pPr>
              <a:defRPr sz="2250" b="1">
                <a:solidFill>
                  <a:srgbClr val="087F83"/>
                </a:solidFill>
                <a:latin typeface="Arial"/>
                <a:ea typeface="Arial"/>
                <a:cs typeface="Arial"/>
              </a:defRPr>
            </a:pPr>
            <a:r>
              <a:rPr sz="2250" b="1">
                <a:solidFill>
                  <a:srgbClr val="087F83"/>
                </a:solidFill>
                <a:latin typeface="Arial"/>
                <a:ea typeface="Arial"/>
                <a:cs typeface="Arial"/>
              </a:rPr>
              <a:t>Application output</a:t>
            </a:r>
          </a:p>
        </p:txBody>
      </p:sp>
      <p:sp>
        <p:nvSpPr>
          <p:cNvPr id="9" name="">
            <a:extLst xmlns:a="http://schemas.openxmlformats.org/drawingml/2006/main">
              <a:ext uri="{FF2B5EF4-FFF2-40B4-BE49-F238E27FC236}">
                <a16:creationId xmlns:a16="http://schemas.microsoft.com/office/drawing/2014/main" id="{451B609E-BE9F-4133-AAD1-5B96569E5043}"/>
              </a:ext>
            </a:extLst>
          </p:cNvPr>
          <p:cNvSpPr>
            <a:spLocks xmlns:a="http://schemas.openxmlformats.org/drawingml/2006/main" noGrp="1"/>
          </p:cNvSpPr>
          <p:nvPr/>
        </p:nvSpPr>
        <p:spPr>
          <a:xfrm xmlns:a="http://schemas.openxmlformats.org/drawingml/2006/main">
            <a:off x="6353175" y="2724150"/>
            <a:ext cx="521017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72D43"/>
                </a:solidFill>
                <a:latin typeface="Arial"/>
                <a:ea typeface="Arial"/>
                <a:cs typeface="Arial"/>
              </a:defRPr>
            </a:defPPr>
          </a:lstStyle>
          <a:p xmlns:a="http://schemas.openxmlformats.org/drawingml/2006/main">
            <a:pPr>
              <a:defRPr sz="2400" b="0">
                <a:solidFill>
                  <a:srgbClr val="172D43"/>
                </a:solidFill>
                <a:latin typeface="Arial"/>
                <a:ea typeface="Arial"/>
                <a:cs typeface="Arial"/>
              </a:defRPr>
            </a:pPr>
            <a:r>
              <a:rPr sz="2400" b="0">
                <a:solidFill>
                  <a:srgbClr val="172D43"/>
                </a:solidFill>
                <a:latin typeface="Arial"/>
                <a:ea typeface="Arial"/>
                <a:cs typeface="Arial"/>
              </a:rPr>
              <a:t>A validated score, a fixed-threshold label, and exactly K contact priorities.</a:t>
            </a:r>
          </a:p>
        </p:txBody>
      </p:sp>
      <p:sp>
        <p:nvSpPr>
          <p:cNvPr id="10" name="">
            <a:extLst xmlns:a="http://schemas.openxmlformats.org/drawingml/2006/main">
              <a:ext uri="{FF2B5EF4-FFF2-40B4-BE49-F238E27FC236}">
                <a16:creationId xmlns:a16="http://schemas.microsoft.com/office/drawing/2014/main" id="{96D889BE-1DC3-4542-99C3-382BFD49968E}"/>
              </a:ext>
            </a:extLst>
          </p:cNvPr>
          <p:cNvSpPr>
            <a:spLocks xmlns:a="http://schemas.openxmlformats.org/drawingml/2006/main" noGrp="1"/>
          </p:cNvSpPr>
          <p:nvPr/>
        </p:nvSpPr>
        <p:spPr>
          <a:xfrm xmlns:a="http://schemas.openxmlformats.org/drawingml/2006/main">
            <a:off x="628650" y="4819650"/>
            <a:ext cx="1093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2D43"/>
                </a:solidFill>
                <a:latin typeface="Arial"/>
                <a:ea typeface="Arial"/>
                <a:cs typeface="Arial"/>
              </a:defRPr>
            </a:defPPr>
          </a:lstStyle>
          <a:p xmlns:a="http://schemas.openxmlformats.org/drawingml/2006/main">
            <a:pPr>
              <a:defRPr sz="2025" b="1">
                <a:solidFill>
                  <a:srgbClr val="172D43"/>
                </a:solidFill>
                <a:latin typeface="Arial"/>
                <a:ea typeface="Arial"/>
                <a:cs typeface="Arial"/>
              </a:defRPr>
            </a:pPr>
            <a:r>
              <a:rPr sz="2025" b="1">
                <a:solidFill>
                  <a:srgbClr val="172D43"/>
                </a:solidFill>
                <a:latin typeface="Arial"/>
                <a:ea typeface="Arial"/>
                <a:cs typeface="Arial"/>
              </a:rPr>
              <a:t>Measure retrieval and capacity utility. Do not claim ROI or incremental response.</a:t>
            </a:r>
          </a:p>
        </p:txBody>
      </p:sp>
    </p:spTree>
    <p:extLst>
      <p:ext uri="{BB962C8B-B14F-4D97-AF65-F5344CB8AC3E}">
        <p14:creationId xmlns:p14="http://schemas.microsoft.com/office/powerpoint/2010/main" val="90791658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6881CAF-EBF0-47CF-83D1-37C1C7D61378}"/>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D43"/>
                </a:solidFill>
                <a:latin typeface="Arial"/>
                <a:ea typeface="Arial"/>
                <a:cs typeface="Arial"/>
              </a:defRPr>
            </a:defPPr>
          </a:lstStyle>
          <a:p xmlns:a="http://schemas.openxmlformats.org/drawingml/2006/main">
            <a:pPr>
              <a:defRPr sz="3000" b="1">
                <a:solidFill>
                  <a:srgbClr val="172D43"/>
                </a:solidFill>
                <a:latin typeface="Arial"/>
                <a:ea typeface="Arial"/>
                <a:cs typeface="Arial"/>
              </a:defRPr>
            </a:pPr>
            <a:r>
              <a:rPr sz="3000" b="1">
                <a:solidFill>
                  <a:srgbClr val="172D43"/>
                </a:solidFill>
                <a:latin typeface="Arial"/>
                <a:ea typeface="Arial"/>
                <a:cs typeface="Arial"/>
              </a:rPr>
              <a:t>The dataset is historical and imbalanced</a:t>
            </a:r>
          </a:p>
        </p:txBody>
      </p:sp>
      <p:sp>
        <p:nvSpPr>
          <p:cNvPr id="2" name="">
            <a:extLst xmlns:a="http://schemas.openxmlformats.org/drawingml/2006/main">
              <a:ext uri="{FF2B5EF4-FFF2-40B4-BE49-F238E27FC236}">
                <a16:creationId xmlns:a16="http://schemas.microsoft.com/office/drawing/2014/main" id="{DB59CF9B-8974-454D-BF3E-77599DF02AA3}"/>
              </a:ext>
            </a:extLst>
          </p:cNvPr>
          <p:cNvSpPr>
            <a:spLocks xmlns:a="http://schemas.openxmlformats.org/drawingml/2006/main" noGrp="1"/>
          </p:cNvSpPr>
          <p:nvPr/>
        </p:nvSpPr>
        <p:spPr>
          <a:xfrm xmlns:a="http://schemas.openxmlformats.org/drawingml/2006/main">
            <a:off x="628650" y="11906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36779"/>
                </a:solidFill>
                <a:latin typeface="Arial"/>
                <a:ea typeface="Arial"/>
                <a:cs typeface="Arial"/>
              </a:defRPr>
            </a:def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UCI bank-additional-full | Portuguese bank contacts, May 2008-November 2010</a:t>
            </a:r>
          </a:p>
        </p:txBody>
      </p:sp>
      <p:sp>
        <p:nvSpPr>
          <p:cNvPr id="3" name="">
            <a:extLst xmlns:a="http://schemas.openxmlformats.org/drawingml/2006/main">
              <a:ext uri="{FF2B5EF4-FFF2-40B4-BE49-F238E27FC236}">
                <a16:creationId xmlns:a16="http://schemas.microsoft.com/office/drawing/2014/main" id="{4E8A9AD9-5FB8-45B7-82E6-562EE24945D4}"/>
              </a:ext>
            </a:extLst>
          </p:cNvPr>
          <p:cNvSpPr>
            <a:spLocks xmlns:a="http://schemas.openxmlformats.org/drawingml/2006/main" noGrp="1"/>
          </p:cNvSpPr>
          <p:nvPr/>
        </p:nvSpPr>
        <p:spPr>
          <a:xfrm xmlns:a="http://schemas.openxmlformats.org/drawingml/2006/main">
            <a:off x="609600" y="6267450"/>
            <a:ext cx="10972800" cy="19050"/>
          </a:xfrm>
          <a:prstGeom xmlns:a="http://schemas.openxmlformats.org/drawingml/2006/main" prst="rect">
            <a:avLst/>
          </a:prstGeom>
          <a:solidFill xmlns:a="http://schemas.openxmlformats.org/drawingml/2006/main">
            <a:srgbClr val="D6E2E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9D23CB9-EF40-4BB7-B826-9048164F68AC}"/>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DepoRank | COMP6140001 Data Mining</a:t>
            </a:r>
          </a:p>
        </p:txBody>
      </p:sp>
      <p:sp>
        <p:nvSpPr>
          <p:cNvPr id="5" name="">
            <a:extLst xmlns:a="http://schemas.openxmlformats.org/drawingml/2006/main">
              <a:ext uri="{FF2B5EF4-FFF2-40B4-BE49-F238E27FC236}">
                <a16:creationId xmlns:a16="http://schemas.microsoft.com/office/drawing/2014/main" id="{3357C380-B556-48A7-B31F-3A618305CB19}"/>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EBB55254-FC16-405F-9275-8B1C523B14E2}"/>
              </a:ext>
            </a:extLst>
          </p:cNvPr>
          <p:cNvSpPr>
            <a:spLocks xmlns:a="http://schemas.openxmlformats.org/drawingml/2006/main" noGrp="1"/>
          </p:cNvSpPr>
          <p:nvPr/>
        </p:nvSpPr>
        <p:spPr>
          <a:xfrm xmlns:a="http://schemas.openxmlformats.org/drawingml/2006/main">
            <a:off x="647700" y="2095500"/>
            <a:ext cx="4905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5400" b="1">
                <a:solidFill>
                  <a:srgbClr val="087F83"/>
                </a:solidFill>
                <a:latin typeface="Arial"/>
                <a:ea typeface="Arial"/>
                <a:cs typeface="Arial"/>
              </a:defRPr>
            </a:defPPr>
          </a:lstStyle>
          <a:p xmlns:a="http://schemas.openxmlformats.org/drawingml/2006/main">
            <a:pPr>
              <a:defRPr sz="5400" b="1">
                <a:solidFill>
                  <a:srgbClr val="087F83"/>
                </a:solidFill>
                <a:latin typeface="Arial"/>
                <a:ea typeface="Arial"/>
                <a:cs typeface="Arial"/>
              </a:defRPr>
            </a:pPr>
            <a:r>
              <a:rPr sz="5400" b="1">
                <a:solidFill>
                  <a:srgbClr val="087F83"/>
                </a:solidFill>
                <a:latin typeface="Arial"/>
                <a:ea typeface="Arial"/>
                <a:cs typeface="Arial"/>
              </a:rPr>
              <a:t>41,188</a:t>
            </a:r>
          </a:p>
        </p:txBody>
      </p:sp>
      <p:sp>
        <p:nvSpPr>
          <p:cNvPr id="7" name="">
            <a:extLst xmlns:a="http://schemas.openxmlformats.org/drawingml/2006/main">
              <a:ext uri="{FF2B5EF4-FFF2-40B4-BE49-F238E27FC236}">
                <a16:creationId xmlns:a16="http://schemas.microsoft.com/office/drawing/2014/main" id="{DFE3D2AC-49A9-4005-8856-9B1C5676FFE9}"/>
              </a:ext>
            </a:extLst>
          </p:cNvPr>
          <p:cNvSpPr>
            <a:spLocks xmlns:a="http://schemas.openxmlformats.org/drawingml/2006/main" noGrp="1"/>
          </p:cNvSpPr>
          <p:nvPr/>
        </p:nvSpPr>
        <p:spPr>
          <a:xfrm xmlns:a="http://schemas.openxmlformats.org/drawingml/2006/main">
            <a:off x="666750" y="3238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2D43"/>
                </a:solidFill>
                <a:latin typeface="Arial"/>
                <a:ea typeface="Arial"/>
                <a:cs typeface="Arial"/>
              </a:defRPr>
            </a:defPPr>
          </a:lstStyle>
          <a:p xmlns:a="http://schemas.openxmlformats.org/drawingml/2006/main">
            <a:pPr>
              <a:defRPr sz="2100" b="0">
                <a:solidFill>
                  <a:srgbClr val="172D43"/>
                </a:solidFill>
                <a:latin typeface="Arial"/>
                <a:ea typeface="Arial"/>
                <a:cs typeface="Arial"/>
              </a:defRPr>
            </a:pPr>
            <a:r>
              <a:rPr sz="2100" b="0">
                <a:solidFill>
                  <a:srgbClr val="172D43"/>
                </a:solidFill>
                <a:latin typeface="Arial"/>
                <a:ea typeface="Arial"/>
                <a:cs typeface="Arial"/>
              </a:rPr>
              <a:t>contact observations</a:t>
            </a:r>
          </a:p>
        </p:txBody>
      </p:sp>
      <p:sp>
        <p:nvSpPr>
          <p:cNvPr id="8" name="">
            <a:extLst xmlns:a="http://schemas.openxmlformats.org/drawingml/2006/main">
              <a:ext uri="{FF2B5EF4-FFF2-40B4-BE49-F238E27FC236}">
                <a16:creationId xmlns:a16="http://schemas.microsoft.com/office/drawing/2014/main" id="{B3EC4B8E-AD97-4FEC-A065-750F64C4C730}"/>
              </a:ext>
            </a:extLst>
          </p:cNvPr>
          <p:cNvSpPr>
            <a:spLocks xmlns:a="http://schemas.openxmlformats.org/drawingml/2006/main" noGrp="1"/>
          </p:cNvSpPr>
          <p:nvPr/>
        </p:nvSpPr>
        <p:spPr>
          <a:xfrm xmlns:a="http://schemas.openxmlformats.org/drawingml/2006/main">
            <a:off x="666750" y="4248150"/>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2D43"/>
                </a:solidFill>
                <a:latin typeface="Arial"/>
                <a:ea typeface="Arial"/>
                <a:cs typeface="Arial"/>
              </a:defRPr>
            </a:defPPr>
          </a:lstStyle>
          <a:p xmlns:a="http://schemas.openxmlformats.org/drawingml/2006/main">
            <a:pPr>
              <a:defRPr sz="1950" b="0">
                <a:solidFill>
                  <a:srgbClr val="172D43"/>
                </a:solidFill>
                <a:latin typeface="Arial"/>
                <a:ea typeface="Arial"/>
                <a:cs typeface="Arial"/>
              </a:defRPr>
            </a:pPr>
            <a:r>
              <a:rPr sz="1950" b="0">
                <a:solidFill>
                  <a:srgbClr val="172D43"/>
                </a:solidFill>
                <a:latin typeface="Arial"/>
                <a:ea typeface="Arial"/>
                <a:cs typeface="Arial"/>
              </a:rPr>
              <a:t>20 inputs + binary target y</a:t>
            </a:r>
          </a:p>
          <a:p xmlns:a="http://schemas.openxmlformats.org/drawingml/2006/main">
            <a:pPr>
              <a:defRPr sz="1950" b="0">
                <a:solidFill>
                  <a:srgbClr val="172D43"/>
                </a:solidFill>
                <a:latin typeface="Arial"/>
                <a:ea typeface="Arial"/>
                <a:cs typeface="Arial"/>
              </a:defRPr>
            </a:pPr>
            <a:r>
              <a:rPr sz="1950" b="0">
                <a:solidFill>
                  <a:srgbClr val="172D43"/>
                </a:solidFill>
                <a:latin typeface="Arial"/>
                <a:ea typeface="Arial"/>
                <a:cs typeface="Arial"/>
              </a:rPr>
              <a:t>12 duplicates retained</a:t>
            </a:r>
          </a:p>
          <a:p xmlns:a="http://schemas.openxmlformats.org/drawingml/2006/main">
            <a:pPr>
              <a:defRPr sz="1950" b="0">
                <a:solidFill>
                  <a:srgbClr val="172D43"/>
                </a:solidFill>
                <a:latin typeface="Arial"/>
                <a:ea typeface="Arial"/>
                <a:cs typeface="Arial"/>
              </a:defRPr>
            </a:pPr>
            <a:r>
              <a:rPr sz="1950" b="0">
                <a:solidFill>
                  <a:srgbClr val="172D43"/>
                </a:solidFill>
                <a:latin typeface="Arial"/>
                <a:ea typeface="Arial"/>
                <a:cs typeface="Arial"/>
              </a:rPr>
              <a:t>Unknown categories preserved</a:t>
            </a:r>
          </a:p>
        </p:txBody>
      </p:sp>
      <p:graphicFrame>
        <p:nvGraphicFramePr>
          <p:cNvPr id="9" name="Chart">
            <a:extLst xmlns:a="http://schemas.openxmlformats.org/drawingml/2006/main">
              <a:ext uri="{FF2B5EF4-FFF2-40B4-BE49-F238E27FC236}">
                <a16:creationId xmlns:a16="http://schemas.microsoft.com/office/drawing/2014/main" id="{D5B8DAA9-4FF5-4C43-8063-A9727B3C4589}"/>
              </a:ext>
            </a:extLst>
          </p:cNvPr>
          <p:cNvGraphicFramePr/>
          <p:nvPr/>
        </p:nvGraphicFramePr>
        <p:xfrm>
          <a:off xmlns:a="http://schemas.openxmlformats.org/drawingml/2006/main" x="6210300" y="2066925"/>
          <a:ext xmlns:a="http://schemas.openxmlformats.org/drawingml/2006/main" cx="5086350" cy="3390900"/>
        </p:xfrm>
        <a:graphic xmlns:a="http://schemas.openxmlformats.org/drawingml/2006/main">
          <a:graphicData uri="http://schemas.openxmlformats.org/drawingml/2006/chart">
            <c:chart xmlns:r="http://schemas.openxmlformats.org/officeDocument/2006/relationships" xmlns:c="http://schemas.openxmlformats.org/drawingml/2006/chart" r:id="R50a8d4840bfc43b7"/>
          </a:graphicData>
        </a:graphic>
      </p:graphicFrame>
      <p:sp>
        <p:nvSpPr>
          <p:cNvPr id="10" name="">
            <a:extLst xmlns:a="http://schemas.openxmlformats.org/drawingml/2006/main">
              <a:ext uri="{FF2B5EF4-FFF2-40B4-BE49-F238E27FC236}">
                <a16:creationId xmlns:a16="http://schemas.microsoft.com/office/drawing/2014/main" id="{DEBA50B3-0AE8-4AE8-BD15-9E761CF1D534}"/>
              </a:ext>
            </a:extLst>
          </p:cNvPr>
          <p:cNvSpPr>
            <a:spLocks xmlns:a="http://schemas.openxmlformats.org/drawingml/2006/main" noGrp="1"/>
          </p:cNvSpPr>
          <p:nvPr/>
        </p:nvSpPr>
        <p:spPr>
          <a:xfrm xmlns:a="http://schemas.openxmlformats.org/drawingml/2006/main">
            <a:off x="6191250" y="561975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36779"/>
                </a:solidFill>
                <a:latin typeface="Arial"/>
                <a:ea typeface="Arial"/>
                <a:cs typeface="Arial"/>
              </a:defRPr>
            </a:def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yes 11.27% | no 88.73%</a:t>
            </a:r>
          </a:p>
        </p:txBody>
      </p:sp>
    </p:spTree>
    <p:extLst>
      <p:ext uri="{BB962C8B-B14F-4D97-AF65-F5344CB8AC3E}">
        <p14:creationId xmlns:p14="http://schemas.microsoft.com/office/powerpoint/2010/main" val="2840864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88E4550-0E10-4404-8741-9FD9E300F163}"/>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D43"/>
                </a:solidFill>
                <a:latin typeface="Arial"/>
                <a:ea typeface="Arial"/>
                <a:cs typeface="Arial"/>
              </a:defRPr>
            </a:defPPr>
          </a:lstStyle>
          <a:p xmlns:a="http://schemas.openxmlformats.org/drawingml/2006/main">
            <a:pPr>
              <a:defRPr sz="3000" b="1">
                <a:solidFill>
                  <a:srgbClr val="172D43"/>
                </a:solidFill>
                <a:latin typeface="Arial"/>
                <a:ea typeface="Arial"/>
                <a:cs typeface="Arial"/>
              </a:defRPr>
            </a:pPr>
            <a:r>
              <a:rPr sz="3000" b="1">
                <a:solidFill>
                  <a:srgbClr val="172D43"/>
                </a:solidFill>
                <a:latin typeface="Arial"/>
                <a:ea typeface="Arial"/>
                <a:cs typeface="Arial"/>
              </a:rPr>
              <a:t>KDD turns raw records into auditable decisions</a:t>
            </a:r>
          </a:p>
        </p:txBody>
      </p:sp>
      <p:sp>
        <p:nvSpPr>
          <p:cNvPr id="2" name="">
            <a:extLst xmlns:a="http://schemas.openxmlformats.org/drawingml/2006/main">
              <a:ext uri="{FF2B5EF4-FFF2-40B4-BE49-F238E27FC236}">
                <a16:creationId xmlns:a16="http://schemas.microsoft.com/office/drawing/2014/main" id="{30A4D619-BB4A-4840-9ED9-9ABE8A7F6C7A}"/>
              </a:ext>
            </a:extLst>
          </p:cNvPr>
          <p:cNvSpPr>
            <a:spLocks xmlns:a="http://schemas.openxmlformats.org/drawingml/2006/main" noGrp="1"/>
          </p:cNvSpPr>
          <p:nvPr/>
        </p:nvSpPr>
        <p:spPr>
          <a:xfrm xmlns:a="http://schemas.openxmlformats.org/drawingml/2006/main">
            <a:off x="628650" y="11906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36779"/>
                </a:solidFill>
                <a:latin typeface="Arial"/>
                <a:ea typeface="Arial"/>
                <a:cs typeface="Arial"/>
              </a:defRPr>
            </a:def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All five required stages are present in the application and report</a:t>
            </a:r>
          </a:p>
        </p:txBody>
      </p:sp>
      <p:sp>
        <p:nvSpPr>
          <p:cNvPr id="3" name="">
            <a:extLst xmlns:a="http://schemas.openxmlformats.org/drawingml/2006/main">
              <a:ext uri="{FF2B5EF4-FFF2-40B4-BE49-F238E27FC236}">
                <a16:creationId xmlns:a16="http://schemas.microsoft.com/office/drawing/2014/main" id="{37DC4D68-A62D-4046-BD46-8EEAE95EF0FA}"/>
              </a:ext>
            </a:extLst>
          </p:cNvPr>
          <p:cNvSpPr>
            <a:spLocks xmlns:a="http://schemas.openxmlformats.org/drawingml/2006/main" noGrp="1"/>
          </p:cNvSpPr>
          <p:nvPr/>
        </p:nvSpPr>
        <p:spPr>
          <a:xfrm xmlns:a="http://schemas.openxmlformats.org/drawingml/2006/main">
            <a:off x="609600" y="6267450"/>
            <a:ext cx="10972800" cy="19050"/>
          </a:xfrm>
          <a:prstGeom xmlns:a="http://schemas.openxmlformats.org/drawingml/2006/main" prst="rect">
            <a:avLst/>
          </a:prstGeom>
          <a:solidFill xmlns:a="http://schemas.openxmlformats.org/drawingml/2006/main">
            <a:srgbClr val="D6E2E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C5C4D08-4340-40D7-89A3-C9647941DD8B}"/>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DepoRank | COMP6140001 Data Mining</a:t>
            </a:r>
          </a:p>
        </p:txBody>
      </p:sp>
      <p:sp>
        <p:nvSpPr>
          <p:cNvPr id="5" name="">
            <a:extLst xmlns:a="http://schemas.openxmlformats.org/drawingml/2006/main">
              <a:ext uri="{FF2B5EF4-FFF2-40B4-BE49-F238E27FC236}">
                <a16:creationId xmlns:a16="http://schemas.microsoft.com/office/drawing/2014/main" id="{06F1D346-E305-4A56-9F84-8CEEBBA9686E}"/>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D79549AB-321A-450B-97D2-C5EAE5605957}"/>
              </a:ext>
            </a:extLst>
          </p:cNvPr>
          <p:cNvSpPr>
            <a:spLocks xmlns:a="http://schemas.openxmlformats.org/drawingml/2006/main" noGrp="1"/>
          </p:cNvSpPr>
          <p:nvPr/>
        </p:nvSpPr>
        <p:spPr>
          <a:xfrm xmlns:a="http://schemas.openxmlformats.org/drawingml/2006/main">
            <a:off x="609600" y="2276475"/>
            <a:ext cx="2047875" cy="76200"/>
          </a:xfrm>
          <a:prstGeom xmlns:a="http://schemas.openxmlformats.org/drawingml/2006/main" prst="rect">
            <a:avLst/>
          </a:prstGeom>
          <a:solidFill xmlns:a="http://schemas.openxmlformats.org/drawingml/2006/main">
            <a:srgbClr val="087F8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D5A809F-4C61-4C0E-BE5D-83461871BAC1}"/>
              </a:ext>
            </a:extLst>
          </p:cNvPr>
          <p:cNvSpPr>
            <a:spLocks xmlns:a="http://schemas.openxmlformats.org/drawingml/2006/main" noGrp="1"/>
          </p:cNvSpPr>
          <p:nvPr/>
        </p:nvSpPr>
        <p:spPr>
          <a:xfrm xmlns:a="http://schemas.openxmlformats.org/drawingml/2006/main">
            <a:off x="609600" y="2647950"/>
            <a:ext cx="2047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087F83"/>
                </a:solidFill>
                <a:latin typeface="Arial"/>
                <a:ea typeface="Arial"/>
                <a:cs typeface="Arial"/>
              </a:defRPr>
            </a:defPPr>
          </a:lstStyle>
          <a:p xmlns:a="http://schemas.openxmlformats.org/drawingml/2006/main">
            <a:pPr>
              <a:defRPr sz="3600" b="1">
                <a:solidFill>
                  <a:srgbClr val="087F83"/>
                </a:solidFill>
                <a:latin typeface="Arial"/>
                <a:ea typeface="Arial"/>
                <a:cs typeface="Arial"/>
              </a:defRPr>
            </a:pPr>
            <a:r>
              <a:rPr sz="3600" b="1">
                <a:solidFill>
                  <a:srgbClr val="087F83"/>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450CDB37-D183-4774-A85C-442EBB8CB3E6}"/>
              </a:ext>
            </a:extLst>
          </p:cNvPr>
          <p:cNvSpPr>
            <a:spLocks xmlns:a="http://schemas.openxmlformats.org/drawingml/2006/main" noGrp="1"/>
          </p:cNvSpPr>
          <p:nvPr/>
        </p:nvSpPr>
        <p:spPr>
          <a:xfrm xmlns:a="http://schemas.openxmlformats.org/drawingml/2006/main">
            <a:off x="609600" y="3533775"/>
            <a:ext cx="2076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D43"/>
                </a:solidFill>
                <a:latin typeface="Arial"/>
                <a:ea typeface="Arial"/>
                <a:cs typeface="Arial"/>
              </a:defRPr>
            </a:defPPr>
          </a:lstStyle>
          <a:p xmlns:a="http://schemas.openxmlformats.org/drawingml/2006/main">
            <a:pPr>
              <a:defRPr sz="1800" b="1">
                <a:solidFill>
                  <a:srgbClr val="172D43"/>
                </a:solidFill>
                <a:latin typeface="Arial"/>
                <a:ea typeface="Arial"/>
                <a:cs typeface="Arial"/>
              </a:defRPr>
            </a:pPr>
            <a:r>
              <a:rPr sz="1800" b="1">
                <a:solidFill>
                  <a:srgbClr val="172D43"/>
                </a:solidFill>
                <a:latin typeface="Arial"/>
                <a:ea typeface="Arial"/>
                <a:cs typeface="Arial"/>
              </a:rPr>
              <a:t>Selection</a:t>
            </a:r>
          </a:p>
        </p:txBody>
      </p:sp>
      <p:sp>
        <p:nvSpPr>
          <p:cNvPr id="9" name="">
            <a:extLst xmlns:a="http://schemas.openxmlformats.org/drawingml/2006/main">
              <a:ext uri="{FF2B5EF4-FFF2-40B4-BE49-F238E27FC236}">
                <a16:creationId xmlns:a16="http://schemas.microsoft.com/office/drawing/2014/main" id="{10B0010A-8BDA-4B78-8A3A-44B23EE2CC16}"/>
              </a:ext>
            </a:extLst>
          </p:cNvPr>
          <p:cNvSpPr>
            <a:spLocks xmlns:a="http://schemas.openxmlformats.org/drawingml/2006/main" noGrp="1"/>
          </p:cNvSpPr>
          <p:nvPr/>
        </p:nvSpPr>
        <p:spPr>
          <a:xfrm xmlns:a="http://schemas.openxmlformats.org/drawingml/2006/main">
            <a:off x="609600" y="4219575"/>
            <a:ext cx="20478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36779"/>
                </a:solidFill>
                <a:latin typeface="Arial"/>
                <a:ea typeface="Arial"/>
                <a:cs typeface="Arial"/>
              </a:defRPr>
            </a:defPPr>
          </a:lstStyle>
          <a:p xmlns:a="http://schemas.openxmlformats.org/drawingml/2006/main">
            <a:pPr>
              <a:defRPr sz="1575" b="0">
                <a:solidFill>
                  <a:srgbClr val="536779"/>
                </a:solidFill>
                <a:latin typeface="Arial"/>
                <a:ea typeface="Arial"/>
                <a:cs typeface="Arial"/>
              </a:defRPr>
            </a:pPr>
            <a:r>
              <a:rPr sz="1575" b="0">
                <a:solidFill>
                  <a:srgbClr val="536779"/>
                </a:solidFill>
                <a:latin typeface="Arial"/>
                <a:ea typeface="Arial"/>
                <a:cs typeface="Arial"/>
              </a:rPr>
              <a:t>Official full CSV</a:t>
            </a:r>
          </a:p>
          <a:p xmlns:a="http://schemas.openxmlformats.org/drawingml/2006/main">
            <a:pPr>
              <a:defRPr sz="1575" b="0">
                <a:solidFill>
                  <a:srgbClr val="536779"/>
                </a:solidFill>
                <a:latin typeface="Arial"/>
                <a:ea typeface="Arial"/>
                <a:cs typeface="Arial"/>
              </a:defRPr>
            </a:pPr>
            <a:r>
              <a:rPr sz="1575" b="0">
                <a:solidFill>
                  <a:srgbClr val="536779"/>
                </a:solidFill>
                <a:latin typeface="Arial"/>
                <a:ea typeface="Arial"/>
                <a:cs typeface="Arial"/>
              </a:rPr>
              <a:t>Core attributes</a:t>
            </a:r>
          </a:p>
          <a:p xmlns:a="http://schemas.openxmlformats.org/drawingml/2006/main">
            <a:pPr>
              <a:defRPr sz="1575" b="0">
                <a:solidFill>
                  <a:srgbClr val="536779"/>
                </a:solidFill>
                <a:latin typeface="Arial"/>
                <a:ea typeface="Arial"/>
                <a:cs typeface="Arial"/>
              </a:defRPr>
            </a:pPr>
            <a:r>
              <a:rPr sz="1575" b="0">
                <a:solidFill>
                  <a:srgbClr val="536779"/>
                </a:solidFill>
                <a:latin typeface="Arial"/>
                <a:ea typeface="Arial"/>
                <a:cs typeface="Arial"/>
              </a:rPr>
              <a:t>Checksum pin</a:t>
            </a:r>
          </a:p>
        </p:txBody>
      </p:sp>
      <p:sp>
        <p:nvSpPr>
          <p:cNvPr id="10" name="">
            <a:extLst xmlns:a="http://schemas.openxmlformats.org/drawingml/2006/main">
              <a:ext uri="{FF2B5EF4-FFF2-40B4-BE49-F238E27FC236}">
                <a16:creationId xmlns:a16="http://schemas.microsoft.com/office/drawing/2014/main" id="{C759DEA4-FEB2-473C-9371-D044A84AF031}"/>
              </a:ext>
            </a:extLst>
          </p:cNvPr>
          <p:cNvSpPr>
            <a:spLocks xmlns:a="http://schemas.openxmlformats.org/drawingml/2006/main" noGrp="1"/>
          </p:cNvSpPr>
          <p:nvPr/>
        </p:nvSpPr>
        <p:spPr>
          <a:xfrm xmlns:a="http://schemas.openxmlformats.org/drawingml/2006/main">
            <a:off x="2838450" y="2276475"/>
            <a:ext cx="2047875" cy="76200"/>
          </a:xfrm>
          <a:prstGeom xmlns:a="http://schemas.openxmlformats.org/drawingml/2006/main" prst="rect">
            <a:avLst/>
          </a:prstGeom>
          <a:solidFill xmlns:a="http://schemas.openxmlformats.org/drawingml/2006/main">
            <a:srgbClr val="087F8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B6D5DB2-5D60-4314-8D40-27D99AD435EE}"/>
              </a:ext>
            </a:extLst>
          </p:cNvPr>
          <p:cNvSpPr>
            <a:spLocks xmlns:a="http://schemas.openxmlformats.org/drawingml/2006/main" noGrp="1"/>
          </p:cNvSpPr>
          <p:nvPr/>
        </p:nvSpPr>
        <p:spPr>
          <a:xfrm xmlns:a="http://schemas.openxmlformats.org/drawingml/2006/main">
            <a:off x="2838450" y="2647950"/>
            <a:ext cx="2047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087F83"/>
                </a:solidFill>
                <a:latin typeface="Arial"/>
                <a:ea typeface="Arial"/>
                <a:cs typeface="Arial"/>
              </a:defRPr>
            </a:defPPr>
          </a:lstStyle>
          <a:p xmlns:a="http://schemas.openxmlformats.org/drawingml/2006/main">
            <a:pPr>
              <a:defRPr sz="3600" b="1">
                <a:solidFill>
                  <a:srgbClr val="087F83"/>
                </a:solidFill>
                <a:latin typeface="Arial"/>
                <a:ea typeface="Arial"/>
                <a:cs typeface="Arial"/>
              </a:defRPr>
            </a:pPr>
            <a:r>
              <a:rPr sz="3600" b="1">
                <a:solidFill>
                  <a:srgbClr val="087F83"/>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CC520751-6A76-4D19-997D-3CAF8AE2DCBA}"/>
              </a:ext>
            </a:extLst>
          </p:cNvPr>
          <p:cNvSpPr>
            <a:spLocks xmlns:a="http://schemas.openxmlformats.org/drawingml/2006/main" noGrp="1"/>
          </p:cNvSpPr>
          <p:nvPr/>
        </p:nvSpPr>
        <p:spPr>
          <a:xfrm xmlns:a="http://schemas.openxmlformats.org/drawingml/2006/main">
            <a:off x="2838450" y="3533775"/>
            <a:ext cx="2076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D43"/>
                </a:solidFill>
                <a:latin typeface="Arial"/>
                <a:ea typeface="Arial"/>
                <a:cs typeface="Arial"/>
              </a:defRPr>
            </a:defPPr>
          </a:lstStyle>
          <a:p xmlns:a="http://schemas.openxmlformats.org/drawingml/2006/main">
            <a:pPr>
              <a:defRPr sz="1800" b="1">
                <a:solidFill>
                  <a:srgbClr val="172D43"/>
                </a:solidFill>
                <a:latin typeface="Arial"/>
                <a:ea typeface="Arial"/>
                <a:cs typeface="Arial"/>
              </a:defRPr>
            </a:pPr>
            <a:r>
              <a:rPr sz="1800" b="1">
                <a:solidFill>
                  <a:srgbClr val="172D43"/>
                </a:solidFill>
                <a:latin typeface="Arial"/>
                <a:ea typeface="Arial"/>
                <a:cs typeface="Arial"/>
              </a:rPr>
              <a:t>Preprocessing</a:t>
            </a:r>
          </a:p>
        </p:txBody>
      </p:sp>
      <p:sp>
        <p:nvSpPr>
          <p:cNvPr id="13" name="">
            <a:extLst xmlns:a="http://schemas.openxmlformats.org/drawingml/2006/main">
              <a:ext uri="{FF2B5EF4-FFF2-40B4-BE49-F238E27FC236}">
                <a16:creationId xmlns:a16="http://schemas.microsoft.com/office/drawing/2014/main" id="{A52EB73B-0EFE-40BD-AC07-CF6CEE4E365A}"/>
              </a:ext>
            </a:extLst>
          </p:cNvPr>
          <p:cNvSpPr>
            <a:spLocks xmlns:a="http://schemas.openxmlformats.org/drawingml/2006/main" noGrp="1"/>
          </p:cNvSpPr>
          <p:nvPr/>
        </p:nvSpPr>
        <p:spPr>
          <a:xfrm xmlns:a="http://schemas.openxmlformats.org/drawingml/2006/main">
            <a:off x="2838450" y="4219575"/>
            <a:ext cx="20478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36779"/>
                </a:solidFill>
                <a:latin typeface="Arial"/>
                <a:ea typeface="Arial"/>
                <a:cs typeface="Arial"/>
              </a:defRPr>
            </a:defPPr>
          </a:lstStyle>
          <a:p xmlns:a="http://schemas.openxmlformats.org/drawingml/2006/main">
            <a:pPr>
              <a:defRPr sz="1575" b="0">
                <a:solidFill>
                  <a:srgbClr val="536779"/>
                </a:solidFill>
                <a:latin typeface="Arial"/>
                <a:ea typeface="Arial"/>
                <a:cs typeface="Arial"/>
              </a:defRPr>
            </a:pPr>
            <a:r>
              <a:rPr sz="1575" b="0">
                <a:solidFill>
                  <a:srgbClr val="536779"/>
                </a:solidFill>
                <a:latin typeface="Arial"/>
                <a:ea typeface="Arial"/>
                <a:cs typeface="Arial"/>
              </a:rPr>
              <a:t>Validate schema</a:t>
            </a:r>
          </a:p>
          <a:p xmlns:a="http://schemas.openxmlformats.org/drawingml/2006/main">
            <a:pPr>
              <a:defRPr sz="1575" b="0">
                <a:solidFill>
                  <a:srgbClr val="536779"/>
                </a:solidFill>
                <a:latin typeface="Arial"/>
                <a:ea typeface="Arial"/>
                <a:cs typeface="Arial"/>
              </a:defRPr>
            </a:pPr>
            <a:r>
              <a:rPr sz="1575" b="0">
                <a:solidFill>
                  <a:srgbClr val="536779"/>
                </a:solidFill>
                <a:latin typeface="Arial"/>
                <a:ea typeface="Arial"/>
                <a:cs typeface="Arial"/>
              </a:rPr>
              <a:t>Audit duplicates</a:t>
            </a:r>
          </a:p>
          <a:p xmlns:a="http://schemas.openxmlformats.org/drawingml/2006/main">
            <a:pPr>
              <a:defRPr sz="1575" b="0">
                <a:solidFill>
                  <a:srgbClr val="536779"/>
                </a:solidFill>
                <a:latin typeface="Arial"/>
                <a:ea typeface="Arial"/>
                <a:cs typeface="Arial"/>
              </a:defRPr>
            </a:pPr>
            <a:r>
              <a:rPr sz="1575" b="0">
                <a:solidFill>
                  <a:srgbClr val="536779"/>
                </a:solidFill>
                <a:latin typeface="Arial"/>
                <a:ea typeface="Arial"/>
                <a:cs typeface="Arial"/>
              </a:rPr>
              <a:t>Reject bad rows</a:t>
            </a:r>
          </a:p>
        </p:txBody>
      </p:sp>
      <p:sp>
        <p:nvSpPr>
          <p:cNvPr id="14" name="">
            <a:extLst xmlns:a="http://schemas.openxmlformats.org/drawingml/2006/main">
              <a:ext uri="{FF2B5EF4-FFF2-40B4-BE49-F238E27FC236}">
                <a16:creationId xmlns:a16="http://schemas.microsoft.com/office/drawing/2014/main" id="{7C13D92A-61FA-4E27-98AF-422374A48E38}"/>
              </a:ext>
            </a:extLst>
          </p:cNvPr>
          <p:cNvSpPr>
            <a:spLocks xmlns:a="http://schemas.openxmlformats.org/drawingml/2006/main" noGrp="1"/>
          </p:cNvSpPr>
          <p:nvPr/>
        </p:nvSpPr>
        <p:spPr>
          <a:xfrm xmlns:a="http://schemas.openxmlformats.org/drawingml/2006/main">
            <a:off x="5067300" y="2276475"/>
            <a:ext cx="2047875" cy="76200"/>
          </a:xfrm>
          <a:prstGeom xmlns:a="http://schemas.openxmlformats.org/drawingml/2006/main" prst="rect">
            <a:avLst/>
          </a:prstGeom>
          <a:solidFill xmlns:a="http://schemas.openxmlformats.org/drawingml/2006/main">
            <a:srgbClr val="087F8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C15834C-8507-4982-8551-02865AFC0118}"/>
              </a:ext>
            </a:extLst>
          </p:cNvPr>
          <p:cNvSpPr>
            <a:spLocks xmlns:a="http://schemas.openxmlformats.org/drawingml/2006/main" noGrp="1"/>
          </p:cNvSpPr>
          <p:nvPr/>
        </p:nvSpPr>
        <p:spPr>
          <a:xfrm xmlns:a="http://schemas.openxmlformats.org/drawingml/2006/main">
            <a:off x="5067300" y="2647950"/>
            <a:ext cx="2047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087F83"/>
                </a:solidFill>
                <a:latin typeface="Arial"/>
                <a:ea typeface="Arial"/>
                <a:cs typeface="Arial"/>
              </a:defRPr>
            </a:defPPr>
          </a:lstStyle>
          <a:p xmlns:a="http://schemas.openxmlformats.org/drawingml/2006/main">
            <a:pPr>
              <a:defRPr sz="3600" b="1">
                <a:solidFill>
                  <a:srgbClr val="087F83"/>
                </a:solidFill>
                <a:latin typeface="Arial"/>
                <a:ea typeface="Arial"/>
                <a:cs typeface="Arial"/>
              </a:defRPr>
            </a:pPr>
            <a:r>
              <a:rPr sz="3600" b="1">
                <a:solidFill>
                  <a:srgbClr val="087F83"/>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626CBE44-F1BB-4A73-A06C-0426F44BA806}"/>
              </a:ext>
            </a:extLst>
          </p:cNvPr>
          <p:cNvSpPr>
            <a:spLocks xmlns:a="http://schemas.openxmlformats.org/drawingml/2006/main" noGrp="1"/>
          </p:cNvSpPr>
          <p:nvPr/>
        </p:nvSpPr>
        <p:spPr>
          <a:xfrm xmlns:a="http://schemas.openxmlformats.org/drawingml/2006/main">
            <a:off x="5067300" y="3533775"/>
            <a:ext cx="2076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D43"/>
                </a:solidFill>
                <a:latin typeface="Arial"/>
                <a:ea typeface="Arial"/>
                <a:cs typeface="Arial"/>
              </a:defRPr>
            </a:defPPr>
          </a:lstStyle>
          <a:p xmlns:a="http://schemas.openxmlformats.org/drawingml/2006/main">
            <a:pPr>
              <a:defRPr sz="1800" b="1">
                <a:solidFill>
                  <a:srgbClr val="172D43"/>
                </a:solidFill>
                <a:latin typeface="Arial"/>
                <a:ea typeface="Arial"/>
                <a:cs typeface="Arial"/>
              </a:defRPr>
            </a:pPr>
            <a:r>
              <a:rPr sz="1800" b="1">
                <a:solidFill>
                  <a:srgbClr val="172D43"/>
                </a:solidFill>
                <a:latin typeface="Arial"/>
                <a:ea typeface="Arial"/>
                <a:cs typeface="Arial"/>
              </a:rPr>
              <a:t>Transformation</a:t>
            </a:r>
          </a:p>
        </p:txBody>
      </p:sp>
      <p:sp>
        <p:nvSpPr>
          <p:cNvPr id="17" name="">
            <a:extLst xmlns:a="http://schemas.openxmlformats.org/drawingml/2006/main">
              <a:ext uri="{FF2B5EF4-FFF2-40B4-BE49-F238E27FC236}">
                <a16:creationId xmlns:a16="http://schemas.microsoft.com/office/drawing/2014/main" id="{3D9829FD-B553-4148-9EE8-C0368C139BC1}"/>
              </a:ext>
            </a:extLst>
          </p:cNvPr>
          <p:cNvSpPr>
            <a:spLocks xmlns:a="http://schemas.openxmlformats.org/drawingml/2006/main" noGrp="1"/>
          </p:cNvSpPr>
          <p:nvPr/>
        </p:nvSpPr>
        <p:spPr>
          <a:xfrm xmlns:a="http://schemas.openxmlformats.org/drawingml/2006/main">
            <a:off x="5067300" y="4219575"/>
            <a:ext cx="20478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36779"/>
                </a:solidFill>
                <a:latin typeface="Arial"/>
                <a:ea typeface="Arial"/>
                <a:cs typeface="Arial"/>
              </a:defRPr>
            </a:defPPr>
          </a:lstStyle>
          <a:p xmlns:a="http://schemas.openxmlformats.org/drawingml/2006/main">
            <a:pPr>
              <a:defRPr sz="1575" b="0">
                <a:solidFill>
                  <a:srgbClr val="536779"/>
                </a:solidFill>
                <a:latin typeface="Arial"/>
                <a:ea typeface="Arial"/>
                <a:cs typeface="Arial"/>
              </a:defRPr>
            </a:pPr>
            <a:r>
              <a:rPr sz="1575" b="0">
                <a:solidFill>
                  <a:srgbClr val="536779"/>
                </a:solidFill>
                <a:latin typeface="Arial"/>
                <a:ea typeface="Arial"/>
                <a:cs typeface="Arial"/>
              </a:rPr>
              <a:t>pdays sentinel</a:t>
            </a:r>
          </a:p>
          <a:p xmlns:a="http://schemas.openxmlformats.org/drawingml/2006/main">
            <a:pPr>
              <a:defRPr sz="1575" b="0">
                <a:solidFill>
                  <a:srgbClr val="536779"/>
                </a:solidFill>
                <a:latin typeface="Arial"/>
                <a:ea typeface="Arial"/>
                <a:cs typeface="Arial"/>
              </a:defRPr>
            </a:pPr>
            <a:r>
              <a:rPr sz="1575" b="0">
                <a:solidFill>
                  <a:srgbClr val="536779"/>
                </a:solidFill>
                <a:latin typeface="Arial"/>
                <a:ea typeface="Arial"/>
                <a:cs typeface="Arial"/>
              </a:rPr>
              <a:t>One-hot encoding</a:t>
            </a:r>
          </a:p>
          <a:p xmlns:a="http://schemas.openxmlformats.org/drawingml/2006/main">
            <a:pPr>
              <a:defRPr sz="1575" b="0">
                <a:solidFill>
                  <a:srgbClr val="536779"/>
                </a:solidFill>
                <a:latin typeface="Arial"/>
                <a:ea typeface="Arial"/>
                <a:cs typeface="Arial"/>
              </a:defRPr>
            </a:pPr>
            <a:r>
              <a:rPr sz="1575" b="0">
                <a:solidFill>
                  <a:srgbClr val="536779"/>
                </a:solidFill>
                <a:latin typeface="Arial"/>
                <a:ea typeface="Arial"/>
                <a:cs typeface="Arial"/>
              </a:rPr>
              <a:t>Train-only fit</a:t>
            </a:r>
          </a:p>
        </p:txBody>
      </p:sp>
      <p:sp>
        <p:nvSpPr>
          <p:cNvPr id="18" name="">
            <a:extLst xmlns:a="http://schemas.openxmlformats.org/drawingml/2006/main">
              <a:ext uri="{FF2B5EF4-FFF2-40B4-BE49-F238E27FC236}">
                <a16:creationId xmlns:a16="http://schemas.microsoft.com/office/drawing/2014/main" id="{130E9BF2-48F0-46C3-91A2-E754F3C95048}"/>
              </a:ext>
            </a:extLst>
          </p:cNvPr>
          <p:cNvSpPr>
            <a:spLocks xmlns:a="http://schemas.openxmlformats.org/drawingml/2006/main" noGrp="1"/>
          </p:cNvSpPr>
          <p:nvPr/>
        </p:nvSpPr>
        <p:spPr>
          <a:xfrm xmlns:a="http://schemas.openxmlformats.org/drawingml/2006/main">
            <a:off x="7296150" y="2276475"/>
            <a:ext cx="2047875" cy="76200"/>
          </a:xfrm>
          <a:prstGeom xmlns:a="http://schemas.openxmlformats.org/drawingml/2006/main" prst="rect">
            <a:avLst/>
          </a:prstGeom>
          <a:solidFill xmlns:a="http://schemas.openxmlformats.org/drawingml/2006/main">
            <a:srgbClr val="087F8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8C58474-7B99-4B23-86D1-A35AAEE5C931}"/>
              </a:ext>
            </a:extLst>
          </p:cNvPr>
          <p:cNvSpPr>
            <a:spLocks xmlns:a="http://schemas.openxmlformats.org/drawingml/2006/main" noGrp="1"/>
          </p:cNvSpPr>
          <p:nvPr/>
        </p:nvSpPr>
        <p:spPr>
          <a:xfrm xmlns:a="http://schemas.openxmlformats.org/drawingml/2006/main">
            <a:off x="7296150" y="2647950"/>
            <a:ext cx="2047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087F83"/>
                </a:solidFill>
                <a:latin typeface="Arial"/>
                <a:ea typeface="Arial"/>
                <a:cs typeface="Arial"/>
              </a:defRPr>
            </a:defPPr>
          </a:lstStyle>
          <a:p xmlns:a="http://schemas.openxmlformats.org/drawingml/2006/main">
            <a:pPr>
              <a:defRPr sz="3600" b="1">
                <a:solidFill>
                  <a:srgbClr val="087F83"/>
                </a:solidFill>
                <a:latin typeface="Arial"/>
                <a:ea typeface="Arial"/>
                <a:cs typeface="Arial"/>
              </a:defRPr>
            </a:pPr>
            <a:r>
              <a:rPr sz="3600" b="1">
                <a:solidFill>
                  <a:srgbClr val="087F83"/>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BEDBF728-FC1F-42DF-9AF6-8E76BFD18E73}"/>
              </a:ext>
            </a:extLst>
          </p:cNvPr>
          <p:cNvSpPr>
            <a:spLocks xmlns:a="http://schemas.openxmlformats.org/drawingml/2006/main" noGrp="1"/>
          </p:cNvSpPr>
          <p:nvPr/>
        </p:nvSpPr>
        <p:spPr>
          <a:xfrm xmlns:a="http://schemas.openxmlformats.org/drawingml/2006/main">
            <a:off x="7296150" y="3533775"/>
            <a:ext cx="2076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D43"/>
                </a:solidFill>
                <a:latin typeface="Arial"/>
                <a:ea typeface="Arial"/>
                <a:cs typeface="Arial"/>
              </a:defRPr>
            </a:defPPr>
          </a:lstStyle>
          <a:p xmlns:a="http://schemas.openxmlformats.org/drawingml/2006/main">
            <a:pPr>
              <a:defRPr sz="1800" b="1">
                <a:solidFill>
                  <a:srgbClr val="172D43"/>
                </a:solidFill>
                <a:latin typeface="Arial"/>
                <a:ea typeface="Arial"/>
                <a:cs typeface="Arial"/>
              </a:defRPr>
            </a:pPr>
            <a:r>
              <a:rPr sz="1800" b="1">
                <a:solidFill>
                  <a:srgbClr val="172D43"/>
                </a:solidFill>
                <a:latin typeface="Arial"/>
                <a:ea typeface="Arial"/>
                <a:cs typeface="Arial"/>
              </a:rPr>
              <a:t>Data mining</a:t>
            </a:r>
          </a:p>
        </p:txBody>
      </p:sp>
      <p:sp>
        <p:nvSpPr>
          <p:cNvPr id="21" name="">
            <a:extLst xmlns:a="http://schemas.openxmlformats.org/drawingml/2006/main">
              <a:ext uri="{FF2B5EF4-FFF2-40B4-BE49-F238E27FC236}">
                <a16:creationId xmlns:a16="http://schemas.microsoft.com/office/drawing/2014/main" id="{9C36B650-E494-4C16-A107-07985B7ED3FE}"/>
              </a:ext>
            </a:extLst>
          </p:cNvPr>
          <p:cNvSpPr>
            <a:spLocks xmlns:a="http://schemas.openxmlformats.org/drawingml/2006/main" noGrp="1"/>
          </p:cNvSpPr>
          <p:nvPr/>
        </p:nvSpPr>
        <p:spPr>
          <a:xfrm xmlns:a="http://schemas.openxmlformats.org/drawingml/2006/main">
            <a:off x="7296150" y="4219575"/>
            <a:ext cx="20478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36779"/>
                </a:solidFill>
                <a:latin typeface="Arial"/>
                <a:ea typeface="Arial"/>
                <a:cs typeface="Arial"/>
              </a:defRPr>
            </a:defPPr>
          </a:lstStyle>
          <a:p xmlns:a="http://schemas.openxmlformats.org/drawingml/2006/main">
            <a:pPr>
              <a:defRPr sz="1575" b="0">
                <a:solidFill>
                  <a:srgbClr val="536779"/>
                </a:solidFill>
                <a:latin typeface="Arial"/>
                <a:ea typeface="Arial"/>
                <a:cs typeface="Arial"/>
              </a:defRPr>
            </a:pPr>
            <a:r>
              <a:rPr sz="1575" b="0">
                <a:solidFill>
                  <a:srgbClr val="536779"/>
                </a:solidFill>
                <a:latin typeface="Arial"/>
                <a:ea typeface="Arial"/>
                <a:cs typeface="Arial"/>
              </a:rPr>
              <a:t>Five families</a:t>
            </a:r>
          </a:p>
          <a:p xmlns:a="http://schemas.openxmlformats.org/drawingml/2006/main">
            <a:pPr>
              <a:defRPr sz="1575" b="0">
                <a:solidFill>
                  <a:srgbClr val="536779"/>
                </a:solidFill>
                <a:latin typeface="Arial"/>
                <a:ea typeface="Arial"/>
                <a:cs typeface="Arial"/>
              </a:defRPr>
            </a:pPr>
            <a:r>
              <a:rPr sz="1575" b="0">
                <a:solidFill>
                  <a:srgbClr val="536779"/>
                </a:solidFill>
                <a:latin typeface="Arial"/>
                <a:ea typeface="Arial"/>
                <a:cs typeface="Arial"/>
              </a:rPr>
              <a:t>Temporal CV</a:t>
            </a:r>
          </a:p>
          <a:p xmlns:a="http://schemas.openxmlformats.org/drawingml/2006/main">
            <a:pPr>
              <a:defRPr sz="1575" b="0">
                <a:solidFill>
                  <a:srgbClr val="536779"/>
                </a:solidFill>
                <a:latin typeface="Arial"/>
                <a:ea typeface="Arial"/>
                <a:cs typeface="Arial"/>
              </a:defRPr>
            </a:pPr>
            <a:r>
              <a:rPr sz="1575" b="0">
                <a:solidFill>
                  <a:srgbClr val="536779"/>
                </a:solidFill>
                <a:latin typeface="Arial"/>
                <a:ea typeface="Arial"/>
                <a:cs typeface="Arial"/>
              </a:rPr>
              <a:t>Calibration</a:t>
            </a:r>
          </a:p>
        </p:txBody>
      </p:sp>
      <p:sp>
        <p:nvSpPr>
          <p:cNvPr id="22" name="">
            <a:extLst xmlns:a="http://schemas.openxmlformats.org/drawingml/2006/main">
              <a:ext uri="{FF2B5EF4-FFF2-40B4-BE49-F238E27FC236}">
                <a16:creationId xmlns:a16="http://schemas.microsoft.com/office/drawing/2014/main" id="{DCFC2E92-6807-4E4F-887A-1F8EAC6ED051}"/>
              </a:ext>
            </a:extLst>
          </p:cNvPr>
          <p:cNvSpPr>
            <a:spLocks xmlns:a="http://schemas.openxmlformats.org/drawingml/2006/main" noGrp="1"/>
          </p:cNvSpPr>
          <p:nvPr/>
        </p:nvSpPr>
        <p:spPr>
          <a:xfrm xmlns:a="http://schemas.openxmlformats.org/drawingml/2006/main">
            <a:off x="9525000" y="2276475"/>
            <a:ext cx="2047875" cy="76200"/>
          </a:xfrm>
          <a:prstGeom xmlns:a="http://schemas.openxmlformats.org/drawingml/2006/main" prst="rect">
            <a:avLst/>
          </a:prstGeom>
          <a:solidFill xmlns:a="http://schemas.openxmlformats.org/drawingml/2006/main">
            <a:srgbClr val="CB934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72B3AFF-9D6F-4500-86E2-97D9A63B6EA9}"/>
              </a:ext>
            </a:extLst>
          </p:cNvPr>
          <p:cNvSpPr>
            <a:spLocks xmlns:a="http://schemas.openxmlformats.org/drawingml/2006/main" noGrp="1"/>
          </p:cNvSpPr>
          <p:nvPr/>
        </p:nvSpPr>
        <p:spPr>
          <a:xfrm xmlns:a="http://schemas.openxmlformats.org/drawingml/2006/main">
            <a:off x="9525000" y="2647950"/>
            <a:ext cx="2047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087F83"/>
                </a:solidFill>
                <a:latin typeface="Arial"/>
                <a:ea typeface="Arial"/>
                <a:cs typeface="Arial"/>
              </a:defRPr>
            </a:defPPr>
          </a:lstStyle>
          <a:p xmlns:a="http://schemas.openxmlformats.org/drawingml/2006/main">
            <a:pPr>
              <a:defRPr sz="3600" b="1">
                <a:solidFill>
                  <a:srgbClr val="087F83"/>
                </a:solidFill>
                <a:latin typeface="Arial"/>
                <a:ea typeface="Arial"/>
                <a:cs typeface="Arial"/>
              </a:defRPr>
            </a:pPr>
            <a:r>
              <a:rPr sz="3600" b="1">
                <a:solidFill>
                  <a:srgbClr val="087F83"/>
                </a:solidFill>
                <a:latin typeface="Arial"/>
                <a:ea typeface="Arial"/>
                <a:cs typeface="Arial"/>
              </a:rPr>
              <a:t>5</a:t>
            </a:r>
          </a:p>
        </p:txBody>
      </p:sp>
      <p:sp>
        <p:nvSpPr>
          <p:cNvPr id="24" name="">
            <a:extLst xmlns:a="http://schemas.openxmlformats.org/drawingml/2006/main">
              <a:ext uri="{FF2B5EF4-FFF2-40B4-BE49-F238E27FC236}">
                <a16:creationId xmlns:a16="http://schemas.microsoft.com/office/drawing/2014/main" id="{5F24C04E-2104-4A87-B05A-E37BE8315F84}"/>
              </a:ext>
            </a:extLst>
          </p:cNvPr>
          <p:cNvSpPr>
            <a:spLocks xmlns:a="http://schemas.openxmlformats.org/drawingml/2006/main" noGrp="1"/>
          </p:cNvSpPr>
          <p:nvPr/>
        </p:nvSpPr>
        <p:spPr>
          <a:xfrm xmlns:a="http://schemas.openxmlformats.org/drawingml/2006/main">
            <a:off x="9525000" y="3533775"/>
            <a:ext cx="2076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D43"/>
                </a:solidFill>
                <a:latin typeface="Arial"/>
                <a:ea typeface="Arial"/>
                <a:cs typeface="Arial"/>
              </a:defRPr>
            </a:defPPr>
          </a:lstStyle>
          <a:p xmlns:a="http://schemas.openxmlformats.org/drawingml/2006/main">
            <a:pPr>
              <a:defRPr sz="1800" b="1">
                <a:solidFill>
                  <a:srgbClr val="172D43"/>
                </a:solidFill>
                <a:latin typeface="Arial"/>
                <a:ea typeface="Arial"/>
                <a:cs typeface="Arial"/>
              </a:defRPr>
            </a:pPr>
            <a:r>
              <a:rPr sz="1800" b="1">
                <a:solidFill>
                  <a:srgbClr val="172D43"/>
                </a:solidFill>
                <a:latin typeface="Arial"/>
                <a:ea typeface="Arial"/>
                <a:cs typeface="Arial"/>
              </a:rPr>
              <a:t>Evaluation</a:t>
            </a:r>
          </a:p>
        </p:txBody>
      </p:sp>
      <p:sp>
        <p:nvSpPr>
          <p:cNvPr id="25" name="">
            <a:extLst xmlns:a="http://schemas.openxmlformats.org/drawingml/2006/main">
              <a:ext uri="{FF2B5EF4-FFF2-40B4-BE49-F238E27FC236}">
                <a16:creationId xmlns:a16="http://schemas.microsoft.com/office/drawing/2014/main" id="{B1BC0524-B6C4-4378-90A3-1B2F495F0B8F}"/>
              </a:ext>
            </a:extLst>
          </p:cNvPr>
          <p:cNvSpPr>
            <a:spLocks xmlns:a="http://schemas.openxmlformats.org/drawingml/2006/main" noGrp="1"/>
          </p:cNvSpPr>
          <p:nvPr/>
        </p:nvSpPr>
        <p:spPr>
          <a:xfrm xmlns:a="http://schemas.openxmlformats.org/drawingml/2006/main">
            <a:off x="9525000" y="4219575"/>
            <a:ext cx="20478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36779"/>
                </a:solidFill>
                <a:latin typeface="Arial"/>
                <a:ea typeface="Arial"/>
                <a:cs typeface="Arial"/>
              </a:defRPr>
            </a:defPPr>
          </a:lstStyle>
          <a:p xmlns:a="http://schemas.openxmlformats.org/drawingml/2006/main">
            <a:pPr>
              <a:defRPr sz="1575" b="0">
                <a:solidFill>
                  <a:srgbClr val="536779"/>
                </a:solidFill>
                <a:latin typeface="Arial"/>
                <a:ea typeface="Arial"/>
                <a:cs typeface="Arial"/>
              </a:defRPr>
            </a:pPr>
            <a:r>
              <a:rPr sz="1575" b="0">
                <a:solidFill>
                  <a:srgbClr val="536779"/>
                </a:solidFill>
                <a:latin typeface="Arial"/>
                <a:ea typeface="Arial"/>
                <a:cs typeface="Arial"/>
              </a:rPr>
              <a:t>Selection lock</a:t>
            </a:r>
          </a:p>
          <a:p xmlns:a="http://schemas.openxmlformats.org/drawingml/2006/main">
            <a:pPr>
              <a:defRPr sz="1575" b="0">
                <a:solidFill>
                  <a:srgbClr val="536779"/>
                </a:solidFill>
                <a:latin typeface="Arial"/>
                <a:ea typeface="Arial"/>
                <a:cs typeface="Arial"/>
              </a:defRPr>
            </a:pPr>
            <a:r>
              <a:rPr sz="1575" b="0">
                <a:solidFill>
                  <a:srgbClr val="536779"/>
                </a:solidFill>
                <a:latin typeface="Arial"/>
                <a:ea typeface="Arial"/>
                <a:cs typeface="Arial"/>
              </a:rPr>
              <a:t>Final test</a:t>
            </a:r>
          </a:p>
          <a:p xmlns:a="http://schemas.openxmlformats.org/drawingml/2006/main">
            <a:pPr>
              <a:defRPr sz="1575" b="0">
                <a:solidFill>
                  <a:srgbClr val="536779"/>
                </a:solidFill>
                <a:latin typeface="Arial"/>
                <a:ea typeface="Arial"/>
                <a:cs typeface="Arial"/>
              </a:defRPr>
            </a:pPr>
            <a:r>
              <a:rPr sz="1575" b="0">
                <a:solidFill>
                  <a:srgbClr val="536779"/>
                </a:solidFill>
                <a:latin typeface="Arial"/>
                <a:ea typeface="Arial"/>
                <a:cs typeface="Arial"/>
              </a:rPr>
              <a:t>Capacity metrics</a:t>
            </a:r>
          </a:p>
        </p:txBody>
      </p:sp>
    </p:spTree>
    <p:extLst>
      <p:ext uri="{BB962C8B-B14F-4D97-AF65-F5344CB8AC3E}">
        <p14:creationId xmlns:p14="http://schemas.microsoft.com/office/powerpoint/2010/main" val="174511583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530FD9-D972-440F-A5E4-183CD33C0A55}"/>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D43"/>
                </a:solidFill>
                <a:latin typeface="Arial"/>
                <a:ea typeface="Arial"/>
                <a:cs typeface="Arial"/>
              </a:defRPr>
            </a:defPPr>
          </a:lstStyle>
          <a:p xmlns:a="http://schemas.openxmlformats.org/drawingml/2006/main">
            <a:pPr>
              <a:defRPr sz="3000" b="1">
                <a:solidFill>
                  <a:srgbClr val="172D43"/>
                </a:solidFill>
                <a:latin typeface="Arial"/>
                <a:ea typeface="Arial"/>
                <a:cs typeface="Arial"/>
              </a:defRPr>
            </a:pPr>
            <a:r>
              <a:rPr sz="3000" b="1">
                <a:solidFill>
                  <a:srgbClr val="172D43"/>
                </a:solidFill>
                <a:latin typeface="Arial"/>
                <a:ea typeface="Arial"/>
                <a:cs typeface="Arial"/>
              </a:rPr>
              <a:t>Prevalence changes across four ordered blocks</a:t>
            </a:r>
          </a:p>
        </p:txBody>
      </p:sp>
      <p:sp>
        <p:nvSpPr>
          <p:cNvPr id="2" name="">
            <a:extLst xmlns:a="http://schemas.openxmlformats.org/drawingml/2006/main">
              <a:ext uri="{FF2B5EF4-FFF2-40B4-BE49-F238E27FC236}">
                <a16:creationId xmlns:a16="http://schemas.microsoft.com/office/drawing/2014/main" id="{601FEB98-7CCF-4833-8ACE-400E28EE8189}"/>
              </a:ext>
            </a:extLst>
          </p:cNvPr>
          <p:cNvSpPr>
            <a:spLocks xmlns:a="http://schemas.openxmlformats.org/drawingml/2006/main" noGrp="1"/>
          </p:cNvSpPr>
          <p:nvPr/>
        </p:nvSpPr>
        <p:spPr>
          <a:xfrm xmlns:a="http://schemas.openxmlformats.org/drawingml/2006/main">
            <a:off x="628650" y="11906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36779"/>
                </a:solidFill>
                <a:latin typeface="Arial"/>
                <a:ea typeface="Arial"/>
                <a:cs typeface="Arial"/>
              </a:defRPr>
            </a:def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Original CSV positions preserved | No shuffling or refitting on future blocks</a:t>
            </a:r>
          </a:p>
        </p:txBody>
      </p:sp>
      <p:sp>
        <p:nvSpPr>
          <p:cNvPr id="3" name="">
            <a:extLst xmlns:a="http://schemas.openxmlformats.org/drawingml/2006/main">
              <a:ext uri="{FF2B5EF4-FFF2-40B4-BE49-F238E27FC236}">
                <a16:creationId xmlns:a16="http://schemas.microsoft.com/office/drawing/2014/main" id="{54ED0366-17E8-4E63-9C34-8C2393DE958D}"/>
              </a:ext>
            </a:extLst>
          </p:cNvPr>
          <p:cNvSpPr>
            <a:spLocks xmlns:a="http://schemas.openxmlformats.org/drawingml/2006/main" noGrp="1"/>
          </p:cNvSpPr>
          <p:nvPr/>
        </p:nvSpPr>
        <p:spPr>
          <a:xfrm xmlns:a="http://schemas.openxmlformats.org/drawingml/2006/main">
            <a:off x="609600" y="6267450"/>
            <a:ext cx="10972800" cy="19050"/>
          </a:xfrm>
          <a:prstGeom xmlns:a="http://schemas.openxmlformats.org/drawingml/2006/main" prst="rect">
            <a:avLst/>
          </a:prstGeom>
          <a:solidFill xmlns:a="http://schemas.openxmlformats.org/drawingml/2006/main">
            <a:srgbClr val="D6E2E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B418C7E-25E8-4A5A-8BA5-101304EE717B}"/>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DepoRank | COMP6140001 Data Mining</a:t>
            </a:r>
          </a:p>
        </p:txBody>
      </p:sp>
      <p:sp>
        <p:nvSpPr>
          <p:cNvPr id="5" name="">
            <a:extLst xmlns:a="http://schemas.openxmlformats.org/drawingml/2006/main">
              <a:ext uri="{FF2B5EF4-FFF2-40B4-BE49-F238E27FC236}">
                <a16:creationId xmlns:a16="http://schemas.microsoft.com/office/drawing/2014/main" id="{B1312081-ACBD-4927-A3E1-847CBEAA0F31}"/>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06</a:t>
            </a:r>
          </a:p>
        </p:txBody>
      </p:sp>
      <p:graphicFrame>
        <p:nvGraphicFramePr>
          <p:cNvPr id="6" name="Chart">
            <a:extLst xmlns:a="http://schemas.openxmlformats.org/drawingml/2006/main">
              <a:ext uri="{FF2B5EF4-FFF2-40B4-BE49-F238E27FC236}">
                <a16:creationId xmlns:a16="http://schemas.microsoft.com/office/drawing/2014/main" id="{46870A65-4FBC-441E-BFBF-BFDF7DDF125E}"/>
              </a:ext>
            </a:extLst>
          </p:cNvPr>
          <p:cNvGraphicFramePr/>
          <p:nvPr/>
        </p:nvGraphicFramePr>
        <p:xfrm>
          <a:off xmlns:a="http://schemas.openxmlformats.org/drawingml/2006/main" x="809625" y="1952625"/>
          <a:ext xmlns:a="http://schemas.openxmlformats.org/drawingml/2006/main" cx="10382250" cy="3571875"/>
        </p:xfrm>
        <a:graphic xmlns:a="http://schemas.openxmlformats.org/drawingml/2006/main">
          <a:graphicData uri="http://schemas.openxmlformats.org/drawingml/2006/chart">
            <c:chart xmlns:r="http://schemas.openxmlformats.org/officeDocument/2006/relationships" xmlns:c="http://schemas.openxmlformats.org/drawingml/2006/chart" r:id="R8521f0be93444c8e"/>
          </a:graphicData>
        </a:graphic>
      </p:graphicFrame>
      <p:sp>
        <p:nvSpPr>
          <p:cNvPr id="7" name="">
            <a:extLst xmlns:a="http://schemas.openxmlformats.org/drawingml/2006/main">
              <a:ext uri="{FF2B5EF4-FFF2-40B4-BE49-F238E27FC236}">
                <a16:creationId xmlns:a16="http://schemas.microsoft.com/office/drawing/2014/main" id="{6E391C9D-C9B1-4478-9735-144331648372}"/>
              </a:ext>
            </a:extLst>
          </p:cNvPr>
          <p:cNvSpPr>
            <a:spLocks xmlns:a="http://schemas.openxmlformats.org/drawingml/2006/main" noGrp="1"/>
          </p:cNvSpPr>
          <p:nvPr/>
        </p:nvSpPr>
        <p:spPr>
          <a:xfrm xmlns:a="http://schemas.openxmlformats.org/drawingml/2006/main">
            <a:off x="628650" y="56673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36779"/>
                </a:solidFill>
                <a:latin typeface="Arial"/>
                <a:ea typeface="Arial"/>
                <a:cs typeface="Arial"/>
              </a:defRPr>
            </a:defPPr>
          </a:lstStyle>
          <a:p xmlns:a="http://schemas.openxmlformats.org/drawingml/2006/main">
            <a:pPr>
              <a:defRPr sz="1575" b="0">
                <a:solidFill>
                  <a:srgbClr val="536779"/>
                </a:solidFill>
                <a:latin typeface="Arial"/>
                <a:ea typeface="Arial"/>
                <a:cs typeface="Arial"/>
              </a:defRPr>
            </a:pPr>
            <a:r>
              <a:rPr sz="1575" b="0">
                <a:solidFill>
                  <a:srgbClr val="536779"/>
                </a:solidFill>
                <a:latin typeface="Arial"/>
                <a:ea typeface="Arial"/>
                <a:cs typeface="Arial"/>
              </a:rPr>
              <a:t>Train: fit/search | Calibration: probability mapping | Selection: decisions | Test: final evidence</a:t>
            </a:r>
          </a:p>
        </p:txBody>
      </p:sp>
    </p:spTree>
    <p:extLst>
      <p:ext uri="{BB962C8B-B14F-4D97-AF65-F5344CB8AC3E}">
        <p14:creationId xmlns:p14="http://schemas.microsoft.com/office/powerpoint/2010/main" val="13994909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60E2C2-2DCC-477F-A1A6-E19DA7F0E66E}"/>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D43"/>
                </a:solidFill>
                <a:latin typeface="Arial"/>
                <a:ea typeface="Arial"/>
                <a:cs typeface="Arial"/>
              </a:defRPr>
            </a:defPPr>
          </a:lstStyle>
          <a:p xmlns:a="http://schemas.openxmlformats.org/drawingml/2006/main">
            <a:pPr>
              <a:defRPr sz="3000" b="1">
                <a:solidFill>
                  <a:srgbClr val="172D43"/>
                </a:solidFill>
                <a:latin typeface="Arial"/>
                <a:ea typeface="Arial"/>
                <a:cs typeface="Arial"/>
              </a:defRPr>
            </a:pPr>
            <a:r>
              <a:rPr sz="3000" b="1">
                <a:solidFill>
                  <a:srgbClr val="172D43"/>
                </a:solidFill>
                <a:latin typeface="Arial"/>
                <a:ea typeface="Arial"/>
                <a:cs typeface="Arial"/>
              </a:rPr>
              <a:t>Five distinct model families share one protocol</a:t>
            </a:r>
          </a:p>
        </p:txBody>
      </p:sp>
      <p:sp>
        <p:nvSpPr>
          <p:cNvPr id="2" name="">
            <a:extLst xmlns:a="http://schemas.openxmlformats.org/drawingml/2006/main">
              <a:ext uri="{FF2B5EF4-FFF2-40B4-BE49-F238E27FC236}">
                <a16:creationId xmlns:a16="http://schemas.microsoft.com/office/drawing/2014/main" id="{14008305-474B-4089-AC7C-49856A74EE50}"/>
              </a:ext>
            </a:extLst>
          </p:cNvPr>
          <p:cNvSpPr>
            <a:spLocks xmlns:a="http://schemas.openxmlformats.org/drawingml/2006/main" noGrp="1"/>
          </p:cNvSpPr>
          <p:nvPr/>
        </p:nvSpPr>
        <p:spPr>
          <a:xfrm xmlns:a="http://schemas.openxmlformats.org/drawingml/2006/main">
            <a:off x="628650" y="11906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36779"/>
                </a:solidFill>
                <a:latin typeface="Arial"/>
                <a:ea typeface="Arial"/>
                <a:cs typeface="Arial"/>
              </a:defRPr>
            </a:def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Same raw core features, chronological blocks, and evaluation definitions</a:t>
            </a:r>
          </a:p>
        </p:txBody>
      </p:sp>
      <p:sp>
        <p:nvSpPr>
          <p:cNvPr id="3" name="">
            <a:extLst xmlns:a="http://schemas.openxmlformats.org/drawingml/2006/main">
              <a:ext uri="{FF2B5EF4-FFF2-40B4-BE49-F238E27FC236}">
                <a16:creationId xmlns:a16="http://schemas.microsoft.com/office/drawing/2014/main" id="{3DEDDC0A-9395-4674-BC0A-7F8E3C3D3A85}"/>
              </a:ext>
            </a:extLst>
          </p:cNvPr>
          <p:cNvSpPr>
            <a:spLocks xmlns:a="http://schemas.openxmlformats.org/drawingml/2006/main" noGrp="1"/>
          </p:cNvSpPr>
          <p:nvPr/>
        </p:nvSpPr>
        <p:spPr>
          <a:xfrm xmlns:a="http://schemas.openxmlformats.org/drawingml/2006/main">
            <a:off x="609600" y="6267450"/>
            <a:ext cx="10972800" cy="19050"/>
          </a:xfrm>
          <a:prstGeom xmlns:a="http://schemas.openxmlformats.org/drawingml/2006/main" prst="rect">
            <a:avLst/>
          </a:prstGeom>
          <a:solidFill xmlns:a="http://schemas.openxmlformats.org/drawingml/2006/main">
            <a:srgbClr val="D6E2E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1729BCE-8507-48C2-82ED-9A4F56D4B41D}"/>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DepoRank | COMP6140001 Data Mining</a:t>
            </a:r>
          </a:p>
        </p:txBody>
      </p:sp>
      <p:sp>
        <p:nvSpPr>
          <p:cNvPr id="5" name="">
            <a:extLst xmlns:a="http://schemas.openxmlformats.org/drawingml/2006/main">
              <a:ext uri="{FF2B5EF4-FFF2-40B4-BE49-F238E27FC236}">
                <a16:creationId xmlns:a16="http://schemas.microsoft.com/office/drawing/2014/main" id="{87D38A1B-73CE-4E42-92B0-8783A0730FD8}"/>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07</a:t>
            </a:r>
          </a:p>
        </p:txBody>
      </p:sp>
      <p:graphicFrame>
        <p:nvGraphicFramePr>
          <p:cNvPr id="6" name="">
            <a:extLst xmlns:a="http://schemas.openxmlformats.org/drawingml/2006/main">
              <a:ext uri="{FF2B5EF4-FFF2-40B4-BE49-F238E27FC236}">
                <a16:creationId xmlns:a16="http://schemas.microsoft.com/office/drawing/2014/main" id="{5E92F984-DB44-460F-BD0C-104DAFF6907F}"/>
              </a:ext>
            </a:extLst>
          </p:cNvPr>
          <p:cNvGraphicFramePr/>
          <p:nvPr/>
        </p:nvGraphicFramePr>
        <p:xfrm>
          <a:off xmlns:a="http://schemas.openxmlformats.org/drawingml/2006/main" x="609600" y="2038350"/>
          <a:ext xmlns:a="http://schemas.openxmlformats.org/drawingml/2006/main" cx="10972800" cy="3457575"/>
        </p:xfrm>
        <a:graphic xmlns:a="http://schemas.openxmlformats.org/drawingml/2006/main">
          <a:graphicData uri="http://schemas.openxmlformats.org/drawingml/2006/table">
            <a:tbl>
              <a:tblPr/>
              <a:tblGrid>
                <a:gridCol w="2914650"/>
                <a:gridCol w="3257550"/>
                <a:gridCol w="4800600"/>
              </a:tblGrid>
              <a:tr h="576263">
                <a:tc>
                  <a:txBody>
                    <a:bodyPr/>
                    <a:lstStyle/>
                    <a:p>
                      <a:r>
                        <a:rPr sz="1725" b="1">
                          <a:solidFill>
                            <a:srgbClr val="FFFFFF"/>
                          </a:solidFill>
                          <a:latin typeface="Arial"/>
                          <a:ea typeface="Arial"/>
                          <a:cs typeface="Arial"/>
                        </a:rPr>
                        <a:t>Model family</a:t>
                      </a:r>
                    </a:p>
                  </a:txBody>
                  <a:tcPr marL="91440" marR="91440" marT="45720" marB="45720">
                    <a:solidFill>
                      <a:srgbClr val="172D43"/>
                    </a:solidFill>
                  </a:tcPr>
                </a:tc>
                <a:tc>
                  <a:txBody>
                    <a:bodyPr/>
                    <a:lstStyle/>
                    <a:p>
                      <a:r>
                        <a:rPr sz="1725" b="1">
                          <a:solidFill>
                            <a:srgbClr val="FFFFFF"/>
                          </a:solidFill>
                          <a:latin typeface="Arial"/>
                          <a:ea typeface="Arial"/>
                          <a:cs typeface="Arial"/>
                        </a:rPr>
                        <a:t>Mechanism</a:t>
                      </a:r>
                    </a:p>
                  </a:txBody>
                  <a:tcPr marL="91440" marR="91440" marT="45720" marB="45720">
                    <a:solidFill>
                      <a:srgbClr val="172D43"/>
                    </a:solidFill>
                  </a:tcPr>
                </a:tc>
                <a:tc>
                  <a:txBody>
                    <a:bodyPr/>
                    <a:lstStyle/>
                    <a:p>
                      <a:r>
                        <a:rPr sz="1725" b="1">
                          <a:solidFill>
                            <a:srgbClr val="FFFFFF"/>
                          </a:solidFill>
                          <a:latin typeface="Arial"/>
                          <a:ea typeface="Arial"/>
                          <a:cs typeface="Arial"/>
                        </a:rPr>
                        <a:t>Key tradeoff</a:t>
                      </a:r>
                    </a:p>
                  </a:txBody>
                  <a:tcPr marL="91440" marR="91440" marT="45720" marB="45720">
                    <a:solidFill>
                      <a:srgbClr val="172D43"/>
                    </a:solidFill>
                  </a:tcPr>
                </a:tc>
              </a:tr>
              <a:tr h="576263">
                <a:tc>
                  <a:txBody>
                    <a:bodyPr/>
                    <a:lstStyle/>
                    <a:p>
                      <a:r>
                        <a:rPr sz="1725" b="0">
                          <a:solidFill>
                            <a:srgbClr val="172D43"/>
                          </a:solidFill>
                          <a:latin typeface="Arial"/>
                          <a:ea typeface="Arial"/>
                          <a:cs typeface="Arial"/>
                        </a:rPr>
                        <a:t>Logistic Regression</a:t>
                      </a:r>
                    </a:p>
                  </a:txBody>
                  <a:tcPr marL="91440" marR="91440" marT="45720" marB="45720">
                    <a:solidFill>
                      <a:srgbClr val="F0F5F6"/>
                    </a:solidFill>
                  </a:tcPr>
                </a:tc>
                <a:tc>
                  <a:txBody>
                    <a:bodyPr/>
                    <a:lstStyle/>
                    <a:p>
                      <a:r>
                        <a:rPr sz="1725" b="0">
                          <a:solidFill>
                            <a:srgbClr val="172D43"/>
                          </a:solidFill>
                          <a:latin typeface="Arial"/>
                          <a:ea typeface="Arial"/>
                          <a:cs typeface="Arial"/>
                        </a:rPr>
                        <a:t>Linear log-odds</a:t>
                      </a:r>
                    </a:p>
                  </a:txBody>
                  <a:tcPr marL="91440" marR="91440" marT="45720" marB="45720">
                    <a:solidFill>
                      <a:srgbClr val="F0F5F6"/>
                    </a:solidFill>
                  </a:tcPr>
                </a:tc>
                <a:tc>
                  <a:txBody>
                    <a:bodyPr/>
                    <a:lstStyle/>
                    <a:p>
                      <a:r>
                        <a:rPr sz="1725" b="0">
                          <a:solidFill>
                            <a:srgbClr val="172D43"/>
                          </a:solidFill>
                          <a:latin typeface="Arial"/>
                          <a:ea typeface="Arial"/>
                          <a:cs typeface="Arial"/>
                        </a:rPr>
                        <a:t>Compact; limited nonlinear interactions</a:t>
                      </a:r>
                    </a:p>
                  </a:txBody>
                  <a:tcPr marL="91440" marR="91440" marT="45720" marB="45720">
                    <a:solidFill>
                      <a:srgbClr val="F0F5F6"/>
                    </a:solidFill>
                  </a:tcPr>
                </a:tc>
              </a:tr>
              <a:tr h="576263">
                <a:tc>
                  <a:txBody>
                    <a:bodyPr/>
                    <a:lstStyle/>
                    <a:p>
                      <a:r>
                        <a:rPr sz="1725" b="0">
                          <a:solidFill>
                            <a:srgbClr val="172D43"/>
                          </a:solidFill>
                          <a:latin typeface="Arial"/>
                          <a:ea typeface="Arial"/>
                          <a:cs typeface="Arial"/>
                        </a:rPr>
                        <a:t>Gaussian Naive Bayes</a:t>
                      </a:r>
                    </a:p>
                  </a:txBody>
                  <a:tcPr marL="91440" marR="91440" marT="45720" marB="45720">
                    <a:solidFill>
                      <a:srgbClr val="FFFFFF"/>
                    </a:solidFill>
                  </a:tcPr>
                </a:tc>
                <a:tc>
                  <a:txBody>
                    <a:bodyPr/>
                    <a:lstStyle/>
                    <a:p>
                      <a:r>
                        <a:rPr sz="1725" b="0">
                          <a:solidFill>
                            <a:srgbClr val="172D43"/>
                          </a:solidFill>
                          <a:latin typeface="Arial"/>
                          <a:ea typeface="Arial"/>
                          <a:cs typeface="Arial"/>
                        </a:rPr>
                        <a:t>Class-conditional likelihoods</a:t>
                      </a:r>
                    </a:p>
                  </a:txBody>
                  <a:tcPr marL="91440" marR="91440" marT="45720" marB="45720">
                    <a:solidFill>
                      <a:srgbClr val="FFFFFF"/>
                    </a:solidFill>
                  </a:tcPr>
                </a:tc>
                <a:tc>
                  <a:txBody>
                    <a:bodyPr/>
                    <a:lstStyle/>
                    <a:p>
                      <a:r>
                        <a:rPr sz="1725" b="0">
                          <a:solidFill>
                            <a:srgbClr val="172D43"/>
                          </a:solidFill>
                          <a:latin typeface="Arial"/>
                          <a:ea typeface="Arial"/>
                          <a:cs typeface="Arial"/>
                        </a:rPr>
                        <a:t>Fast; conditional independence assumption</a:t>
                      </a:r>
                    </a:p>
                  </a:txBody>
                  <a:tcPr marL="91440" marR="91440" marT="45720" marB="45720">
                    <a:solidFill>
                      <a:srgbClr val="FFFFFF"/>
                    </a:solidFill>
                  </a:tcPr>
                </a:tc>
              </a:tr>
              <a:tr h="576263">
                <a:tc>
                  <a:txBody>
                    <a:bodyPr/>
                    <a:lstStyle/>
                    <a:p>
                      <a:r>
                        <a:rPr sz="1725" b="0">
                          <a:solidFill>
                            <a:srgbClr val="172D43"/>
                          </a:solidFill>
                          <a:latin typeface="Arial"/>
                          <a:ea typeface="Arial"/>
                          <a:cs typeface="Arial"/>
                        </a:rPr>
                        <a:t>Decision Tree</a:t>
                      </a:r>
                    </a:p>
                  </a:txBody>
                  <a:tcPr marL="91440" marR="91440" marT="45720" marB="45720">
                    <a:solidFill>
                      <a:srgbClr val="F0F5F6"/>
                    </a:solidFill>
                  </a:tcPr>
                </a:tc>
                <a:tc>
                  <a:txBody>
                    <a:bodyPr/>
                    <a:lstStyle/>
                    <a:p>
                      <a:r>
                        <a:rPr sz="1725" b="0">
                          <a:solidFill>
                            <a:srgbClr val="172D43"/>
                          </a:solidFill>
                          <a:latin typeface="Arial"/>
                          <a:ea typeface="Arial"/>
                          <a:cs typeface="Arial"/>
                        </a:rPr>
                        <a:t>Recursive rules</a:t>
                      </a:r>
                    </a:p>
                  </a:txBody>
                  <a:tcPr marL="91440" marR="91440" marT="45720" marB="45720">
                    <a:solidFill>
                      <a:srgbClr val="F0F5F6"/>
                    </a:solidFill>
                  </a:tcPr>
                </a:tc>
                <a:tc>
                  <a:txBody>
                    <a:bodyPr/>
                    <a:lstStyle/>
                    <a:p>
                      <a:r>
                        <a:rPr sz="1725" b="0">
                          <a:solidFill>
                            <a:srgbClr val="172D43"/>
                          </a:solidFill>
                          <a:latin typeface="Arial"/>
                          <a:ea typeface="Arial"/>
                          <a:cs typeface="Arial"/>
                        </a:rPr>
                        <a:t>Nonlinear; unstable when overfit</a:t>
                      </a:r>
                    </a:p>
                  </a:txBody>
                  <a:tcPr marL="91440" marR="91440" marT="45720" marB="45720">
                    <a:solidFill>
                      <a:srgbClr val="F0F5F6"/>
                    </a:solidFill>
                  </a:tcPr>
                </a:tc>
              </a:tr>
              <a:tr h="576263">
                <a:tc>
                  <a:txBody>
                    <a:bodyPr/>
                    <a:lstStyle/>
                    <a:p>
                      <a:r>
                        <a:rPr sz="1725" b="0">
                          <a:solidFill>
                            <a:srgbClr val="172D43"/>
                          </a:solidFill>
                          <a:latin typeface="Arial"/>
                          <a:ea typeface="Arial"/>
                          <a:cs typeface="Arial"/>
                        </a:rPr>
                        <a:t>Random Forest</a:t>
                      </a:r>
                    </a:p>
                  </a:txBody>
                  <a:tcPr marL="91440" marR="91440" marT="45720" marB="45720">
                    <a:solidFill>
                      <a:srgbClr val="FFFFFF"/>
                    </a:solidFill>
                  </a:tcPr>
                </a:tc>
                <a:tc>
                  <a:txBody>
                    <a:bodyPr/>
                    <a:lstStyle/>
                    <a:p>
                      <a:r>
                        <a:rPr sz="1725" b="0">
                          <a:solidFill>
                            <a:srgbClr val="172D43"/>
                          </a:solidFill>
                          <a:latin typeface="Arial"/>
                          <a:ea typeface="Arial"/>
                          <a:cs typeface="Arial"/>
                        </a:rPr>
                        <a:t>Averaged randomized trees</a:t>
                      </a:r>
                    </a:p>
                  </a:txBody>
                  <a:tcPr marL="91440" marR="91440" marT="45720" marB="45720">
                    <a:solidFill>
                      <a:srgbClr val="FFFFFF"/>
                    </a:solidFill>
                  </a:tcPr>
                </a:tc>
                <a:tc>
                  <a:txBody>
                    <a:bodyPr/>
                    <a:lstStyle/>
                    <a:p>
                      <a:r>
                        <a:rPr sz="1725" b="0">
                          <a:solidFill>
                            <a:srgbClr val="172D43"/>
                          </a:solidFill>
                          <a:latin typeface="Arial"/>
                          <a:ea typeface="Arial"/>
                          <a:cs typeface="Arial"/>
                        </a:rPr>
                        <a:t>Lower variance; higher memory cost</a:t>
                      </a:r>
                    </a:p>
                  </a:txBody>
                  <a:tcPr marL="91440" marR="91440" marT="45720" marB="45720">
                    <a:solidFill>
                      <a:srgbClr val="FFFFFF"/>
                    </a:solidFill>
                  </a:tcPr>
                </a:tc>
              </a:tr>
              <a:tr h="576263">
                <a:tc>
                  <a:txBody>
                    <a:bodyPr/>
                    <a:lstStyle/>
                    <a:p>
                      <a:r>
                        <a:rPr sz="1725" b="0">
                          <a:solidFill>
                            <a:srgbClr val="172D43"/>
                          </a:solidFill>
                          <a:latin typeface="Arial"/>
                          <a:ea typeface="Arial"/>
                          <a:cs typeface="Arial"/>
                        </a:rPr>
                        <a:t>Gradient Boosting</a:t>
                      </a:r>
                    </a:p>
                  </a:txBody>
                  <a:tcPr marL="91440" marR="91440" marT="45720" marB="45720">
                    <a:solidFill>
                      <a:srgbClr val="F0F5F6"/>
                    </a:solidFill>
                  </a:tcPr>
                </a:tc>
                <a:tc>
                  <a:txBody>
                    <a:bodyPr/>
                    <a:lstStyle/>
                    <a:p>
                      <a:r>
                        <a:rPr sz="1725" b="0">
                          <a:solidFill>
                            <a:srgbClr val="172D43"/>
                          </a:solidFill>
                          <a:latin typeface="Arial"/>
                          <a:ea typeface="Arial"/>
                          <a:cs typeface="Arial"/>
                        </a:rPr>
                        <a:t>Sequential additive trees</a:t>
                      </a:r>
                    </a:p>
                  </a:txBody>
                  <a:tcPr marL="91440" marR="91440" marT="45720" marB="45720">
                    <a:solidFill>
                      <a:srgbClr val="F0F5F6"/>
                    </a:solidFill>
                  </a:tcPr>
                </a:tc>
                <a:tc>
                  <a:txBody>
                    <a:bodyPr/>
                    <a:lstStyle/>
                    <a:p>
                      <a:r>
                        <a:rPr sz="1725" b="0">
                          <a:solidFill>
                            <a:srgbClr val="172D43"/>
                          </a:solidFill>
                          <a:latin typeface="Arial"/>
                          <a:ea typeface="Arial"/>
                          <a:cs typeface="Arial"/>
                        </a:rPr>
                        <a:t>Flexible; tuning and drift sensitivity</a:t>
                      </a:r>
                    </a:p>
                  </a:txBody>
                  <a:tcPr marL="91440" marR="91440" marT="45720" marB="45720">
                    <a:solidFill>
                      <a:srgbClr val="F0F5F6"/>
                    </a:solidFill>
                  </a:tcPr>
                </a:tc>
              </a:tr>
            </a:tbl>
          </a:graphicData>
        </a:graphic>
      </p:graphicFrame>
      <p:sp>
        <p:nvSpPr>
          <p:cNvPr id="7" name="">
            <a:extLst xmlns:a="http://schemas.openxmlformats.org/drawingml/2006/main">
              <a:ext uri="{FF2B5EF4-FFF2-40B4-BE49-F238E27FC236}">
                <a16:creationId xmlns:a16="http://schemas.microsoft.com/office/drawing/2014/main" id="{DA84ADAA-3250-42C8-B4B2-A04E30EC6B50}"/>
              </a:ext>
            </a:extLst>
          </p:cNvPr>
          <p:cNvSpPr>
            <a:spLocks xmlns:a="http://schemas.openxmlformats.org/drawingml/2006/main" noGrp="1"/>
          </p:cNvSpPr>
          <p:nvPr/>
        </p:nvSpPr>
        <p:spPr>
          <a:xfrm xmlns:a="http://schemas.openxmlformats.org/drawingml/2006/main">
            <a:off x="628650" y="5724525"/>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36779"/>
                </a:solidFill>
                <a:latin typeface="Arial"/>
                <a:ea typeface="Arial"/>
                <a:cs typeface="Arial"/>
              </a:defRPr>
            </a:defPPr>
          </a:lstStyle>
          <a:p xmlns:a="http://schemas.openxmlformats.org/drawingml/2006/main">
            <a:pPr>
              <a:defRPr sz="1575" b="0">
                <a:solidFill>
                  <a:srgbClr val="536779"/>
                </a:solidFill>
                <a:latin typeface="Arial"/>
                <a:ea typeface="Arial"/>
                <a:cs typeface="Arial"/>
              </a:defRPr>
            </a:pPr>
            <a:r>
              <a:rPr sz="1575" b="0">
                <a:solidFill>
                  <a:srgbClr val="536779"/>
                </a:solidFill>
                <a:latin typeface="Arial"/>
                <a:ea typeface="Arial"/>
                <a:cs typeface="Arial"/>
              </a:rPr>
              <a:t>Dummy prior and random ranking are diagnostic baselines, not extra learned families.</a:t>
            </a:r>
          </a:p>
        </p:txBody>
      </p:sp>
    </p:spTree>
    <p:extLst>
      <p:ext uri="{BB962C8B-B14F-4D97-AF65-F5344CB8AC3E}">
        <p14:creationId xmlns:p14="http://schemas.microsoft.com/office/powerpoint/2010/main" val="28598024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1C4E0AA-F0C6-45B8-9F46-29781D4B71C9}"/>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D43"/>
                </a:solidFill>
                <a:latin typeface="Arial"/>
                <a:ea typeface="Arial"/>
                <a:cs typeface="Arial"/>
              </a:defRPr>
            </a:defPPr>
          </a:lstStyle>
          <a:p xmlns:a="http://schemas.openxmlformats.org/drawingml/2006/main">
            <a:pPr>
              <a:defRPr sz="3000" b="1">
                <a:solidFill>
                  <a:srgbClr val="172D43"/>
                </a:solidFill>
                <a:latin typeface="Arial"/>
                <a:ea typeface="Arial"/>
                <a:cs typeface="Arial"/>
              </a:defRPr>
            </a:pPr>
            <a:r>
              <a:rPr sz="3000" b="1">
                <a:solidFill>
                  <a:srgbClr val="172D43"/>
                </a:solidFill>
                <a:latin typeface="Arial"/>
                <a:ea typeface="Arial"/>
                <a:cs typeface="Arial"/>
              </a:rPr>
              <a:t>Keep training, calibration, and selection separate</a:t>
            </a:r>
          </a:p>
        </p:txBody>
      </p:sp>
      <p:sp>
        <p:nvSpPr>
          <p:cNvPr id="2" name="">
            <a:extLst xmlns:a="http://schemas.openxmlformats.org/drawingml/2006/main">
              <a:ext uri="{FF2B5EF4-FFF2-40B4-BE49-F238E27FC236}">
                <a16:creationId xmlns:a16="http://schemas.microsoft.com/office/drawing/2014/main" id="{CEFD5813-F5E9-4C0F-9113-455DAFCF0434}"/>
              </a:ext>
            </a:extLst>
          </p:cNvPr>
          <p:cNvSpPr>
            <a:spLocks xmlns:a="http://schemas.openxmlformats.org/drawingml/2006/main" noGrp="1"/>
          </p:cNvSpPr>
          <p:nvPr/>
        </p:nvSpPr>
        <p:spPr>
          <a:xfrm xmlns:a="http://schemas.openxmlformats.org/drawingml/2006/main">
            <a:off x="628650" y="11906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36779"/>
                </a:solidFill>
                <a:latin typeface="Arial"/>
                <a:ea typeface="Arial"/>
                <a:cs typeface="Arial"/>
              </a:defRPr>
            </a:def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10 core features | 41 candidates | 3 expanding-window folds | 123 fold fits</a:t>
            </a:r>
          </a:p>
        </p:txBody>
      </p:sp>
      <p:sp>
        <p:nvSpPr>
          <p:cNvPr id="3" name="">
            <a:extLst xmlns:a="http://schemas.openxmlformats.org/drawingml/2006/main">
              <a:ext uri="{FF2B5EF4-FFF2-40B4-BE49-F238E27FC236}">
                <a16:creationId xmlns:a16="http://schemas.microsoft.com/office/drawing/2014/main" id="{F96D9673-C19C-4765-9864-7D2E786BD95B}"/>
              </a:ext>
            </a:extLst>
          </p:cNvPr>
          <p:cNvSpPr>
            <a:spLocks xmlns:a="http://schemas.openxmlformats.org/drawingml/2006/main" noGrp="1"/>
          </p:cNvSpPr>
          <p:nvPr/>
        </p:nvSpPr>
        <p:spPr>
          <a:xfrm xmlns:a="http://schemas.openxmlformats.org/drawingml/2006/main">
            <a:off x="609600" y="6267450"/>
            <a:ext cx="10972800" cy="19050"/>
          </a:xfrm>
          <a:prstGeom xmlns:a="http://schemas.openxmlformats.org/drawingml/2006/main" prst="rect">
            <a:avLst/>
          </a:prstGeom>
          <a:solidFill xmlns:a="http://schemas.openxmlformats.org/drawingml/2006/main">
            <a:srgbClr val="D6E2E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29BC5A7-B1A8-4CCE-AD2A-D2422BFA52A4}"/>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DepoRank | COMP6140001 Data Mining</a:t>
            </a:r>
          </a:p>
        </p:txBody>
      </p:sp>
      <p:sp>
        <p:nvSpPr>
          <p:cNvPr id="5" name="">
            <a:extLst xmlns:a="http://schemas.openxmlformats.org/drawingml/2006/main">
              <a:ext uri="{FF2B5EF4-FFF2-40B4-BE49-F238E27FC236}">
                <a16:creationId xmlns:a16="http://schemas.microsoft.com/office/drawing/2014/main" id="{434C4136-0E33-44F3-8710-DE6A74EA85D4}"/>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EA496D82-F1CF-45CF-8AB8-B16C7387EA7B}"/>
              </a:ext>
            </a:extLst>
          </p:cNvPr>
          <p:cNvSpPr>
            <a:spLocks xmlns:a="http://schemas.openxmlformats.org/drawingml/2006/main" noGrp="1"/>
          </p:cNvSpPr>
          <p:nvPr/>
        </p:nvSpPr>
        <p:spPr>
          <a:xfrm xmlns:a="http://schemas.openxmlformats.org/drawingml/2006/main">
            <a:off x="628650" y="2085975"/>
            <a:ext cx="4933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F83"/>
                </a:solidFill>
                <a:latin typeface="Arial"/>
                <a:ea typeface="Arial"/>
                <a:cs typeface="Arial"/>
              </a:defRPr>
            </a:defPPr>
          </a:lstStyle>
          <a:p xmlns:a="http://schemas.openxmlformats.org/drawingml/2006/main">
            <a:pPr>
              <a:defRPr sz="2325" b="1">
                <a:solidFill>
                  <a:srgbClr val="087F83"/>
                </a:solidFill>
                <a:latin typeface="Arial"/>
                <a:ea typeface="Arial"/>
                <a:cs typeface="Arial"/>
              </a:defRPr>
            </a:pPr>
            <a:r>
              <a:rPr sz="2325" b="1">
                <a:solidFill>
                  <a:srgbClr val="087F83"/>
                </a:solidFill>
                <a:latin typeface="Arial"/>
                <a:ea typeface="Arial"/>
                <a:cs typeface="Arial"/>
              </a:rPr>
              <a:t>Leakage controls</a:t>
            </a:r>
          </a:p>
        </p:txBody>
      </p:sp>
      <p:sp>
        <p:nvSpPr>
          <p:cNvPr id="7" name="">
            <a:extLst xmlns:a="http://schemas.openxmlformats.org/drawingml/2006/main">
              <a:ext uri="{FF2B5EF4-FFF2-40B4-BE49-F238E27FC236}">
                <a16:creationId xmlns:a16="http://schemas.microsoft.com/office/drawing/2014/main" id="{19560590-1AAF-4A77-B25B-A462D1B36EFB}"/>
              </a:ext>
            </a:extLst>
          </p:cNvPr>
          <p:cNvSpPr>
            <a:spLocks xmlns:a="http://schemas.openxmlformats.org/drawingml/2006/main" noGrp="1"/>
          </p:cNvSpPr>
          <p:nvPr/>
        </p:nvSpPr>
        <p:spPr>
          <a:xfrm xmlns:a="http://schemas.openxmlformats.org/drawingml/2006/main">
            <a:off x="628650" y="2876550"/>
            <a:ext cx="493395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2D43"/>
                </a:solidFill>
                <a:latin typeface="Arial"/>
                <a:ea typeface="Arial"/>
                <a:cs typeface="Arial"/>
              </a:defRPr>
            </a:defPPr>
          </a:lstStyle>
          <a:p xmlns:a="http://schemas.openxmlformats.org/drawingml/2006/main">
            <a:pPr>
              <a:defRPr sz="2100" b="0">
                <a:solidFill>
                  <a:srgbClr val="172D43"/>
                </a:solidFill>
                <a:latin typeface="Arial"/>
                <a:ea typeface="Arial"/>
                <a:cs typeface="Arial"/>
              </a:defRPr>
            </a:pPr>
            <a:r>
              <a:rPr sz="2100" b="0">
                <a:solidFill>
                  <a:srgbClr val="172D43"/>
                </a:solidFill>
                <a:latin typeface="Arial"/>
                <a:ea typeface="Arial"/>
                <a:cs typeface="Arial"/>
              </a:rPr>
              <a:t>Exclude duration and campaign</a:t>
            </a:r>
          </a:p>
          <a:p xmlns:a="http://schemas.openxmlformats.org/drawingml/2006/main">
            <a:pPr>
              <a:defRPr sz="2100" b="0">
                <a:solidFill>
                  <a:srgbClr val="172D43"/>
                </a:solidFill>
                <a:latin typeface="Arial"/>
                <a:ea typeface="Arial"/>
                <a:cs typeface="Arial"/>
              </a:defRPr>
            </a:pPr>
            <a:r>
              <a:rPr sz="2100" b="0">
                <a:solidFill>
                  <a:srgbClr val="172D43"/>
                </a:solidFill>
                <a:latin typeface="Arial"/>
                <a:ea typeface="Arial"/>
                <a:cs typeface="Arial"/>
              </a:rPr>
              <a:t>Never fit preprocessing on future data</a:t>
            </a:r>
          </a:p>
          <a:p xmlns:a="http://schemas.openxmlformats.org/drawingml/2006/main">
            <a:pPr>
              <a:defRPr sz="2100" b="0">
                <a:solidFill>
                  <a:srgbClr val="172D43"/>
                </a:solidFill>
                <a:latin typeface="Arial"/>
                <a:ea typeface="Arial"/>
                <a:cs typeface="Arial"/>
              </a:defRPr>
            </a:pPr>
            <a:r>
              <a:rPr sz="2100" b="0">
                <a:solidFill>
                  <a:srgbClr val="172D43"/>
                </a:solidFill>
                <a:latin typeface="Arial"/>
                <a:ea typeface="Arial"/>
                <a:cs typeface="Arial"/>
              </a:rPr>
              <a:t>Handle pdays=999 as a sentinel</a:t>
            </a:r>
          </a:p>
          <a:p xmlns:a="http://schemas.openxmlformats.org/drawingml/2006/main">
            <a:pPr>
              <a:defRPr sz="2100" b="0">
                <a:solidFill>
                  <a:srgbClr val="172D43"/>
                </a:solidFill>
                <a:latin typeface="Arial"/>
                <a:ea typeface="Arial"/>
                <a:cs typeface="Arial"/>
              </a:defRPr>
            </a:pPr>
            <a:r>
              <a:rPr sz="2100" b="0">
                <a:solidFill>
                  <a:srgbClr val="172D43"/>
                </a:solidFill>
                <a:latin typeface="Arial"/>
                <a:ea typeface="Arial"/>
                <a:cs typeface="Arial"/>
              </a:rPr>
              <a:t>Keep row IDs out of the model</a:t>
            </a:r>
          </a:p>
        </p:txBody>
      </p:sp>
      <p:sp>
        <p:nvSpPr>
          <p:cNvPr id="8" name="">
            <a:extLst xmlns:a="http://schemas.openxmlformats.org/drawingml/2006/main">
              <a:ext uri="{FF2B5EF4-FFF2-40B4-BE49-F238E27FC236}">
                <a16:creationId xmlns:a16="http://schemas.microsoft.com/office/drawing/2014/main" id="{406A2656-A52B-453B-8466-74514C133584}"/>
              </a:ext>
            </a:extLst>
          </p:cNvPr>
          <p:cNvSpPr>
            <a:spLocks xmlns:a="http://schemas.openxmlformats.org/drawingml/2006/main" noGrp="1"/>
          </p:cNvSpPr>
          <p:nvPr/>
        </p:nvSpPr>
        <p:spPr>
          <a:xfrm xmlns:a="http://schemas.openxmlformats.org/drawingml/2006/main">
            <a:off x="6381750" y="2085975"/>
            <a:ext cx="5162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F83"/>
                </a:solidFill>
                <a:latin typeface="Arial"/>
                <a:ea typeface="Arial"/>
                <a:cs typeface="Arial"/>
              </a:defRPr>
            </a:defPPr>
          </a:lstStyle>
          <a:p xmlns:a="http://schemas.openxmlformats.org/drawingml/2006/main">
            <a:pPr>
              <a:defRPr sz="2325" b="1">
                <a:solidFill>
                  <a:srgbClr val="087F83"/>
                </a:solidFill>
                <a:latin typeface="Arial"/>
                <a:ea typeface="Arial"/>
                <a:cs typeface="Arial"/>
              </a:defRPr>
            </a:pPr>
            <a:r>
              <a:rPr sz="2325" b="1">
                <a:solidFill>
                  <a:srgbClr val="087F83"/>
                </a:solidFill>
                <a:latin typeface="Arial"/>
                <a:ea typeface="Arial"/>
                <a:cs typeface="Arial"/>
              </a:rPr>
              <a:t>Decision controls</a:t>
            </a:r>
          </a:p>
        </p:txBody>
      </p:sp>
      <p:sp>
        <p:nvSpPr>
          <p:cNvPr id="9" name="">
            <a:extLst xmlns:a="http://schemas.openxmlformats.org/drawingml/2006/main">
              <a:ext uri="{FF2B5EF4-FFF2-40B4-BE49-F238E27FC236}">
                <a16:creationId xmlns:a16="http://schemas.microsoft.com/office/drawing/2014/main" id="{4D1B72B5-BFF6-4683-91D1-91DAFC4D339F}"/>
              </a:ext>
            </a:extLst>
          </p:cNvPr>
          <p:cNvSpPr>
            <a:spLocks xmlns:a="http://schemas.openxmlformats.org/drawingml/2006/main" noGrp="1"/>
          </p:cNvSpPr>
          <p:nvPr/>
        </p:nvSpPr>
        <p:spPr>
          <a:xfrm xmlns:a="http://schemas.openxmlformats.org/drawingml/2006/main">
            <a:off x="6381750" y="2876550"/>
            <a:ext cx="516255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2D43"/>
                </a:solidFill>
                <a:latin typeface="Arial"/>
                <a:ea typeface="Arial"/>
                <a:cs typeface="Arial"/>
              </a:defRPr>
            </a:defPPr>
          </a:lstStyle>
          <a:p xmlns:a="http://schemas.openxmlformats.org/drawingml/2006/main">
            <a:pPr>
              <a:defRPr sz="2100" b="0">
                <a:solidFill>
                  <a:srgbClr val="172D43"/>
                </a:solidFill>
                <a:latin typeface="Arial"/>
                <a:ea typeface="Arial"/>
                <a:cs typeface="Arial"/>
              </a:defRPr>
            </a:pPr>
            <a:r>
              <a:rPr sz="2100" b="0">
                <a:solidFill>
                  <a:srgbClr val="172D43"/>
                </a:solidFill>
                <a:latin typeface="Arial"/>
                <a:ea typeface="Arial"/>
                <a:cs typeface="Arial"/>
              </a:rPr>
              <a:t>FrozenEstimator sigmoid calibration</a:t>
            </a:r>
          </a:p>
          <a:p xmlns:a="http://schemas.openxmlformats.org/drawingml/2006/main">
            <a:pPr>
              <a:defRPr sz="2100" b="0">
                <a:solidFill>
                  <a:srgbClr val="172D43"/>
                </a:solidFill>
                <a:latin typeface="Arial"/>
                <a:ea typeface="Arial"/>
                <a:cs typeface="Arial"/>
              </a:defRPr>
            </a:pPr>
            <a:r>
              <a:rPr sz="2100" b="0">
                <a:solidFill>
                  <a:srgbClr val="172D43"/>
                </a:solidFill>
                <a:latin typeface="Arial"/>
                <a:ea typeface="Arial"/>
                <a:cs typeface="Arial"/>
              </a:rPr>
              <a:t>Selection AP chooses the winner</a:t>
            </a:r>
          </a:p>
          <a:p xmlns:a="http://schemas.openxmlformats.org/drawingml/2006/main">
            <a:pPr>
              <a:defRPr sz="2100" b="0">
                <a:solidFill>
                  <a:srgbClr val="172D43"/>
                </a:solidFill>
                <a:latin typeface="Arial"/>
                <a:ea typeface="Arial"/>
                <a:cs typeface="Arial"/>
              </a:defRPr>
            </a:pPr>
            <a:r>
              <a:rPr sz="2100" b="0">
                <a:solidFill>
                  <a:srgbClr val="172D43"/>
                </a:solidFill>
                <a:latin typeface="Arial"/>
                <a:ea typeface="Arial"/>
                <a:cs typeface="Arial"/>
              </a:rPr>
              <a:t>Selection F1 chooses thresholds</a:t>
            </a:r>
          </a:p>
          <a:p xmlns:a="http://schemas.openxmlformats.org/drawingml/2006/main">
            <a:pPr>
              <a:defRPr sz="2100" b="0">
                <a:solidFill>
                  <a:srgbClr val="172D43"/>
                </a:solidFill>
                <a:latin typeface="Arial"/>
                <a:ea typeface="Arial"/>
                <a:cs typeface="Arial"/>
              </a:defRPr>
            </a:pPr>
            <a:r>
              <a:rPr sz="2100" b="0">
                <a:solidFill>
                  <a:srgbClr val="172D43"/>
                </a:solidFill>
                <a:latin typeface="Arial"/>
                <a:ea typeface="Arial"/>
                <a:cs typeface="Arial"/>
              </a:rPr>
              <a:t>Final test cannot select a new winner</a:t>
            </a:r>
          </a:p>
        </p:txBody>
      </p:sp>
      <p:sp>
        <p:nvSpPr>
          <p:cNvPr id="10" name="">
            <a:extLst xmlns:a="http://schemas.openxmlformats.org/drawingml/2006/main">
              <a:ext uri="{FF2B5EF4-FFF2-40B4-BE49-F238E27FC236}">
                <a16:creationId xmlns:a16="http://schemas.microsoft.com/office/drawing/2014/main" id="{839D9A2A-BF0B-4ED4-93CD-56A6076D4B8E}"/>
              </a:ext>
            </a:extLst>
          </p:cNvPr>
          <p:cNvSpPr>
            <a:spLocks xmlns:a="http://schemas.openxmlformats.org/drawingml/2006/main" noGrp="1"/>
          </p:cNvSpPr>
          <p:nvPr/>
        </p:nvSpPr>
        <p:spPr>
          <a:xfrm xmlns:a="http://schemas.openxmlformats.org/drawingml/2006/main">
            <a:off x="628650" y="5629275"/>
            <a:ext cx="1089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D43"/>
                </a:solidFill>
                <a:latin typeface="Arial"/>
                <a:ea typeface="Arial"/>
                <a:cs typeface="Arial"/>
              </a:defRPr>
            </a:defPPr>
          </a:lstStyle>
          <a:p xmlns:a="http://schemas.openxmlformats.org/drawingml/2006/main">
            <a:pPr>
              <a:defRPr sz="1875" b="1">
                <a:solidFill>
                  <a:srgbClr val="172D43"/>
                </a:solidFill>
                <a:latin typeface="Arial"/>
                <a:ea typeface="Arial"/>
                <a:cs typeface="Arial"/>
              </a:defRPr>
            </a:pPr>
            <a:r>
              <a:rPr sz="1875" b="1">
                <a:solidFill>
                  <a:srgbClr val="172D43"/>
                </a:solidFill>
                <a:latin typeface="Arial"/>
                <a:ea typeface="Arial"/>
                <a:cs typeface="Arial"/>
              </a:rPr>
              <a:t>A threshold label does not determine the top-K contact quota.</a:t>
            </a:r>
          </a:p>
        </p:txBody>
      </p:sp>
    </p:spTree>
    <p:extLst>
      <p:ext uri="{BB962C8B-B14F-4D97-AF65-F5344CB8AC3E}">
        <p14:creationId xmlns:p14="http://schemas.microsoft.com/office/powerpoint/2010/main" val="57658003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63A382-B725-4FA0-8760-8F7129BC691E}"/>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D43"/>
                </a:solidFill>
                <a:latin typeface="Arial"/>
                <a:ea typeface="Arial"/>
                <a:cs typeface="Arial"/>
              </a:defRPr>
            </a:defPPr>
          </a:lstStyle>
          <a:p xmlns:a="http://schemas.openxmlformats.org/drawingml/2006/main">
            <a:pPr>
              <a:defRPr sz="3000" b="1">
                <a:solidFill>
                  <a:srgbClr val="172D43"/>
                </a:solidFill>
                <a:latin typeface="Arial"/>
                <a:ea typeface="Arial"/>
                <a:cs typeface="Arial"/>
              </a:defRPr>
            </a:pPr>
            <a:r>
              <a:rPr sz="3000" b="1">
                <a:solidFill>
                  <a:srgbClr val="172D43"/>
                </a:solidFill>
                <a:latin typeface="Arial"/>
                <a:ea typeface="Arial"/>
                <a:cs typeface="Arial"/>
              </a:rPr>
              <a:t>GaussianNB wins before test results are opened</a:t>
            </a:r>
          </a:p>
        </p:txBody>
      </p:sp>
      <p:sp>
        <p:nvSpPr>
          <p:cNvPr id="2" name="">
            <a:extLst xmlns:a="http://schemas.openxmlformats.org/drawingml/2006/main">
              <a:ext uri="{FF2B5EF4-FFF2-40B4-BE49-F238E27FC236}">
                <a16:creationId xmlns:a16="http://schemas.microsoft.com/office/drawing/2014/main" id="{9CB4AE52-2248-490A-B95E-46773A2F248A}"/>
              </a:ext>
            </a:extLst>
          </p:cNvPr>
          <p:cNvSpPr>
            <a:spLocks xmlns:a="http://schemas.openxmlformats.org/drawingml/2006/main" noGrp="1"/>
          </p:cNvSpPr>
          <p:nvPr/>
        </p:nvSpPr>
        <p:spPr>
          <a:xfrm xmlns:a="http://schemas.openxmlformats.org/drawingml/2006/main">
            <a:off x="628650" y="11906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36779"/>
                </a:solidFill>
                <a:latin typeface="Arial"/>
                <a:ea typeface="Arial"/>
                <a:cs typeface="Arial"/>
              </a:defRPr>
            </a:def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Selection AP is the declared primary metric | GaussianNB threshold fixed at 0.09</a:t>
            </a:r>
          </a:p>
        </p:txBody>
      </p:sp>
      <p:sp>
        <p:nvSpPr>
          <p:cNvPr id="3" name="">
            <a:extLst xmlns:a="http://schemas.openxmlformats.org/drawingml/2006/main">
              <a:ext uri="{FF2B5EF4-FFF2-40B4-BE49-F238E27FC236}">
                <a16:creationId xmlns:a16="http://schemas.microsoft.com/office/drawing/2014/main" id="{B582075D-70E6-4621-B751-5C08DEDE0056}"/>
              </a:ext>
            </a:extLst>
          </p:cNvPr>
          <p:cNvSpPr>
            <a:spLocks xmlns:a="http://schemas.openxmlformats.org/drawingml/2006/main" noGrp="1"/>
          </p:cNvSpPr>
          <p:nvPr/>
        </p:nvSpPr>
        <p:spPr>
          <a:xfrm xmlns:a="http://schemas.openxmlformats.org/drawingml/2006/main">
            <a:off x="609600" y="6267450"/>
            <a:ext cx="10972800" cy="19050"/>
          </a:xfrm>
          <a:prstGeom xmlns:a="http://schemas.openxmlformats.org/drawingml/2006/main" prst="rect">
            <a:avLst/>
          </a:prstGeom>
          <a:solidFill xmlns:a="http://schemas.openxmlformats.org/drawingml/2006/main">
            <a:srgbClr val="D6E2E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AA7C01-4957-4E7D-83C8-E0F48F7CA308}"/>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DepoRank | COMP6140001 Data Mining</a:t>
            </a:r>
          </a:p>
        </p:txBody>
      </p:sp>
      <p:sp>
        <p:nvSpPr>
          <p:cNvPr id="5" name="">
            <a:extLst xmlns:a="http://schemas.openxmlformats.org/drawingml/2006/main">
              <a:ext uri="{FF2B5EF4-FFF2-40B4-BE49-F238E27FC236}">
                <a16:creationId xmlns:a16="http://schemas.microsoft.com/office/drawing/2014/main" id="{1C3E24C8-2C7F-4712-9EA1-D2E4C8446CF9}"/>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09</a:t>
            </a:r>
          </a:p>
        </p:txBody>
      </p:sp>
      <p:graphicFrame>
        <p:nvGraphicFramePr>
          <p:cNvPr id="6" name="Chart">
            <a:extLst xmlns:a="http://schemas.openxmlformats.org/drawingml/2006/main">
              <a:ext uri="{FF2B5EF4-FFF2-40B4-BE49-F238E27FC236}">
                <a16:creationId xmlns:a16="http://schemas.microsoft.com/office/drawing/2014/main" id="{801ABED7-AF39-42C9-885D-FD3D55E193FA}"/>
              </a:ext>
            </a:extLst>
          </p:cNvPr>
          <p:cNvGraphicFramePr/>
          <p:nvPr/>
        </p:nvGraphicFramePr>
        <p:xfrm>
          <a:off xmlns:a="http://schemas.openxmlformats.org/drawingml/2006/main" x="790575" y="2028825"/>
          <a:ext xmlns:a="http://schemas.openxmlformats.org/drawingml/2006/main" cx="10467975" cy="3343275"/>
        </p:xfrm>
        <a:graphic xmlns:a="http://schemas.openxmlformats.org/drawingml/2006/main">
          <a:graphicData uri="http://schemas.openxmlformats.org/drawingml/2006/chart">
            <c:chart xmlns:r="http://schemas.openxmlformats.org/officeDocument/2006/relationships" xmlns:c="http://schemas.openxmlformats.org/drawingml/2006/chart" r:id="R7ed3de0b1bbb498d"/>
          </a:graphicData>
        </a:graphic>
      </p:graphicFrame>
      <p:sp>
        <p:nvSpPr>
          <p:cNvPr id="7" name="">
            <a:extLst xmlns:a="http://schemas.openxmlformats.org/drawingml/2006/main">
              <a:ext uri="{FF2B5EF4-FFF2-40B4-BE49-F238E27FC236}">
                <a16:creationId xmlns:a16="http://schemas.microsoft.com/office/drawing/2014/main" id="{FBBEB267-CB07-4171-ADF0-72CAB9CB70F5}"/>
              </a:ext>
            </a:extLst>
          </p:cNvPr>
          <p:cNvSpPr>
            <a:spLocks xmlns:a="http://schemas.openxmlformats.org/drawingml/2006/main" noGrp="1"/>
          </p:cNvSpPr>
          <p:nvPr/>
        </p:nvSpPr>
        <p:spPr>
          <a:xfrm xmlns:a="http://schemas.openxmlformats.org/drawingml/2006/main">
            <a:off x="628650" y="56959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36779"/>
                </a:solidFill>
                <a:latin typeface="Arial"/>
                <a:ea typeface="Arial"/>
                <a:cs typeface="Arial"/>
              </a:defRPr>
            </a:def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The selection lock pins the winner, thresholds, models, and dataset/config hashes.</a:t>
            </a:r>
          </a:p>
        </p:txBody>
      </p:sp>
    </p:spTree>
    <p:extLst>
      <p:ext uri="{BB962C8B-B14F-4D97-AF65-F5344CB8AC3E}">
        <p14:creationId xmlns:p14="http://schemas.microsoft.com/office/powerpoint/2010/main" val="53804880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7339309-C555-41AF-A692-D32CCE30DFCD}"/>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D43"/>
                </a:solidFill>
                <a:latin typeface="Arial"/>
                <a:ea typeface="Arial"/>
                <a:cs typeface="Arial"/>
              </a:defRPr>
            </a:defPPr>
          </a:lstStyle>
          <a:p xmlns:a="http://schemas.openxmlformats.org/drawingml/2006/main">
            <a:pPr>
              <a:defRPr sz="3000" b="1">
                <a:solidFill>
                  <a:srgbClr val="172D43"/>
                </a:solidFill>
                <a:latin typeface="Arial"/>
                <a:ea typeface="Arial"/>
                <a:cs typeface="Arial"/>
              </a:defRPr>
            </a:pPr>
            <a:r>
              <a:rPr sz="3000" b="1">
                <a:solidFill>
                  <a:srgbClr val="172D43"/>
                </a:solidFill>
                <a:latin typeface="Arial"/>
                <a:ea typeface="Arial"/>
                <a:cs typeface="Arial"/>
              </a:rPr>
              <a:t>Final test results show different tradeoffs</a:t>
            </a:r>
          </a:p>
        </p:txBody>
      </p:sp>
      <p:sp>
        <p:nvSpPr>
          <p:cNvPr id="2" name="">
            <a:extLst xmlns:a="http://schemas.openxmlformats.org/drawingml/2006/main">
              <a:ext uri="{FF2B5EF4-FFF2-40B4-BE49-F238E27FC236}">
                <a16:creationId xmlns:a16="http://schemas.microsoft.com/office/drawing/2014/main" id="{2898A3EA-AC1A-46AB-B4E8-091C4F24FB96}"/>
              </a:ext>
            </a:extLst>
          </p:cNvPr>
          <p:cNvSpPr>
            <a:spLocks xmlns:a="http://schemas.openxmlformats.org/drawingml/2006/main" noGrp="1"/>
          </p:cNvSpPr>
          <p:nvPr/>
        </p:nvSpPr>
        <p:spPr>
          <a:xfrm xmlns:a="http://schemas.openxmlformats.org/drawingml/2006/main">
            <a:off x="628650" y="11906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36779"/>
                </a:solidFill>
                <a:latin typeface="Arial"/>
                <a:ea typeface="Arial"/>
                <a:cs typeface="Arial"/>
              </a:defRPr>
            </a:def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8,238 observations | K=824 | Thresholds fixed on selection | No model reselection</a:t>
            </a:r>
          </a:p>
        </p:txBody>
      </p:sp>
      <p:sp>
        <p:nvSpPr>
          <p:cNvPr id="3" name="">
            <a:extLst xmlns:a="http://schemas.openxmlformats.org/drawingml/2006/main">
              <a:ext uri="{FF2B5EF4-FFF2-40B4-BE49-F238E27FC236}">
                <a16:creationId xmlns:a16="http://schemas.microsoft.com/office/drawing/2014/main" id="{1B49A2A1-EADD-408F-8D8C-26131D424278}"/>
              </a:ext>
            </a:extLst>
          </p:cNvPr>
          <p:cNvSpPr>
            <a:spLocks xmlns:a="http://schemas.openxmlformats.org/drawingml/2006/main" noGrp="1"/>
          </p:cNvSpPr>
          <p:nvPr/>
        </p:nvSpPr>
        <p:spPr>
          <a:xfrm xmlns:a="http://schemas.openxmlformats.org/drawingml/2006/main">
            <a:off x="609600" y="6267450"/>
            <a:ext cx="10972800" cy="19050"/>
          </a:xfrm>
          <a:prstGeom xmlns:a="http://schemas.openxmlformats.org/drawingml/2006/main" prst="rect">
            <a:avLst/>
          </a:prstGeom>
          <a:solidFill xmlns:a="http://schemas.openxmlformats.org/drawingml/2006/main">
            <a:srgbClr val="D6E2E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30D7D97-EF5F-4AF1-AAA7-9F4A5C5EB980}"/>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DepoRank | COMP6140001 Data Mining</a:t>
            </a:r>
          </a:p>
        </p:txBody>
      </p:sp>
      <p:sp>
        <p:nvSpPr>
          <p:cNvPr id="5" name="">
            <a:extLst xmlns:a="http://schemas.openxmlformats.org/drawingml/2006/main">
              <a:ext uri="{FF2B5EF4-FFF2-40B4-BE49-F238E27FC236}">
                <a16:creationId xmlns:a16="http://schemas.microsoft.com/office/drawing/2014/main" id="{DAEE6491-D543-4F15-943F-E124D5FDAFB1}"/>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10</a:t>
            </a:r>
          </a:p>
        </p:txBody>
      </p:sp>
      <p:graphicFrame>
        <p:nvGraphicFramePr>
          <p:cNvPr id="6" name="">
            <a:extLst xmlns:a="http://schemas.openxmlformats.org/drawingml/2006/main">
              <a:ext uri="{FF2B5EF4-FFF2-40B4-BE49-F238E27FC236}">
                <a16:creationId xmlns:a16="http://schemas.microsoft.com/office/drawing/2014/main" id="{425A9DFB-AB48-47FC-87F8-39ACCE7FA2E8}"/>
              </a:ext>
            </a:extLst>
          </p:cNvPr>
          <p:cNvGraphicFramePr/>
          <p:nvPr/>
        </p:nvGraphicFramePr>
        <p:xfrm>
          <a:off xmlns:a="http://schemas.openxmlformats.org/drawingml/2006/main" x="609600" y="2057400"/>
          <a:ext xmlns:a="http://schemas.openxmlformats.org/drawingml/2006/main" cx="10972800" cy="3343275"/>
        </p:xfrm>
        <a:graphic xmlns:a="http://schemas.openxmlformats.org/drawingml/2006/main">
          <a:graphicData uri="http://schemas.openxmlformats.org/drawingml/2006/table">
            <a:tbl>
              <a:tblPr/>
              <a:tblGrid>
                <a:gridCol w="2914650"/>
                <a:gridCol w="1343025"/>
                <a:gridCol w="1343025"/>
                <a:gridCol w="1343025"/>
                <a:gridCol w="1343025"/>
                <a:gridCol w="1343025"/>
                <a:gridCol w="1343025"/>
              </a:tblGrid>
              <a:tr h="557213">
                <a:tc>
                  <a:txBody>
                    <a:bodyPr/>
                    <a:lstStyle/>
                    <a:p>
                      <a:r>
                        <a:rPr sz="1575" b="1">
                          <a:solidFill>
                            <a:srgbClr val="FFFFFF"/>
                          </a:solidFill>
                          <a:latin typeface="Arial"/>
                          <a:ea typeface="Arial"/>
                          <a:cs typeface="Arial"/>
                        </a:rPr>
                        <a:t>Model</a:t>
                      </a:r>
                    </a:p>
                  </a:txBody>
                  <a:tcPr marL="91440" marR="91440" marT="45720" marB="45720">
                    <a:solidFill>
                      <a:srgbClr val="172D43"/>
                    </a:solidFill>
                  </a:tcPr>
                </a:tc>
                <a:tc>
                  <a:txBody>
                    <a:bodyPr/>
                    <a:lstStyle/>
                    <a:p>
                      <a:r>
                        <a:rPr sz="1575" b="1">
                          <a:solidFill>
                            <a:srgbClr val="FFFFFF"/>
                          </a:solidFill>
                          <a:latin typeface="Arial"/>
                          <a:ea typeface="Arial"/>
                          <a:cs typeface="Arial"/>
                        </a:rPr>
                        <a:t>AP</a:t>
                      </a:r>
                    </a:p>
                  </a:txBody>
                  <a:tcPr marL="91440" marR="91440" marT="45720" marB="45720">
                    <a:solidFill>
                      <a:srgbClr val="172D43"/>
                    </a:solidFill>
                  </a:tcPr>
                </a:tc>
                <a:tc>
                  <a:txBody>
                    <a:bodyPr/>
                    <a:lstStyle/>
                    <a:p>
                      <a:r>
                        <a:rPr sz="1575" b="1">
                          <a:solidFill>
                            <a:srgbClr val="FFFFFF"/>
                          </a:solidFill>
                          <a:latin typeface="Arial"/>
                          <a:ea typeface="Arial"/>
                          <a:cs typeface="Arial"/>
                        </a:rPr>
                        <a:t>ROC-AUC</a:t>
                      </a:r>
                    </a:p>
                  </a:txBody>
                  <a:tcPr marL="91440" marR="91440" marT="45720" marB="45720">
                    <a:solidFill>
                      <a:srgbClr val="172D43"/>
                    </a:solidFill>
                  </a:tcPr>
                </a:tc>
                <a:tc>
                  <a:txBody>
                    <a:bodyPr/>
                    <a:lstStyle/>
                    <a:p>
                      <a:r>
                        <a:rPr sz="1575" b="1">
                          <a:solidFill>
                            <a:srgbClr val="FFFFFF"/>
                          </a:solidFill>
                          <a:latin typeface="Arial"/>
                          <a:ea typeface="Arial"/>
                          <a:cs typeface="Arial"/>
                        </a:rPr>
                        <a:t>P@K</a:t>
                      </a:r>
                    </a:p>
                  </a:txBody>
                  <a:tcPr marL="91440" marR="91440" marT="45720" marB="45720">
                    <a:solidFill>
                      <a:srgbClr val="172D43"/>
                    </a:solidFill>
                  </a:tcPr>
                </a:tc>
                <a:tc>
                  <a:txBody>
                    <a:bodyPr/>
                    <a:lstStyle/>
                    <a:p>
                      <a:r>
                        <a:rPr sz="1575" b="1">
                          <a:solidFill>
                            <a:srgbClr val="FFFFFF"/>
                          </a:solidFill>
                          <a:latin typeface="Arial"/>
                          <a:ea typeface="Arial"/>
                          <a:cs typeface="Arial"/>
                        </a:rPr>
                        <a:t>R@K</a:t>
                      </a:r>
                    </a:p>
                  </a:txBody>
                  <a:tcPr marL="91440" marR="91440" marT="45720" marB="45720">
                    <a:solidFill>
                      <a:srgbClr val="172D43"/>
                    </a:solidFill>
                  </a:tcPr>
                </a:tc>
                <a:tc>
                  <a:txBody>
                    <a:bodyPr/>
                    <a:lstStyle/>
                    <a:p>
                      <a:r>
                        <a:rPr sz="1575" b="1">
                          <a:solidFill>
                            <a:srgbClr val="FFFFFF"/>
                          </a:solidFill>
                          <a:latin typeface="Arial"/>
                          <a:ea typeface="Arial"/>
                          <a:cs typeface="Arial"/>
                        </a:rPr>
                        <a:t>Lift@K</a:t>
                      </a:r>
                    </a:p>
                  </a:txBody>
                  <a:tcPr marL="91440" marR="91440" marT="45720" marB="45720">
                    <a:solidFill>
                      <a:srgbClr val="172D43"/>
                    </a:solidFill>
                  </a:tcPr>
                </a:tc>
                <a:tc>
                  <a:txBody>
                    <a:bodyPr/>
                    <a:lstStyle/>
                    <a:p>
                      <a:r>
                        <a:rPr sz="1575" b="1">
                          <a:solidFill>
                            <a:srgbClr val="FFFFFF"/>
                          </a:solidFill>
                          <a:latin typeface="Arial"/>
                          <a:ea typeface="Arial"/>
                          <a:cs typeface="Arial"/>
                        </a:rPr>
                        <a:t>Brier</a:t>
                      </a:r>
                    </a:p>
                  </a:txBody>
                  <a:tcPr marL="91440" marR="91440" marT="45720" marB="45720">
                    <a:solidFill>
                      <a:srgbClr val="172D43"/>
                    </a:solidFill>
                  </a:tcPr>
                </a:tc>
              </a:tr>
              <a:tr h="557213">
                <a:tc>
                  <a:txBody>
                    <a:bodyPr/>
                    <a:lstStyle/>
                    <a:p>
                      <a:r>
                        <a:rPr sz="1575" b="0">
                          <a:solidFill>
                            <a:srgbClr val="172D43"/>
                          </a:solidFill>
                          <a:latin typeface="Arial"/>
                          <a:ea typeface="Arial"/>
                          <a:cs typeface="Arial"/>
                        </a:rPr>
                        <a:t>Logistic Regression</a:t>
                      </a:r>
                    </a:p>
                  </a:txBody>
                  <a:tcPr marL="91440" marR="91440" marT="45720" marB="45720">
                    <a:solidFill>
                      <a:srgbClr val="F0F5F6"/>
                    </a:solidFill>
                  </a:tcPr>
                </a:tc>
                <a:tc>
                  <a:txBody>
                    <a:bodyPr/>
                    <a:lstStyle/>
                    <a:p>
                      <a:r>
                        <a:rPr sz="1575" b="0">
                          <a:solidFill>
                            <a:srgbClr val="172D43"/>
                          </a:solidFill>
                          <a:latin typeface="Arial"/>
                          <a:ea typeface="Arial"/>
                          <a:cs typeface="Arial"/>
                        </a:rPr>
                        <a:t>0.4130</a:t>
                      </a:r>
                    </a:p>
                  </a:txBody>
                  <a:tcPr marL="91440" marR="91440" marT="45720" marB="45720">
                    <a:solidFill>
                      <a:srgbClr val="F0F5F6"/>
                    </a:solidFill>
                  </a:tcPr>
                </a:tc>
                <a:tc>
                  <a:txBody>
                    <a:bodyPr/>
                    <a:lstStyle/>
                    <a:p>
                      <a:r>
                        <a:rPr sz="1575" b="0">
                          <a:solidFill>
                            <a:srgbClr val="172D43"/>
                          </a:solidFill>
                          <a:latin typeface="Arial"/>
                          <a:ea typeface="Arial"/>
                          <a:cs typeface="Arial"/>
                        </a:rPr>
                        <a:t>0.5364</a:t>
                      </a:r>
                    </a:p>
                  </a:txBody>
                  <a:tcPr marL="91440" marR="91440" marT="45720" marB="45720">
                    <a:solidFill>
                      <a:srgbClr val="F0F5F6"/>
                    </a:solidFill>
                  </a:tcPr>
                </a:tc>
                <a:tc>
                  <a:txBody>
                    <a:bodyPr/>
                    <a:lstStyle/>
                    <a:p>
                      <a:r>
                        <a:rPr sz="1575" b="0">
                          <a:solidFill>
                            <a:srgbClr val="172D43"/>
                          </a:solidFill>
                          <a:latin typeface="Arial"/>
                          <a:ea typeface="Arial"/>
                          <a:cs typeface="Arial"/>
                        </a:rPr>
                        <a:t>0.6517</a:t>
                      </a:r>
                    </a:p>
                  </a:txBody>
                  <a:tcPr marL="91440" marR="91440" marT="45720" marB="45720">
                    <a:solidFill>
                      <a:srgbClr val="F0F5F6"/>
                    </a:solidFill>
                  </a:tcPr>
                </a:tc>
                <a:tc>
                  <a:txBody>
                    <a:bodyPr/>
                    <a:lstStyle/>
                    <a:p>
                      <a:r>
                        <a:rPr sz="1575" b="0">
                          <a:solidFill>
                            <a:srgbClr val="172D43"/>
                          </a:solidFill>
                          <a:latin typeface="Arial"/>
                          <a:ea typeface="Arial"/>
                          <a:cs typeface="Arial"/>
                        </a:rPr>
                        <a:t>0.2114</a:t>
                      </a:r>
                    </a:p>
                  </a:txBody>
                  <a:tcPr marL="91440" marR="91440" marT="45720" marB="45720">
                    <a:solidFill>
                      <a:srgbClr val="F0F5F6"/>
                    </a:solidFill>
                  </a:tcPr>
                </a:tc>
                <a:tc>
                  <a:txBody>
                    <a:bodyPr/>
                    <a:lstStyle/>
                    <a:p>
                      <a:r>
                        <a:rPr sz="1575" b="0">
                          <a:solidFill>
                            <a:srgbClr val="172D43"/>
                          </a:solidFill>
                          <a:latin typeface="Arial"/>
                          <a:ea typeface="Arial"/>
                          <a:cs typeface="Arial"/>
                        </a:rPr>
                        <a:t>2.1137</a:t>
                      </a:r>
                    </a:p>
                  </a:txBody>
                  <a:tcPr marL="91440" marR="91440" marT="45720" marB="45720">
                    <a:solidFill>
                      <a:srgbClr val="F0F5F6"/>
                    </a:solidFill>
                  </a:tcPr>
                </a:tc>
                <a:tc>
                  <a:txBody>
                    <a:bodyPr/>
                    <a:lstStyle/>
                    <a:p>
                      <a:r>
                        <a:rPr sz="1575" b="0">
                          <a:solidFill>
                            <a:srgbClr val="172D43"/>
                          </a:solidFill>
                          <a:latin typeface="Arial"/>
                          <a:ea typeface="Arial"/>
                          <a:cs typeface="Arial"/>
                        </a:rPr>
                        <a:t>0.2455</a:t>
                      </a:r>
                    </a:p>
                  </a:txBody>
                  <a:tcPr marL="91440" marR="91440" marT="45720" marB="45720">
                    <a:solidFill>
                      <a:srgbClr val="F0F5F6"/>
                    </a:solidFill>
                  </a:tcPr>
                </a:tc>
              </a:tr>
              <a:tr h="557213">
                <a:tc>
                  <a:txBody>
                    <a:bodyPr/>
                    <a:lstStyle/>
                    <a:p>
                      <a:r>
                        <a:rPr sz="1575" b="0">
                          <a:solidFill>
                            <a:srgbClr val="172D43"/>
                          </a:solidFill>
                          <a:latin typeface="Arial"/>
                          <a:ea typeface="Arial"/>
                          <a:cs typeface="Arial"/>
                        </a:rPr>
                        <a:t>Gaussian Naive Bayes</a:t>
                      </a:r>
                    </a:p>
                  </a:txBody>
                  <a:tcPr marL="91440" marR="91440" marT="45720" marB="45720">
                    <a:solidFill>
                      <a:srgbClr val="FFFFFF"/>
                    </a:solidFill>
                  </a:tcPr>
                </a:tc>
                <a:tc>
                  <a:txBody>
                    <a:bodyPr/>
                    <a:lstStyle/>
                    <a:p>
                      <a:r>
                        <a:rPr sz="1575" b="0">
                          <a:solidFill>
                            <a:srgbClr val="172D43"/>
                          </a:solidFill>
                          <a:latin typeface="Arial"/>
                          <a:ea typeface="Arial"/>
                          <a:cs typeface="Arial"/>
                        </a:rPr>
                        <a:t>0.5076</a:t>
                      </a:r>
                    </a:p>
                  </a:txBody>
                  <a:tcPr marL="91440" marR="91440" marT="45720" marB="45720">
                    <a:solidFill>
                      <a:srgbClr val="FFFFFF"/>
                    </a:solidFill>
                  </a:tcPr>
                </a:tc>
                <a:tc>
                  <a:txBody>
                    <a:bodyPr/>
                    <a:lstStyle/>
                    <a:p>
                      <a:r>
                        <a:rPr sz="1575" b="0">
                          <a:solidFill>
                            <a:srgbClr val="172D43"/>
                          </a:solidFill>
                          <a:latin typeface="Arial"/>
                          <a:ea typeface="Arial"/>
                          <a:cs typeface="Arial"/>
                        </a:rPr>
                        <a:t>0.6667</a:t>
                      </a:r>
                    </a:p>
                  </a:txBody>
                  <a:tcPr marL="91440" marR="91440" marT="45720" marB="45720">
                    <a:solidFill>
                      <a:srgbClr val="FFFFFF"/>
                    </a:solidFill>
                  </a:tcPr>
                </a:tc>
                <a:tc>
                  <a:txBody>
                    <a:bodyPr/>
                    <a:lstStyle/>
                    <a:p>
                      <a:r>
                        <a:rPr sz="1575" b="0">
                          <a:solidFill>
                            <a:srgbClr val="172D43"/>
                          </a:solidFill>
                          <a:latin typeface="Arial"/>
                          <a:ea typeface="Arial"/>
                          <a:cs typeface="Arial"/>
                        </a:rPr>
                        <a:t>0.6214</a:t>
                      </a:r>
                    </a:p>
                  </a:txBody>
                  <a:tcPr marL="91440" marR="91440" marT="45720" marB="45720">
                    <a:solidFill>
                      <a:srgbClr val="FFFFFF"/>
                    </a:solidFill>
                  </a:tcPr>
                </a:tc>
                <a:tc>
                  <a:txBody>
                    <a:bodyPr/>
                    <a:lstStyle/>
                    <a:p>
                      <a:r>
                        <a:rPr sz="1575" b="0">
                          <a:solidFill>
                            <a:srgbClr val="172D43"/>
                          </a:solidFill>
                          <a:latin typeface="Arial"/>
                          <a:ea typeface="Arial"/>
                          <a:cs typeface="Arial"/>
                        </a:rPr>
                        <a:t>0.2016</a:t>
                      </a:r>
                    </a:p>
                  </a:txBody>
                  <a:tcPr marL="91440" marR="91440" marT="45720" marB="45720">
                    <a:solidFill>
                      <a:srgbClr val="FFFFFF"/>
                    </a:solidFill>
                  </a:tcPr>
                </a:tc>
                <a:tc>
                  <a:txBody>
                    <a:bodyPr/>
                    <a:lstStyle/>
                    <a:p>
                      <a:r>
                        <a:rPr sz="1575" b="0">
                          <a:solidFill>
                            <a:srgbClr val="172D43"/>
                          </a:solidFill>
                          <a:latin typeface="Arial"/>
                          <a:ea typeface="Arial"/>
                          <a:cs typeface="Arial"/>
                        </a:rPr>
                        <a:t>2.0153</a:t>
                      </a:r>
                    </a:p>
                  </a:txBody>
                  <a:tcPr marL="91440" marR="91440" marT="45720" marB="45720">
                    <a:solidFill>
                      <a:srgbClr val="FFFFFF"/>
                    </a:solidFill>
                  </a:tcPr>
                </a:tc>
                <a:tc>
                  <a:txBody>
                    <a:bodyPr/>
                    <a:lstStyle/>
                    <a:p>
                      <a:r>
                        <a:rPr sz="1575" b="0">
                          <a:solidFill>
                            <a:srgbClr val="172D43"/>
                          </a:solidFill>
                          <a:latin typeface="Arial"/>
                          <a:ea typeface="Arial"/>
                          <a:cs typeface="Arial"/>
                        </a:rPr>
                        <a:t>0.2546</a:t>
                      </a:r>
                    </a:p>
                  </a:txBody>
                  <a:tcPr marL="91440" marR="91440" marT="45720" marB="45720">
                    <a:solidFill>
                      <a:srgbClr val="FFFFFF"/>
                    </a:solidFill>
                  </a:tcPr>
                </a:tc>
              </a:tr>
              <a:tr h="557213">
                <a:tc>
                  <a:txBody>
                    <a:bodyPr/>
                    <a:lstStyle/>
                    <a:p>
                      <a:r>
                        <a:rPr sz="1575" b="0">
                          <a:solidFill>
                            <a:srgbClr val="172D43"/>
                          </a:solidFill>
                          <a:latin typeface="Arial"/>
                          <a:ea typeface="Arial"/>
                          <a:cs typeface="Arial"/>
                        </a:rPr>
                        <a:t>Decision Tree</a:t>
                      </a:r>
                    </a:p>
                  </a:txBody>
                  <a:tcPr marL="91440" marR="91440" marT="45720" marB="45720">
                    <a:solidFill>
                      <a:srgbClr val="F0F5F6"/>
                    </a:solidFill>
                  </a:tcPr>
                </a:tc>
                <a:tc>
                  <a:txBody>
                    <a:bodyPr/>
                    <a:lstStyle/>
                    <a:p>
                      <a:r>
                        <a:rPr sz="1575" b="0">
                          <a:solidFill>
                            <a:srgbClr val="172D43"/>
                          </a:solidFill>
                          <a:latin typeface="Arial"/>
                          <a:ea typeface="Arial"/>
                          <a:cs typeface="Arial"/>
                        </a:rPr>
                        <a:t>0.3893</a:t>
                      </a:r>
                    </a:p>
                  </a:txBody>
                  <a:tcPr marL="91440" marR="91440" marT="45720" marB="45720">
                    <a:solidFill>
                      <a:srgbClr val="F0F5F6"/>
                    </a:solidFill>
                  </a:tcPr>
                </a:tc>
                <a:tc>
                  <a:txBody>
                    <a:bodyPr/>
                    <a:lstStyle/>
                    <a:p>
                      <a:r>
                        <a:rPr sz="1575" b="0">
                          <a:solidFill>
                            <a:srgbClr val="172D43"/>
                          </a:solidFill>
                          <a:latin typeface="Arial"/>
                          <a:ea typeface="Arial"/>
                          <a:cs typeface="Arial"/>
                        </a:rPr>
                        <a:t>0.5531</a:t>
                      </a:r>
                    </a:p>
                  </a:txBody>
                  <a:tcPr marL="91440" marR="91440" marT="45720" marB="45720">
                    <a:solidFill>
                      <a:srgbClr val="F0F5F6"/>
                    </a:solidFill>
                  </a:tcPr>
                </a:tc>
                <a:tc>
                  <a:txBody>
                    <a:bodyPr/>
                    <a:lstStyle/>
                    <a:p>
                      <a:r>
                        <a:rPr sz="1575" b="0">
                          <a:solidFill>
                            <a:srgbClr val="172D43"/>
                          </a:solidFill>
                          <a:latin typeface="Arial"/>
                          <a:ea typeface="Arial"/>
                          <a:cs typeface="Arial"/>
                        </a:rPr>
                        <a:t>0.4879</a:t>
                      </a:r>
                    </a:p>
                  </a:txBody>
                  <a:tcPr marL="91440" marR="91440" marT="45720" marB="45720">
                    <a:solidFill>
                      <a:srgbClr val="F0F5F6"/>
                    </a:solidFill>
                  </a:tcPr>
                </a:tc>
                <a:tc>
                  <a:txBody>
                    <a:bodyPr/>
                    <a:lstStyle/>
                    <a:p>
                      <a:r>
                        <a:rPr sz="1575" b="0">
                          <a:solidFill>
                            <a:srgbClr val="172D43"/>
                          </a:solidFill>
                          <a:latin typeface="Arial"/>
                          <a:ea typeface="Arial"/>
                          <a:cs typeface="Arial"/>
                        </a:rPr>
                        <a:t>0.1583</a:t>
                      </a:r>
                    </a:p>
                  </a:txBody>
                  <a:tcPr marL="91440" marR="91440" marT="45720" marB="45720">
                    <a:solidFill>
                      <a:srgbClr val="F0F5F6"/>
                    </a:solidFill>
                  </a:tcPr>
                </a:tc>
                <a:tc>
                  <a:txBody>
                    <a:bodyPr/>
                    <a:lstStyle/>
                    <a:p>
                      <a:r>
                        <a:rPr sz="1575" b="0">
                          <a:solidFill>
                            <a:srgbClr val="172D43"/>
                          </a:solidFill>
                          <a:latin typeface="Arial"/>
                          <a:ea typeface="Arial"/>
                          <a:cs typeface="Arial"/>
                        </a:rPr>
                        <a:t>1.5823</a:t>
                      </a:r>
                    </a:p>
                  </a:txBody>
                  <a:tcPr marL="91440" marR="91440" marT="45720" marB="45720">
                    <a:solidFill>
                      <a:srgbClr val="F0F5F6"/>
                    </a:solidFill>
                  </a:tcPr>
                </a:tc>
                <a:tc>
                  <a:txBody>
                    <a:bodyPr/>
                    <a:lstStyle/>
                    <a:p>
                      <a:r>
                        <a:rPr sz="1575" b="0">
                          <a:solidFill>
                            <a:srgbClr val="172D43"/>
                          </a:solidFill>
                          <a:latin typeface="Arial"/>
                          <a:ea typeface="Arial"/>
                          <a:cs typeface="Arial"/>
                        </a:rPr>
                        <a:t>0.2523</a:t>
                      </a:r>
                    </a:p>
                  </a:txBody>
                  <a:tcPr marL="91440" marR="91440" marT="45720" marB="45720">
                    <a:solidFill>
                      <a:srgbClr val="F0F5F6"/>
                    </a:solidFill>
                  </a:tcPr>
                </a:tc>
              </a:tr>
              <a:tr h="557213">
                <a:tc>
                  <a:txBody>
                    <a:bodyPr/>
                    <a:lstStyle/>
                    <a:p>
                      <a:r>
                        <a:rPr sz="1575" b="0">
                          <a:solidFill>
                            <a:srgbClr val="172D43"/>
                          </a:solidFill>
                          <a:latin typeface="Arial"/>
                          <a:ea typeface="Arial"/>
                          <a:cs typeface="Arial"/>
                        </a:rPr>
                        <a:t>Random Forest</a:t>
                      </a:r>
                    </a:p>
                  </a:txBody>
                  <a:tcPr marL="91440" marR="91440" marT="45720" marB="45720">
                    <a:solidFill>
                      <a:srgbClr val="FFFFFF"/>
                    </a:solidFill>
                  </a:tcPr>
                </a:tc>
                <a:tc>
                  <a:txBody>
                    <a:bodyPr/>
                    <a:lstStyle/>
                    <a:p>
                      <a:r>
                        <a:rPr sz="1575" b="0">
                          <a:solidFill>
                            <a:srgbClr val="172D43"/>
                          </a:solidFill>
                          <a:latin typeface="Arial"/>
                          <a:ea typeface="Arial"/>
                          <a:cs typeface="Arial"/>
                        </a:rPr>
                        <a:t>0.3415</a:t>
                      </a:r>
                    </a:p>
                  </a:txBody>
                  <a:tcPr marL="91440" marR="91440" marT="45720" marB="45720">
                    <a:solidFill>
                      <a:srgbClr val="FFFFFF"/>
                    </a:solidFill>
                  </a:tcPr>
                </a:tc>
                <a:tc>
                  <a:txBody>
                    <a:bodyPr/>
                    <a:lstStyle/>
                    <a:p>
                      <a:r>
                        <a:rPr sz="1575" b="0">
                          <a:solidFill>
                            <a:srgbClr val="172D43"/>
                          </a:solidFill>
                          <a:latin typeface="Arial"/>
                          <a:ea typeface="Arial"/>
                          <a:cs typeface="Arial"/>
                        </a:rPr>
                        <a:t>0.5769</a:t>
                      </a:r>
                    </a:p>
                  </a:txBody>
                  <a:tcPr marL="91440" marR="91440" marT="45720" marB="45720">
                    <a:solidFill>
                      <a:srgbClr val="FFFFFF"/>
                    </a:solidFill>
                  </a:tcPr>
                </a:tc>
                <a:tc>
                  <a:txBody>
                    <a:bodyPr/>
                    <a:lstStyle/>
                    <a:p>
                      <a:r>
                        <a:rPr sz="1575" b="0">
                          <a:solidFill>
                            <a:srgbClr val="172D43"/>
                          </a:solidFill>
                          <a:latin typeface="Arial"/>
                          <a:ea typeface="Arial"/>
                          <a:cs typeface="Arial"/>
                        </a:rPr>
                        <a:t>0.2852</a:t>
                      </a:r>
                    </a:p>
                  </a:txBody>
                  <a:tcPr marL="91440" marR="91440" marT="45720" marB="45720">
                    <a:solidFill>
                      <a:srgbClr val="FFFFFF"/>
                    </a:solidFill>
                  </a:tcPr>
                </a:tc>
                <a:tc>
                  <a:txBody>
                    <a:bodyPr/>
                    <a:lstStyle/>
                    <a:p>
                      <a:r>
                        <a:rPr sz="1575" b="0">
                          <a:solidFill>
                            <a:srgbClr val="172D43"/>
                          </a:solidFill>
                          <a:latin typeface="Arial"/>
                          <a:ea typeface="Arial"/>
                          <a:cs typeface="Arial"/>
                        </a:rPr>
                        <a:t>0.0925</a:t>
                      </a:r>
                    </a:p>
                  </a:txBody>
                  <a:tcPr marL="91440" marR="91440" marT="45720" marB="45720">
                    <a:solidFill>
                      <a:srgbClr val="FFFFFF"/>
                    </a:solidFill>
                  </a:tcPr>
                </a:tc>
                <a:tc>
                  <a:txBody>
                    <a:bodyPr/>
                    <a:lstStyle/>
                    <a:p>
                      <a:r>
                        <a:rPr sz="1575" b="0">
                          <a:solidFill>
                            <a:srgbClr val="172D43"/>
                          </a:solidFill>
                          <a:latin typeface="Arial"/>
                          <a:ea typeface="Arial"/>
                          <a:cs typeface="Arial"/>
                        </a:rPr>
                        <a:t>0.9250</a:t>
                      </a:r>
                    </a:p>
                  </a:txBody>
                  <a:tcPr marL="91440" marR="91440" marT="45720" marB="45720">
                    <a:solidFill>
                      <a:srgbClr val="FFFFFF"/>
                    </a:solidFill>
                  </a:tcPr>
                </a:tc>
                <a:tc>
                  <a:txBody>
                    <a:bodyPr/>
                    <a:lstStyle/>
                    <a:p>
                      <a:r>
                        <a:rPr sz="1575" b="0">
                          <a:solidFill>
                            <a:srgbClr val="172D43"/>
                          </a:solidFill>
                          <a:latin typeface="Arial"/>
                          <a:ea typeface="Arial"/>
                          <a:cs typeface="Arial"/>
                        </a:rPr>
                        <a:t>0.2558</a:t>
                      </a:r>
                    </a:p>
                  </a:txBody>
                  <a:tcPr marL="91440" marR="91440" marT="45720" marB="45720">
                    <a:solidFill>
                      <a:srgbClr val="FFFFFF"/>
                    </a:solidFill>
                  </a:tcPr>
                </a:tc>
              </a:tr>
              <a:tr h="557213">
                <a:tc>
                  <a:txBody>
                    <a:bodyPr/>
                    <a:lstStyle/>
                    <a:p>
                      <a:r>
                        <a:rPr sz="1575" b="0">
                          <a:solidFill>
                            <a:srgbClr val="172D43"/>
                          </a:solidFill>
                          <a:latin typeface="Arial"/>
                          <a:ea typeface="Arial"/>
                          <a:cs typeface="Arial"/>
                        </a:rPr>
                        <a:t>Gradient Boosting</a:t>
                      </a:r>
                    </a:p>
                  </a:txBody>
                  <a:tcPr marL="91440" marR="91440" marT="45720" marB="45720">
                    <a:solidFill>
                      <a:srgbClr val="F0F5F6"/>
                    </a:solidFill>
                  </a:tcPr>
                </a:tc>
                <a:tc>
                  <a:txBody>
                    <a:bodyPr/>
                    <a:lstStyle/>
                    <a:p>
                      <a:r>
                        <a:rPr sz="1575" b="0">
                          <a:solidFill>
                            <a:srgbClr val="172D43"/>
                          </a:solidFill>
                          <a:latin typeface="Arial"/>
                          <a:ea typeface="Arial"/>
                          <a:cs typeface="Arial"/>
                        </a:rPr>
                        <a:t>0.4012</a:t>
                      </a:r>
                    </a:p>
                  </a:txBody>
                  <a:tcPr marL="91440" marR="91440" marT="45720" marB="45720">
                    <a:solidFill>
                      <a:srgbClr val="F0F5F6"/>
                    </a:solidFill>
                  </a:tcPr>
                </a:tc>
                <a:tc>
                  <a:txBody>
                    <a:bodyPr/>
                    <a:lstStyle/>
                    <a:p>
                      <a:r>
                        <a:rPr sz="1575" b="0">
                          <a:solidFill>
                            <a:srgbClr val="172D43"/>
                          </a:solidFill>
                          <a:latin typeface="Arial"/>
                          <a:ea typeface="Arial"/>
                          <a:cs typeface="Arial"/>
                        </a:rPr>
                        <a:t>0.5363</a:t>
                      </a:r>
                    </a:p>
                  </a:txBody>
                  <a:tcPr marL="91440" marR="91440" marT="45720" marB="45720">
                    <a:solidFill>
                      <a:srgbClr val="F0F5F6"/>
                    </a:solidFill>
                  </a:tcPr>
                </a:tc>
                <a:tc>
                  <a:txBody>
                    <a:bodyPr/>
                    <a:lstStyle/>
                    <a:p>
                      <a:r>
                        <a:rPr sz="1575" b="0">
                          <a:solidFill>
                            <a:srgbClr val="172D43"/>
                          </a:solidFill>
                          <a:latin typeface="Arial"/>
                          <a:ea typeface="Arial"/>
                          <a:cs typeface="Arial"/>
                        </a:rPr>
                        <a:t>0.5510</a:t>
                      </a:r>
                    </a:p>
                  </a:txBody>
                  <a:tcPr marL="91440" marR="91440" marT="45720" marB="45720">
                    <a:solidFill>
                      <a:srgbClr val="F0F5F6"/>
                    </a:solidFill>
                  </a:tcPr>
                </a:tc>
                <a:tc>
                  <a:txBody>
                    <a:bodyPr/>
                    <a:lstStyle/>
                    <a:p>
                      <a:r>
                        <a:rPr sz="1575" b="0">
                          <a:solidFill>
                            <a:srgbClr val="172D43"/>
                          </a:solidFill>
                          <a:latin typeface="Arial"/>
                          <a:ea typeface="Arial"/>
                          <a:cs typeface="Arial"/>
                        </a:rPr>
                        <a:t>0.1787</a:t>
                      </a:r>
                    </a:p>
                  </a:txBody>
                  <a:tcPr marL="91440" marR="91440" marT="45720" marB="45720">
                    <a:solidFill>
                      <a:srgbClr val="F0F5F6"/>
                    </a:solidFill>
                  </a:tcPr>
                </a:tc>
                <a:tc>
                  <a:txBody>
                    <a:bodyPr/>
                    <a:lstStyle/>
                    <a:p>
                      <a:r>
                        <a:rPr sz="1575" b="0">
                          <a:solidFill>
                            <a:srgbClr val="172D43"/>
                          </a:solidFill>
                          <a:latin typeface="Arial"/>
                          <a:ea typeface="Arial"/>
                          <a:cs typeface="Arial"/>
                        </a:rPr>
                        <a:t>1.7870</a:t>
                      </a:r>
                    </a:p>
                  </a:txBody>
                  <a:tcPr marL="91440" marR="91440" marT="45720" marB="45720">
                    <a:solidFill>
                      <a:srgbClr val="F0F5F6"/>
                    </a:solidFill>
                  </a:tcPr>
                </a:tc>
                <a:tc>
                  <a:txBody>
                    <a:bodyPr/>
                    <a:lstStyle/>
                    <a:p>
                      <a:r>
                        <a:rPr sz="1575" b="0">
                          <a:solidFill>
                            <a:srgbClr val="172D43"/>
                          </a:solidFill>
                          <a:latin typeface="Arial"/>
                          <a:ea typeface="Arial"/>
                          <a:cs typeface="Arial"/>
                        </a:rPr>
                        <a:t>0.2419</a:t>
                      </a:r>
                    </a:p>
                  </a:txBody>
                  <a:tcPr marL="91440" marR="91440" marT="45720" marB="45720">
                    <a:solidFill>
                      <a:srgbClr val="F0F5F6"/>
                    </a:solidFill>
                  </a:tcPr>
                </a:tc>
              </a:tr>
            </a:tbl>
          </a:graphicData>
        </a:graphic>
      </p:graphicFrame>
      <p:sp>
        <p:nvSpPr>
          <p:cNvPr id="7" name="">
            <a:extLst xmlns:a="http://schemas.openxmlformats.org/drawingml/2006/main">
              <a:ext uri="{FF2B5EF4-FFF2-40B4-BE49-F238E27FC236}">
                <a16:creationId xmlns:a16="http://schemas.microsoft.com/office/drawing/2014/main" id="{4E4C09D3-C82A-49FD-8E34-AEFEC96722CD}"/>
              </a:ext>
            </a:extLst>
          </p:cNvPr>
          <p:cNvSpPr>
            <a:spLocks xmlns:a="http://schemas.openxmlformats.org/drawingml/2006/main" noGrp="1"/>
          </p:cNvSpPr>
          <p:nvPr/>
        </p:nvSpPr>
        <p:spPr>
          <a:xfrm xmlns:a="http://schemas.openxmlformats.org/drawingml/2006/main">
            <a:off x="628650" y="56483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36779"/>
                </a:solidFill>
                <a:latin typeface="Arial"/>
                <a:ea typeface="Arial"/>
                <a:cs typeface="Arial"/>
              </a:defRPr>
            </a:defPPr>
          </a:lstStyle>
          <a:p xmlns:a="http://schemas.openxmlformats.org/drawingml/2006/main">
            <a:pPr>
              <a:defRPr sz="1650" b="0">
                <a:solidFill>
                  <a:srgbClr val="536779"/>
                </a:solidFill>
                <a:latin typeface="Arial"/>
                <a:ea typeface="Arial"/>
                <a:cs typeface="Arial"/>
              </a:defRPr>
            </a:pPr>
            <a:r>
              <a:rPr sz="1650" b="0">
                <a:solidFill>
                  <a:srgbClr val="536779"/>
                </a:solidFill>
                <a:latin typeface="Arial"/>
                <a:ea typeface="Arial"/>
                <a:cs typeface="Arial"/>
              </a:rPr>
              <a:t>GaussianNB remains active even though Logistic Regression has higher test Precision@K.</a:t>
            </a:r>
          </a:p>
        </p:txBody>
      </p:sp>
    </p:spTree>
    <p:extLst>
      <p:ext uri="{BB962C8B-B14F-4D97-AF65-F5344CB8AC3E}">
        <p14:creationId xmlns:p14="http://schemas.microsoft.com/office/powerpoint/2010/main" val="1549568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8EE3D1C-D122-4935-9AFF-46981EB8ADED}"/>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D43"/>
                </a:solidFill>
                <a:latin typeface="Arial"/>
                <a:ea typeface="Arial"/>
                <a:cs typeface="Arial"/>
              </a:defRPr>
            </a:defPPr>
          </a:lstStyle>
          <a:p xmlns:a="http://schemas.openxmlformats.org/drawingml/2006/main">
            <a:pPr>
              <a:defRPr sz="3000" b="1">
                <a:solidFill>
                  <a:srgbClr val="172D43"/>
                </a:solidFill>
                <a:latin typeface="Arial"/>
                <a:ea typeface="Arial"/>
                <a:cs typeface="Arial"/>
              </a:defRPr>
            </a:pPr>
            <a:r>
              <a:rPr sz="3000" b="1">
                <a:solidFill>
                  <a:srgbClr val="172D43"/>
                </a:solidFill>
                <a:latin typeface="Arial"/>
                <a:ea typeface="Arial"/>
                <a:cs typeface="Arial"/>
              </a:rPr>
              <a:t>Capacity and classification answer different questions</a:t>
            </a:r>
          </a:p>
        </p:txBody>
      </p:sp>
      <p:sp>
        <p:nvSpPr>
          <p:cNvPr id="2" name="">
            <a:extLst xmlns:a="http://schemas.openxmlformats.org/drawingml/2006/main">
              <a:ext uri="{FF2B5EF4-FFF2-40B4-BE49-F238E27FC236}">
                <a16:creationId xmlns:a16="http://schemas.microsoft.com/office/drawing/2014/main" id="{107437EF-5B25-40C3-BCC8-156218F387E2}"/>
              </a:ext>
            </a:extLst>
          </p:cNvPr>
          <p:cNvSpPr>
            <a:spLocks xmlns:a="http://schemas.openxmlformats.org/drawingml/2006/main" noGrp="1"/>
          </p:cNvSpPr>
          <p:nvPr/>
        </p:nvSpPr>
        <p:spPr>
          <a:xfrm xmlns:a="http://schemas.openxmlformats.org/drawingml/2006/main">
            <a:off x="628650" y="11906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36779"/>
                </a:solidFill>
                <a:latin typeface="Arial"/>
                <a:ea typeface="Arial"/>
                <a:cs typeface="Arial"/>
              </a:defRPr>
            </a:def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A 10% contact quota is not the same as a probability threshold</a:t>
            </a:r>
          </a:p>
        </p:txBody>
      </p:sp>
      <p:sp>
        <p:nvSpPr>
          <p:cNvPr id="3" name="">
            <a:extLst xmlns:a="http://schemas.openxmlformats.org/drawingml/2006/main">
              <a:ext uri="{FF2B5EF4-FFF2-40B4-BE49-F238E27FC236}">
                <a16:creationId xmlns:a16="http://schemas.microsoft.com/office/drawing/2014/main" id="{3D3A5760-7D4E-48A1-BD90-0BE6C93688CC}"/>
              </a:ext>
            </a:extLst>
          </p:cNvPr>
          <p:cNvSpPr>
            <a:spLocks xmlns:a="http://schemas.openxmlformats.org/drawingml/2006/main" noGrp="1"/>
          </p:cNvSpPr>
          <p:nvPr/>
        </p:nvSpPr>
        <p:spPr>
          <a:xfrm xmlns:a="http://schemas.openxmlformats.org/drawingml/2006/main">
            <a:off x="609600" y="6267450"/>
            <a:ext cx="10972800" cy="19050"/>
          </a:xfrm>
          <a:prstGeom xmlns:a="http://schemas.openxmlformats.org/drawingml/2006/main" prst="rect">
            <a:avLst/>
          </a:prstGeom>
          <a:solidFill xmlns:a="http://schemas.openxmlformats.org/drawingml/2006/main">
            <a:srgbClr val="D6E2E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3CB4E18-CA37-4650-B9D2-719A89399721}"/>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DepoRank | COMP6140001 Data Mining</a:t>
            </a:r>
          </a:p>
        </p:txBody>
      </p:sp>
      <p:sp>
        <p:nvSpPr>
          <p:cNvPr id="5" name="">
            <a:extLst xmlns:a="http://schemas.openxmlformats.org/drawingml/2006/main">
              <a:ext uri="{FF2B5EF4-FFF2-40B4-BE49-F238E27FC236}">
                <a16:creationId xmlns:a16="http://schemas.microsoft.com/office/drawing/2014/main" id="{F6558776-B07C-4482-9F40-E26653ED5E00}"/>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38B9548D-D2DC-469C-AA20-0B2D8F63BBBD}"/>
              </a:ext>
            </a:extLst>
          </p:cNvPr>
          <p:cNvSpPr>
            <a:spLocks xmlns:a="http://schemas.openxmlformats.org/drawingml/2006/main" noGrp="1"/>
          </p:cNvSpPr>
          <p:nvPr/>
        </p:nvSpPr>
        <p:spPr>
          <a:xfrm xmlns:a="http://schemas.openxmlformats.org/drawingml/2006/main">
            <a:off x="628650" y="2076450"/>
            <a:ext cx="49244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087F83"/>
                </a:solidFill>
                <a:latin typeface="Arial"/>
                <a:ea typeface="Arial"/>
                <a:cs typeface="Arial"/>
              </a:defRPr>
            </a:defPPr>
          </a:lstStyle>
          <a:p xmlns:a="http://schemas.openxmlformats.org/drawingml/2006/main">
            <a:pPr>
              <a:defRPr sz="2400" b="1">
                <a:solidFill>
                  <a:srgbClr val="087F83"/>
                </a:solidFill>
                <a:latin typeface="Arial"/>
                <a:ea typeface="Arial"/>
                <a:cs typeface="Arial"/>
              </a:defRPr>
            </a:pPr>
            <a:r>
              <a:rPr sz="2400" b="1">
                <a:solidFill>
                  <a:srgbClr val="087F83"/>
                </a:solidFill>
                <a:latin typeface="Arial"/>
                <a:ea typeface="Arial"/>
                <a:cs typeface="Arial"/>
              </a:rPr>
              <a:t>Contact quota</a:t>
            </a:r>
          </a:p>
        </p:txBody>
      </p:sp>
      <p:sp>
        <p:nvSpPr>
          <p:cNvPr id="7" name="">
            <a:extLst xmlns:a="http://schemas.openxmlformats.org/drawingml/2006/main">
              <a:ext uri="{FF2B5EF4-FFF2-40B4-BE49-F238E27FC236}">
                <a16:creationId xmlns:a16="http://schemas.microsoft.com/office/drawing/2014/main" id="{5802B56F-F002-4F76-8BA6-0BD5610DDBE1}"/>
              </a:ext>
            </a:extLst>
          </p:cNvPr>
          <p:cNvSpPr>
            <a:spLocks xmlns:a="http://schemas.openxmlformats.org/drawingml/2006/main" noGrp="1"/>
          </p:cNvSpPr>
          <p:nvPr/>
        </p:nvSpPr>
        <p:spPr>
          <a:xfrm xmlns:a="http://schemas.openxmlformats.org/drawingml/2006/main">
            <a:off x="628650" y="2905125"/>
            <a:ext cx="4953000"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72D43"/>
                </a:solidFill>
                <a:latin typeface="Arial"/>
                <a:ea typeface="Arial"/>
                <a:cs typeface="Arial"/>
              </a:defRPr>
            </a:defPPr>
          </a:lstStyle>
          <a:p xmlns:a="http://schemas.openxmlformats.org/drawingml/2006/main">
            <a:pPr>
              <a:defRPr sz="2325" b="0">
                <a:solidFill>
                  <a:srgbClr val="172D43"/>
                </a:solidFill>
                <a:latin typeface="Arial"/>
                <a:ea typeface="Arial"/>
                <a:cs typeface="Arial"/>
              </a:defRPr>
            </a:pPr>
            <a:r>
              <a:rPr sz="2325" b="0">
                <a:solidFill>
                  <a:srgbClr val="172D43"/>
                </a:solidFill>
                <a:latin typeface="Arial"/>
                <a:ea typeface="Arial"/>
                <a:cs typeface="Arial"/>
              </a:rPr>
              <a:t>824 selected for contact</a:t>
            </a:r>
          </a:p>
          <a:p xmlns:a="http://schemas.openxmlformats.org/drawingml/2006/main">
            <a:pPr>
              <a:defRPr sz="2325" b="0">
                <a:solidFill>
                  <a:srgbClr val="172D43"/>
                </a:solidFill>
                <a:latin typeface="Arial"/>
                <a:ea typeface="Arial"/>
                <a:cs typeface="Arial"/>
              </a:defRPr>
            </a:pPr>
            <a:r>
              <a:rPr sz="2325" b="0">
                <a:solidFill>
                  <a:srgbClr val="172D43"/>
                </a:solidFill>
                <a:latin typeface="Arial"/>
                <a:ea typeface="Arial"/>
                <a:cs typeface="Arial"/>
              </a:rPr>
              <a:t>512 yes within capacity</a:t>
            </a:r>
          </a:p>
          <a:p xmlns:a="http://schemas.openxmlformats.org/drawingml/2006/main">
            <a:pPr>
              <a:defRPr sz="2325" b="0">
                <a:solidFill>
                  <a:srgbClr val="172D43"/>
                </a:solidFill>
                <a:latin typeface="Arial"/>
                <a:ea typeface="Arial"/>
                <a:cs typeface="Arial"/>
              </a:defRPr>
            </a:pPr>
            <a:r>
              <a:rPr sz="2325" b="0">
                <a:solidFill>
                  <a:srgbClr val="172D43"/>
                </a:solidFill>
                <a:latin typeface="Arial"/>
                <a:ea typeface="Arial"/>
                <a:cs typeface="Arial"/>
              </a:rPr>
              <a:t>312 no within capacity</a:t>
            </a:r>
          </a:p>
          <a:p xmlns:a="http://schemas.openxmlformats.org/drawingml/2006/main">
            <a:pPr>
              <a:defRPr sz="2325" b="0">
                <a:solidFill>
                  <a:srgbClr val="172D43"/>
                </a:solidFill>
                <a:latin typeface="Arial"/>
                <a:ea typeface="Arial"/>
                <a:cs typeface="Arial"/>
              </a:defRPr>
            </a:pPr>
            <a:r>
              <a:rPr sz="2325" b="0">
                <a:solidFill>
                  <a:srgbClr val="172D43"/>
                </a:solidFill>
                <a:latin typeface="Arial"/>
                <a:ea typeface="Arial"/>
                <a:cs typeface="Arial"/>
              </a:rPr>
              <a:t>2,028 yes outside capacity</a:t>
            </a:r>
          </a:p>
        </p:txBody>
      </p:sp>
      <p:sp>
        <p:nvSpPr>
          <p:cNvPr id="8" name="">
            <a:extLst xmlns:a="http://schemas.openxmlformats.org/drawingml/2006/main">
              <a:ext uri="{FF2B5EF4-FFF2-40B4-BE49-F238E27FC236}">
                <a16:creationId xmlns:a16="http://schemas.microsoft.com/office/drawing/2014/main" id="{87914814-9E9D-46E7-8AEB-B876C59447D6}"/>
              </a:ext>
            </a:extLst>
          </p:cNvPr>
          <p:cNvSpPr>
            <a:spLocks xmlns:a="http://schemas.openxmlformats.org/drawingml/2006/main" noGrp="1"/>
          </p:cNvSpPr>
          <p:nvPr/>
        </p:nvSpPr>
        <p:spPr>
          <a:xfrm xmlns:a="http://schemas.openxmlformats.org/drawingml/2006/main">
            <a:off x="6362700" y="2076450"/>
            <a:ext cx="5200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087F83"/>
                </a:solidFill>
                <a:latin typeface="Arial"/>
                <a:ea typeface="Arial"/>
                <a:cs typeface="Arial"/>
              </a:defRPr>
            </a:defPPr>
          </a:lstStyle>
          <a:p xmlns:a="http://schemas.openxmlformats.org/drawingml/2006/main">
            <a:pPr>
              <a:defRPr sz="2400" b="1">
                <a:solidFill>
                  <a:srgbClr val="087F83"/>
                </a:solidFill>
                <a:latin typeface="Arial"/>
                <a:ea typeface="Arial"/>
                <a:cs typeface="Arial"/>
              </a:defRPr>
            </a:pPr>
            <a:r>
              <a:rPr sz="2400" b="1">
                <a:solidFill>
                  <a:srgbClr val="087F83"/>
                </a:solidFill>
                <a:latin typeface="Arial"/>
                <a:ea typeface="Arial"/>
                <a:cs typeface="Arial"/>
              </a:rPr>
              <a:t>Frozen threshold 0.09</a:t>
            </a:r>
          </a:p>
        </p:txBody>
      </p:sp>
      <p:sp>
        <p:nvSpPr>
          <p:cNvPr id="9" name="">
            <a:extLst xmlns:a="http://schemas.openxmlformats.org/drawingml/2006/main">
              <a:ext uri="{FF2B5EF4-FFF2-40B4-BE49-F238E27FC236}">
                <a16:creationId xmlns:a16="http://schemas.microsoft.com/office/drawing/2014/main" id="{CC0ACD31-C2CF-471F-AA6E-16BDB45C679C}"/>
              </a:ext>
            </a:extLst>
          </p:cNvPr>
          <p:cNvSpPr>
            <a:spLocks xmlns:a="http://schemas.openxmlformats.org/drawingml/2006/main" noGrp="1"/>
          </p:cNvSpPr>
          <p:nvPr/>
        </p:nvSpPr>
        <p:spPr>
          <a:xfrm xmlns:a="http://schemas.openxmlformats.org/drawingml/2006/main">
            <a:off x="6362700" y="2905125"/>
            <a:ext cx="5191125"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72D43"/>
                </a:solidFill>
                <a:latin typeface="Arial"/>
                <a:ea typeface="Arial"/>
                <a:cs typeface="Arial"/>
              </a:defRPr>
            </a:defPPr>
          </a:lstStyle>
          <a:p xmlns:a="http://schemas.openxmlformats.org/drawingml/2006/main">
            <a:pPr>
              <a:defRPr sz="2325" b="0">
                <a:solidFill>
                  <a:srgbClr val="172D43"/>
                </a:solidFill>
                <a:latin typeface="Arial"/>
                <a:ea typeface="Arial"/>
                <a:cs typeface="Arial"/>
              </a:defRPr>
            </a:pPr>
            <a:r>
              <a:rPr sz="2325" b="0">
                <a:solidFill>
                  <a:srgbClr val="172D43"/>
                </a:solidFill>
                <a:latin typeface="Arial"/>
                <a:ea typeface="Arial"/>
                <a:cs typeface="Arial"/>
              </a:rPr>
              <a:t>5,965 predicted yes labels</a:t>
            </a:r>
          </a:p>
          <a:p xmlns:a="http://schemas.openxmlformats.org/drawingml/2006/main">
            <a:pPr>
              <a:defRPr sz="2325" b="0">
                <a:solidFill>
                  <a:srgbClr val="172D43"/>
                </a:solidFill>
                <a:latin typeface="Arial"/>
                <a:ea typeface="Arial"/>
                <a:cs typeface="Arial"/>
              </a:defRPr>
            </a:pPr>
            <a:r>
              <a:rPr sz="2325" b="0">
                <a:solidFill>
                  <a:srgbClr val="172D43"/>
                </a:solidFill>
                <a:latin typeface="Arial"/>
                <a:ea typeface="Arial"/>
                <a:cs typeface="Arial"/>
              </a:rPr>
              <a:t>34.53% precision</a:t>
            </a:r>
          </a:p>
          <a:p xmlns:a="http://schemas.openxmlformats.org/drawingml/2006/main">
            <a:pPr>
              <a:defRPr sz="2325" b="0">
                <a:solidFill>
                  <a:srgbClr val="172D43"/>
                </a:solidFill>
                <a:latin typeface="Arial"/>
                <a:ea typeface="Arial"/>
                <a:cs typeface="Arial"/>
              </a:defRPr>
            </a:pPr>
            <a:r>
              <a:rPr sz="2325" b="0">
                <a:solidFill>
                  <a:srgbClr val="172D43"/>
                </a:solidFill>
                <a:latin typeface="Arial"/>
                <a:ea typeface="Arial"/>
                <a:cs typeface="Arial"/>
              </a:rPr>
              <a:t>81.10% recall</a:t>
            </a:r>
          </a:p>
          <a:p xmlns:a="http://schemas.openxmlformats.org/drawingml/2006/main">
            <a:pPr>
              <a:defRPr sz="2325" b="0">
                <a:solidFill>
                  <a:srgbClr val="172D43"/>
                </a:solidFill>
                <a:latin typeface="Arial"/>
                <a:ea typeface="Arial"/>
                <a:cs typeface="Arial"/>
              </a:defRPr>
            </a:pPr>
            <a:r>
              <a:rPr sz="2325" b="0">
                <a:solidFill>
                  <a:srgbClr val="172D43"/>
                </a:solidFill>
                <a:latin typeface="Arial"/>
                <a:ea typeface="Arial"/>
                <a:cs typeface="Arial"/>
              </a:rPr>
              <a:t>46.77% accuracy</a:t>
            </a:r>
          </a:p>
        </p:txBody>
      </p:sp>
      <p:sp>
        <p:nvSpPr>
          <p:cNvPr id="10" name="">
            <a:extLst xmlns:a="http://schemas.openxmlformats.org/drawingml/2006/main">
              <a:ext uri="{FF2B5EF4-FFF2-40B4-BE49-F238E27FC236}">
                <a16:creationId xmlns:a16="http://schemas.microsoft.com/office/drawing/2014/main" id="{8FD9449F-AE40-479A-A105-99EAE109E712}"/>
              </a:ext>
            </a:extLst>
          </p:cNvPr>
          <p:cNvSpPr>
            <a:spLocks xmlns:a="http://schemas.openxmlformats.org/drawingml/2006/main" noGrp="1"/>
          </p:cNvSpPr>
          <p:nvPr/>
        </p:nvSpPr>
        <p:spPr>
          <a:xfrm xmlns:a="http://schemas.openxmlformats.org/drawingml/2006/main">
            <a:off x="628650" y="5686425"/>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36779"/>
                </a:solidFill>
                <a:latin typeface="Arial"/>
                <a:ea typeface="Arial"/>
                <a:cs typeface="Arial"/>
              </a:defRPr>
            </a:defPPr>
          </a:lstStyle>
          <a:p xmlns:a="http://schemas.openxmlformats.org/drawingml/2006/main">
            <a:pPr>
              <a:defRPr sz="1575" b="0">
                <a:solidFill>
                  <a:srgbClr val="536779"/>
                </a:solidFill>
                <a:latin typeface="Arial"/>
                <a:ea typeface="Arial"/>
                <a:cs typeface="Arial"/>
              </a:defRPr>
            </a:pPr>
            <a:r>
              <a:rPr sz="1575" b="0">
                <a:solidFill>
                  <a:srgbClr val="536779"/>
                </a:solidFill>
                <a:latin typeface="Arial"/>
                <a:ea typeface="Arial"/>
                <a:cs typeface="Arial"/>
              </a:rPr>
              <a:t>No costs, deposit values, consent, or randomized no-contact outcomes are available.</a:t>
            </a:r>
          </a:p>
        </p:txBody>
      </p:sp>
    </p:spTree>
    <p:extLst>
      <p:ext uri="{BB962C8B-B14F-4D97-AF65-F5344CB8AC3E}">
        <p14:creationId xmlns:p14="http://schemas.microsoft.com/office/powerpoint/2010/main" val="108131246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65FC0AB-F3D9-49D7-A2B3-C3DBAC5F8747}"/>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D43"/>
                </a:solidFill>
                <a:latin typeface="Arial"/>
                <a:ea typeface="Arial"/>
                <a:cs typeface="Arial"/>
              </a:defRPr>
            </a:defPPr>
          </a:lstStyle>
          <a:p xmlns:a="http://schemas.openxmlformats.org/drawingml/2006/main">
            <a:pPr>
              <a:defRPr sz="3000" b="1">
                <a:solidFill>
                  <a:srgbClr val="172D43"/>
                </a:solidFill>
                <a:latin typeface="Arial"/>
                <a:ea typeface="Arial"/>
                <a:cs typeface="Arial"/>
              </a:defRPr>
            </a:pPr>
            <a:r>
              <a:rPr sz="3000" b="1">
                <a:solidFill>
                  <a:srgbClr val="172D43"/>
                </a:solidFill>
                <a:latin typeface="Arial"/>
                <a:ea typeface="Arial"/>
                <a:cs typeface="Arial"/>
              </a:rPr>
              <a:t>Good ranking does not guarantee reliable probabilities</a:t>
            </a:r>
          </a:p>
        </p:txBody>
      </p:sp>
      <p:sp>
        <p:nvSpPr>
          <p:cNvPr id="2" name="">
            <a:extLst xmlns:a="http://schemas.openxmlformats.org/drawingml/2006/main">
              <a:ext uri="{FF2B5EF4-FFF2-40B4-BE49-F238E27FC236}">
                <a16:creationId xmlns:a16="http://schemas.microsoft.com/office/drawing/2014/main" id="{F6A51B1D-3C87-4F65-B838-86385807A143}"/>
              </a:ext>
            </a:extLst>
          </p:cNvPr>
          <p:cNvSpPr>
            <a:spLocks xmlns:a="http://schemas.openxmlformats.org/drawingml/2006/main" noGrp="1"/>
          </p:cNvSpPr>
          <p:nvPr/>
        </p:nvSpPr>
        <p:spPr>
          <a:xfrm xmlns:a="http://schemas.openxmlformats.org/drawingml/2006/main">
            <a:off x="628650" y="11906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36779"/>
                </a:solidFill>
                <a:latin typeface="Arial"/>
                <a:ea typeface="Arial"/>
                <a:cs typeface="Arial"/>
              </a:defRPr>
            </a:def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Test Brier 0.2546 | Large prevalence shift | Production transfer is unproven</a:t>
            </a:r>
          </a:p>
        </p:txBody>
      </p:sp>
      <p:sp>
        <p:nvSpPr>
          <p:cNvPr id="3" name="">
            <a:extLst xmlns:a="http://schemas.openxmlformats.org/drawingml/2006/main">
              <a:ext uri="{FF2B5EF4-FFF2-40B4-BE49-F238E27FC236}">
                <a16:creationId xmlns:a16="http://schemas.microsoft.com/office/drawing/2014/main" id="{DCD877B8-AA66-4C61-AB2C-A12ACF326469}"/>
              </a:ext>
            </a:extLst>
          </p:cNvPr>
          <p:cNvSpPr>
            <a:spLocks xmlns:a="http://schemas.openxmlformats.org/drawingml/2006/main" noGrp="1"/>
          </p:cNvSpPr>
          <p:nvPr/>
        </p:nvSpPr>
        <p:spPr>
          <a:xfrm xmlns:a="http://schemas.openxmlformats.org/drawingml/2006/main">
            <a:off x="609600" y="6267450"/>
            <a:ext cx="10972800" cy="19050"/>
          </a:xfrm>
          <a:prstGeom xmlns:a="http://schemas.openxmlformats.org/drawingml/2006/main" prst="rect">
            <a:avLst/>
          </a:prstGeom>
          <a:solidFill xmlns:a="http://schemas.openxmlformats.org/drawingml/2006/main">
            <a:srgbClr val="D6E2E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F69F8B2-7D92-405A-86EA-6504380FBB6D}"/>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DepoRank | COMP6140001 Data Mining</a:t>
            </a:r>
          </a:p>
        </p:txBody>
      </p:sp>
      <p:sp>
        <p:nvSpPr>
          <p:cNvPr id="5" name="">
            <a:extLst xmlns:a="http://schemas.openxmlformats.org/drawingml/2006/main">
              <a:ext uri="{FF2B5EF4-FFF2-40B4-BE49-F238E27FC236}">
                <a16:creationId xmlns:a16="http://schemas.microsoft.com/office/drawing/2014/main" id="{738AB2B3-F8A1-4D60-859F-A10BBFBA4C38}"/>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97623D51-DD7C-405E-8756-E3C3DC75B410}"/>
              </a:ext>
            </a:extLst>
          </p:cNvPr>
          <p:cNvSpPr>
            <a:spLocks xmlns:a="http://schemas.openxmlformats.org/drawingml/2006/main" noGrp="1"/>
          </p:cNvSpPr>
          <p:nvPr/>
        </p:nvSpPr>
        <p:spPr>
          <a:xfrm xmlns:a="http://schemas.openxmlformats.org/drawingml/2006/main">
            <a:off x="638175" y="2257425"/>
            <a:ext cx="48482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5550" b="1">
                <a:solidFill>
                  <a:srgbClr val="087F83"/>
                </a:solidFill>
                <a:latin typeface="Arial"/>
                <a:ea typeface="Arial"/>
                <a:cs typeface="Arial"/>
              </a:defRPr>
            </a:defPPr>
          </a:lstStyle>
          <a:p xmlns:a="http://schemas.openxmlformats.org/drawingml/2006/main">
            <a:pPr>
              <a:defRPr sz="5550" b="1">
                <a:solidFill>
                  <a:srgbClr val="087F83"/>
                </a:solidFill>
                <a:latin typeface="Arial"/>
                <a:ea typeface="Arial"/>
                <a:cs typeface="Arial"/>
              </a:defRPr>
            </a:pPr>
            <a:r>
              <a:rPr sz="5550" b="1">
                <a:solidFill>
                  <a:srgbClr val="087F83"/>
                </a:solidFill>
                <a:latin typeface="Arial"/>
                <a:ea typeface="Arial"/>
                <a:cs typeface="Arial"/>
              </a:rPr>
              <a:t>4.81%</a:t>
            </a:r>
          </a:p>
        </p:txBody>
      </p:sp>
      <p:sp>
        <p:nvSpPr>
          <p:cNvPr id="7" name="">
            <a:extLst xmlns:a="http://schemas.openxmlformats.org/drawingml/2006/main">
              <a:ext uri="{FF2B5EF4-FFF2-40B4-BE49-F238E27FC236}">
                <a16:creationId xmlns:a16="http://schemas.microsoft.com/office/drawing/2014/main" id="{EF090382-8C9E-4B4F-B37A-9E959E019B13}"/>
              </a:ext>
            </a:extLst>
          </p:cNvPr>
          <p:cNvSpPr>
            <a:spLocks xmlns:a="http://schemas.openxmlformats.org/drawingml/2006/main" noGrp="1"/>
          </p:cNvSpPr>
          <p:nvPr/>
        </p:nvSpPr>
        <p:spPr>
          <a:xfrm xmlns:a="http://schemas.openxmlformats.org/drawingml/2006/main">
            <a:off x="666750" y="3381375"/>
            <a:ext cx="4810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2D43"/>
                </a:solidFill>
                <a:latin typeface="Arial"/>
                <a:ea typeface="Arial"/>
                <a:cs typeface="Arial"/>
              </a:defRPr>
            </a:defPPr>
          </a:lstStyle>
          <a:p xmlns:a="http://schemas.openxmlformats.org/drawingml/2006/main">
            <a:pPr>
              <a:defRPr sz="2175" b="0">
                <a:solidFill>
                  <a:srgbClr val="172D43"/>
                </a:solidFill>
                <a:latin typeface="Arial"/>
                <a:ea typeface="Arial"/>
                <a:cs typeface="Arial"/>
              </a:defRPr>
            </a:pPr>
            <a:r>
              <a:rPr sz="2175" b="0">
                <a:solidFill>
                  <a:srgbClr val="172D43"/>
                </a:solidFill>
                <a:latin typeface="Arial"/>
                <a:ea typeface="Arial"/>
                <a:cs typeface="Arial"/>
              </a:rPr>
              <a:t>train yes prevalence</a:t>
            </a:r>
          </a:p>
        </p:txBody>
      </p:sp>
      <p:sp>
        <p:nvSpPr>
          <p:cNvPr id="8" name="">
            <a:extLst xmlns:a="http://schemas.openxmlformats.org/drawingml/2006/main">
              <a:ext uri="{FF2B5EF4-FFF2-40B4-BE49-F238E27FC236}">
                <a16:creationId xmlns:a16="http://schemas.microsoft.com/office/drawing/2014/main" id="{64E4F3D0-3960-426E-9C15-1910865DF5DF}"/>
              </a:ext>
            </a:extLst>
          </p:cNvPr>
          <p:cNvSpPr>
            <a:spLocks xmlns:a="http://schemas.openxmlformats.org/drawingml/2006/main" noGrp="1"/>
          </p:cNvSpPr>
          <p:nvPr/>
        </p:nvSpPr>
        <p:spPr>
          <a:xfrm xmlns:a="http://schemas.openxmlformats.org/drawingml/2006/main">
            <a:off x="6391275" y="2257425"/>
            <a:ext cx="5143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5550" b="1">
                <a:solidFill>
                  <a:srgbClr val="CB9344"/>
                </a:solidFill>
                <a:latin typeface="Arial"/>
                <a:ea typeface="Arial"/>
                <a:cs typeface="Arial"/>
              </a:defRPr>
            </a:defPPr>
          </a:lstStyle>
          <a:p xmlns:a="http://schemas.openxmlformats.org/drawingml/2006/main">
            <a:pPr>
              <a:defRPr sz="5550" b="1">
                <a:solidFill>
                  <a:srgbClr val="CB9344"/>
                </a:solidFill>
                <a:latin typeface="Arial"/>
                <a:ea typeface="Arial"/>
                <a:cs typeface="Arial"/>
              </a:defRPr>
            </a:pPr>
            <a:r>
              <a:rPr sz="5550" b="1">
                <a:solidFill>
                  <a:srgbClr val="CB9344"/>
                </a:solidFill>
                <a:latin typeface="Arial"/>
                <a:ea typeface="Arial"/>
                <a:cs typeface="Arial"/>
              </a:rPr>
              <a:t>30.83%</a:t>
            </a:r>
          </a:p>
        </p:txBody>
      </p:sp>
      <p:sp>
        <p:nvSpPr>
          <p:cNvPr id="9" name="">
            <a:extLst xmlns:a="http://schemas.openxmlformats.org/drawingml/2006/main">
              <a:ext uri="{FF2B5EF4-FFF2-40B4-BE49-F238E27FC236}">
                <a16:creationId xmlns:a16="http://schemas.microsoft.com/office/drawing/2014/main" id="{CB4F03A1-12C9-4118-AE03-7691B8B13DBA}"/>
              </a:ext>
            </a:extLst>
          </p:cNvPr>
          <p:cNvSpPr>
            <a:spLocks xmlns:a="http://schemas.openxmlformats.org/drawingml/2006/main" noGrp="1"/>
          </p:cNvSpPr>
          <p:nvPr/>
        </p:nvSpPr>
        <p:spPr>
          <a:xfrm xmlns:a="http://schemas.openxmlformats.org/drawingml/2006/main">
            <a:off x="6419850" y="33813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2D43"/>
                </a:solidFill>
                <a:latin typeface="Arial"/>
                <a:ea typeface="Arial"/>
                <a:cs typeface="Arial"/>
              </a:defRPr>
            </a:defPPr>
          </a:lstStyle>
          <a:p xmlns:a="http://schemas.openxmlformats.org/drawingml/2006/main">
            <a:pPr>
              <a:defRPr sz="2175" b="0">
                <a:solidFill>
                  <a:srgbClr val="172D43"/>
                </a:solidFill>
                <a:latin typeface="Arial"/>
                <a:ea typeface="Arial"/>
                <a:cs typeface="Arial"/>
              </a:defRPr>
            </a:pPr>
            <a:r>
              <a:rPr sz="2175" b="0">
                <a:solidFill>
                  <a:srgbClr val="172D43"/>
                </a:solidFill>
                <a:latin typeface="Arial"/>
                <a:ea typeface="Arial"/>
                <a:cs typeface="Arial"/>
              </a:rPr>
              <a:t>test yes prevalence</a:t>
            </a:r>
          </a:p>
        </p:txBody>
      </p:sp>
      <p:sp>
        <p:nvSpPr>
          <p:cNvPr id="10" name="">
            <a:extLst xmlns:a="http://schemas.openxmlformats.org/drawingml/2006/main">
              <a:ext uri="{FF2B5EF4-FFF2-40B4-BE49-F238E27FC236}">
                <a16:creationId xmlns:a16="http://schemas.microsoft.com/office/drawing/2014/main" id="{CD6C727A-E568-4DE7-B947-9DC876CE5692}"/>
              </a:ext>
            </a:extLst>
          </p:cNvPr>
          <p:cNvSpPr>
            <a:spLocks xmlns:a="http://schemas.openxmlformats.org/drawingml/2006/main" noGrp="1"/>
          </p:cNvSpPr>
          <p:nvPr/>
        </p:nvSpPr>
        <p:spPr>
          <a:xfrm xmlns:a="http://schemas.openxmlformats.org/drawingml/2006/main">
            <a:off x="666750" y="4543425"/>
            <a:ext cx="108013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172D43"/>
                </a:solidFill>
                <a:latin typeface="Arial"/>
                <a:ea typeface="Arial"/>
                <a:cs typeface="Arial"/>
              </a:defRPr>
            </a:defPPr>
          </a:lstStyle>
          <a:p xmlns:a="http://schemas.openxmlformats.org/drawingml/2006/main">
            <a:pPr>
              <a:defRPr sz="2400" b="1">
                <a:solidFill>
                  <a:srgbClr val="172D43"/>
                </a:solidFill>
                <a:latin typeface="Arial"/>
                <a:ea typeface="Arial"/>
                <a:cs typeface="Arial"/>
              </a:defRPr>
            </a:pPr>
            <a:r>
              <a:rPr sz="2400" b="1">
                <a:solidFill>
                  <a:srgbClr val="172D43"/>
                </a:solidFill>
                <a:latin typeface="Arial"/>
                <a:ea typeface="Arial"/>
                <a:cs typeface="Arial"/>
              </a:rPr>
              <a:t>Validate calibration on new data. Monitor drift, label delay, and capacity performance.</a:t>
            </a:r>
          </a:p>
        </p:txBody>
      </p:sp>
    </p:spTree>
    <p:extLst>
      <p:ext uri="{BB962C8B-B14F-4D97-AF65-F5344CB8AC3E}">
        <p14:creationId xmlns:p14="http://schemas.microsoft.com/office/powerpoint/2010/main" val="48348381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10CDC9-442D-47BE-8EB9-5B5E0E928D9E}"/>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D43"/>
                </a:solidFill>
                <a:latin typeface="Arial"/>
                <a:ea typeface="Arial"/>
                <a:cs typeface="Arial"/>
              </a:defRPr>
            </a:defPPr>
          </a:lstStyle>
          <a:p xmlns:a="http://schemas.openxmlformats.org/drawingml/2006/main">
            <a:pPr>
              <a:defRPr sz="3000" b="1">
                <a:solidFill>
                  <a:srgbClr val="172D43"/>
                </a:solidFill>
                <a:latin typeface="Arial"/>
                <a:ea typeface="Arial"/>
                <a:cs typeface="Arial"/>
              </a:defRPr>
            </a:pPr>
            <a:r>
              <a:rPr sz="3000" b="1">
                <a:solidFill>
                  <a:srgbClr val="172D43"/>
                </a:solidFill>
                <a:latin typeface="Arial"/>
                <a:ea typeface="Arial"/>
                <a:cs typeface="Arial"/>
              </a:rPr>
              <a:t>Previous campaign history matters on selection</a:t>
            </a:r>
          </a:p>
        </p:txBody>
      </p:sp>
      <p:sp>
        <p:nvSpPr>
          <p:cNvPr id="2" name="">
            <a:extLst xmlns:a="http://schemas.openxmlformats.org/drawingml/2006/main">
              <a:ext uri="{FF2B5EF4-FFF2-40B4-BE49-F238E27FC236}">
                <a16:creationId xmlns:a16="http://schemas.microsoft.com/office/drawing/2014/main" id="{2B9A6E90-7FCD-4477-A319-EA3AA63417A3}"/>
              </a:ext>
            </a:extLst>
          </p:cNvPr>
          <p:cNvSpPr>
            <a:spLocks xmlns:a="http://schemas.openxmlformats.org/drawingml/2006/main" noGrp="1"/>
          </p:cNvSpPr>
          <p:nvPr/>
        </p:nvSpPr>
        <p:spPr>
          <a:xfrm xmlns:a="http://schemas.openxmlformats.org/drawingml/2006/main">
            <a:off x="628650" y="11906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36779"/>
                </a:solidFill>
                <a:latin typeface="Arial"/>
                <a:ea typeface="Arial"/>
                <a:cs typeface="Arial"/>
              </a:defRPr>
            </a:def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Permutation importance | Five repeats | Association, not causal explanation</a:t>
            </a:r>
          </a:p>
        </p:txBody>
      </p:sp>
      <p:sp>
        <p:nvSpPr>
          <p:cNvPr id="3" name="">
            <a:extLst xmlns:a="http://schemas.openxmlformats.org/drawingml/2006/main">
              <a:ext uri="{FF2B5EF4-FFF2-40B4-BE49-F238E27FC236}">
                <a16:creationId xmlns:a16="http://schemas.microsoft.com/office/drawing/2014/main" id="{BF2B9400-1BDC-4FC0-9869-89DD8F4BF7E6}"/>
              </a:ext>
            </a:extLst>
          </p:cNvPr>
          <p:cNvSpPr>
            <a:spLocks xmlns:a="http://schemas.openxmlformats.org/drawingml/2006/main" noGrp="1"/>
          </p:cNvSpPr>
          <p:nvPr/>
        </p:nvSpPr>
        <p:spPr>
          <a:xfrm xmlns:a="http://schemas.openxmlformats.org/drawingml/2006/main">
            <a:off x="609600" y="6267450"/>
            <a:ext cx="10972800" cy="19050"/>
          </a:xfrm>
          <a:prstGeom xmlns:a="http://schemas.openxmlformats.org/drawingml/2006/main" prst="rect">
            <a:avLst/>
          </a:prstGeom>
          <a:solidFill xmlns:a="http://schemas.openxmlformats.org/drawingml/2006/main">
            <a:srgbClr val="D6E2E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F3B1A43-61DD-4926-8BD1-3ABCB77BEE4C}"/>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DepoRank | COMP6140001 Data Mining</a:t>
            </a:r>
          </a:p>
        </p:txBody>
      </p:sp>
      <p:sp>
        <p:nvSpPr>
          <p:cNvPr id="5" name="">
            <a:extLst xmlns:a="http://schemas.openxmlformats.org/drawingml/2006/main">
              <a:ext uri="{FF2B5EF4-FFF2-40B4-BE49-F238E27FC236}">
                <a16:creationId xmlns:a16="http://schemas.microsoft.com/office/drawing/2014/main" id="{A7EB2F7A-0A2E-435B-8979-63EA1DDE19DA}"/>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13</a:t>
            </a:r>
          </a:p>
        </p:txBody>
      </p:sp>
      <p:graphicFrame>
        <p:nvGraphicFramePr>
          <p:cNvPr id="6" name="Chart">
            <a:extLst xmlns:a="http://schemas.openxmlformats.org/drawingml/2006/main">
              <a:ext uri="{FF2B5EF4-FFF2-40B4-BE49-F238E27FC236}">
                <a16:creationId xmlns:a16="http://schemas.microsoft.com/office/drawing/2014/main" id="{1F0FB355-F9F4-404C-9D52-8F2507C46EE8}"/>
              </a:ext>
            </a:extLst>
          </p:cNvPr>
          <p:cNvGraphicFramePr/>
          <p:nvPr/>
        </p:nvGraphicFramePr>
        <p:xfrm>
          <a:off xmlns:a="http://schemas.openxmlformats.org/drawingml/2006/main" x="876300" y="2000250"/>
          <a:ext xmlns:a="http://schemas.openxmlformats.org/drawingml/2006/main" cx="10191750" cy="3333750"/>
        </p:xfrm>
        <a:graphic xmlns:a="http://schemas.openxmlformats.org/drawingml/2006/main">
          <a:graphicData uri="http://schemas.openxmlformats.org/drawingml/2006/chart">
            <c:chart xmlns:r="http://schemas.openxmlformats.org/officeDocument/2006/relationships" xmlns:c="http://schemas.openxmlformats.org/drawingml/2006/chart" r:id="R05419c0ecc65437b"/>
          </a:graphicData>
        </a:graphic>
      </p:graphicFrame>
      <p:sp>
        <p:nvSpPr>
          <p:cNvPr id="7" name="">
            <a:extLst xmlns:a="http://schemas.openxmlformats.org/drawingml/2006/main">
              <a:ext uri="{FF2B5EF4-FFF2-40B4-BE49-F238E27FC236}">
                <a16:creationId xmlns:a16="http://schemas.microsoft.com/office/drawing/2014/main" id="{2B7882B1-C53E-4DDA-AD0D-983E74028A7C}"/>
              </a:ext>
            </a:extLst>
          </p:cNvPr>
          <p:cNvSpPr>
            <a:spLocks xmlns:a="http://schemas.openxmlformats.org/drawingml/2006/main" noGrp="1"/>
          </p:cNvSpPr>
          <p:nvPr/>
        </p:nvSpPr>
        <p:spPr>
          <a:xfrm xmlns:a="http://schemas.openxmlformats.org/drawingml/2006/main">
            <a:off x="628650" y="5353050"/>
            <a:ext cx="10934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36779"/>
                </a:solidFill>
                <a:latin typeface="Arial"/>
                <a:ea typeface="Arial"/>
                <a:cs typeface="Arial"/>
              </a:defRPr>
            </a:defPPr>
          </a:lstStyle>
          <a:p xmlns:a="http://schemas.openxmlformats.org/drawingml/2006/main">
            <a:pPr>
              <a:defRPr sz="1425" b="0">
                <a:solidFill>
                  <a:srgbClr val="536779"/>
                </a:solidFill>
                <a:latin typeface="Arial"/>
                <a:ea typeface="Arial"/>
                <a:cs typeface="Arial"/>
              </a:defRPr>
            </a:pPr>
            <a:r>
              <a:rPr sz="1425" b="0">
                <a:solidFill>
                  <a:srgbClr val="536779"/>
                </a:solidFill>
                <a:latin typeface="Arial"/>
                <a:ea typeface="Arial"/>
                <a:cs typeface="Arial"/>
              </a:rPr>
              <a:t>Mean selection AP decrease; loan retains its negative importance (-0.0002).</a:t>
            </a:r>
          </a:p>
        </p:txBody>
      </p:sp>
      <p:sp>
        <p:nvSpPr>
          <p:cNvPr id="8" name="">
            <a:extLst xmlns:a="http://schemas.openxmlformats.org/drawingml/2006/main">
              <a:ext uri="{FF2B5EF4-FFF2-40B4-BE49-F238E27FC236}">
                <a16:creationId xmlns:a16="http://schemas.microsoft.com/office/drawing/2014/main" id="{82E441F0-EBF0-492F-9B05-8E1E1D843410}"/>
              </a:ext>
            </a:extLst>
          </p:cNvPr>
          <p:cNvSpPr>
            <a:spLocks xmlns:a="http://schemas.openxmlformats.org/drawingml/2006/main" noGrp="1"/>
          </p:cNvSpPr>
          <p:nvPr/>
        </p:nvSpPr>
        <p:spPr>
          <a:xfrm xmlns:a="http://schemas.openxmlformats.org/drawingml/2006/main">
            <a:off x="628650" y="56959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36779"/>
                </a:solidFill>
                <a:latin typeface="Arial"/>
                <a:ea typeface="Arial"/>
                <a:cs typeface="Arial"/>
              </a:defRPr>
            </a:defPPr>
          </a:lstStyle>
          <a:p xmlns:a="http://schemas.openxmlformats.org/drawingml/2006/main">
            <a:pPr>
              <a:defRPr sz="1650" b="0">
                <a:solidFill>
                  <a:srgbClr val="536779"/>
                </a:solidFill>
                <a:latin typeface="Arial"/>
                <a:ea typeface="Arial"/>
                <a:cs typeface="Arial"/>
              </a:defRPr>
            </a:pPr>
            <a:r>
              <a:rPr sz="1650" b="0">
                <a:solidFill>
                  <a:srgbClr val="536779"/>
                </a:solidFill>
                <a:latin typeface="Arial"/>
                <a:ea typeface="Arial"/>
                <a:cs typeface="Arial"/>
              </a:rPr>
              <a:t>Correlated features and small subgroups limit attribution. No fairness guarantee is made.</a:t>
            </a:r>
          </a:p>
        </p:txBody>
      </p:sp>
    </p:spTree>
    <p:extLst>
      <p:ext uri="{BB962C8B-B14F-4D97-AF65-F5344CB8AC3E}">
        <p14:creationId xmlns:p14="http://schemas.microsoft.com/office/powerpoint/2010/main" val="182196745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E783720-A3E6-4CBA-A685-1D54A157B23C}"/>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D43"/>
                </a:solidFill>
                <a:latin typeface="Arial"/>
                <a:ea typeface="Arial"/>
                <a:cs typeface="Arial"/>
              </a:defRPr>
            </a:defPPr>
          </a:lstStyle>
          <a:p xmlns:a="http://schemas.openxmlformats.org/drawingml/2006/main">
            <a:pPr>
              <a:defRPr sz="3000" b="1">
                <a:solidFill>
                  <a:srgbClr val="172D43"/>
                </a:solidFill>
                <a:latin typeface="Arial"/>
                <a:ea typeface="Arial"/>
                <a:cs typeface="Arial"/>
              </a:defRPr>
            </a:pPr>
            <a:r>
              <a:rPr sz="3000" b="1">
                <a:solidFill>
                  <a:srgbClr val="172D43"/>
                </a:solidFill>
                <a:latin typeface="Arial"/>
                <a:ea typeface="Arial"/>
                <a:cs typeface="Arial"/>
              </a:rPr>
              <a:t>The application demonstrates input through export</a:t>
            </a:r>
          </a:p>
        </p:txBody>
      </p:sp>
      <p:sp>
        <p:nvSpPr>
          <p:cNvPr id="2" name="">
            <a:extLst xmlns:a="http://schemas.openxmlformats.org/drawingml/2006/main">
              <a:ext uri="{FF2B5EF4-FFF2-40B4-BE49-F238E27FC236}">
                <a16:creationId xmlns:a16="http://schemas.microsoft.com/office/drawing/2014/main" id="{95CC09EB-D9A9-487F-AB6E-971BCF62DA45}"/>
              </a:ext>
            </a:extLst>
          </p:cNvPr>
          <p:cNvSpPr>
            <a:spLocks xmlns:a="http://schemas.openxmlformats.org/drawingml/2006/main" noGrp="1"/>
          </p:cNvSpPr>
          <p:nvPr/>
        </p:nvSpPr>
        <p:spPr>
          <a:xfrm xmlns:a="http://schemas.openxmlformats.org/drawingml/2006/main">
            <a:off x="628650" y="11906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36779"/>
                </a:solidFill>
                <a:latin typeface="Arial"/>
                <a:ea typeface="Arial"/>
                <a:cs typeface="Arial"/>
              </a:defRPr>
            </a:def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Local scoring with a trusted frozen model | No training during page reruns</a:t>
            </a:r>
          </a:p>
        </p:txBody>
      </p:sp>
      <p:sp>
        <p:nvSpPr>
          <p:cNvPr id="3" name="">
            <a:extLst xmlns:a="http://schemas.openxmlformats.org/drawingml/2006/main">
              <a:ext uri="{FF2B5EF4-FFF2-40B4-BE49-F238E27FC236}">
                <a16:creationId xmlns:a16="http://schemas.microsoft.com/office/drawing/2014/main" id="{86CC9C5D-AFDD-4D86-8EA9-4FD841CAF9F4}"/>
              </a:ext>
            </a:extLst>
          </p:cNvPr>
          <p:cNvSpPr>
            <a:spLocks xmlns:a="http://schemas.openxmlformats.org/drawingml/2006/main" noGrp="1"/>
          </p:cNvSpPr>
          <p:nvPr/>
        </p:nvSpPr>
        <p:spPr>
          <a:xfrm xmlns:a="http://schemas.openxmlformats.org/drawingml/2006/main">
            <a:off x="609600" y="6267450"/>
            <a:ext cx="10972800" cy="19050"/>
          </a:xfrm>
          <a:prstGeom xmlns:a="http://schemas.openxmlformats.org/drawingml/2006/main" prst="rect">
            <a:avLst/>
          </a:prstGeom>
          <a:solidFill xmlns:a="http://schemas.openxmlformats.org/drawingml/2006/main">
            <a:srgbClr val="D6E2E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60C073B-5467-4F9C-A15D-825296064CC7}"/>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DepoRank | COMP6140001 Data Mining</a:t>
            </a:r>
          </a:p>
        </p:txBody>
      </p:sp>
      <p:sp>
        <p:nvSpPr>
          <p:cNvPr id="5" name="">
            <a:extLst xmlns:a="http://schemas.openxmlformats.org/drawingml/2006/main">
              <a:ext uri="{FF2B5EF4-FFF2-40B4-BE49-F238E27FC236}">
                <a16:creationId xmlns:a16="http://schemas.microsoft.com/office/drawing/2014/main" id="{824EEF52-B224-4A32-A256-D6F04C3B8D2D}"/>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4B50293E-73F9-428C-A291-043FDC449B4B}"/>
              </a:ext>
            </a:extLst>
          </p:cNvPr>
          <p:cNvSpPr>
            <a:spLocks xmlns:a="http://schemas.openxmlformats.org/drawingml/2006/main" noGrp="1"/>
          </p:cNvSpPr>
          <p:nvPr/>
        </p:nvSpPr>
        <p:spPr>
          <a:xfrm xmlns:a="http://schemas.openxmlformats.org/drawingml/2006/main">
            <a:off x="628650" y="2162175"/>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087F83"/>
                </a:solidFill>
                <a:latin typeface="Arial"/>
                <a:ea typeface="Arial"/>
                <a:cs typeface="Arial"/>
              </a:defRPr>
            </a:defPPr>
          </a:lstStyle>
          <a:p xmlns:a="http://schemas.openxmlformats.org/drawingml/2006/main">
            <a:pPr>
              <a:defRPr sz="2700" b="1">
                <a:solidFill>
                  <a:srgbClr val="087F83"/>
                </a:solidFill>
                <a:latin typeface="Arial"/>
                <a:ea typeface="Arial"/>
                <a:cs typeface="Arial"/>
              </a:defRPr>
            </a:pPr>
            <a:r>
              <a:rPr sz="2700" b="1">
                <a:solidFill>
                  <a:srgbClr val="087F83"/>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23E3F483-8031-4F41-B24C-3A56A8C48DC7}"/>
              </a:ext>
            </a:extLst>
          </p:cNvPr>
          <p:cNvSpPr>
            <a:spLocks xmlns:a="http://schemas.openxmlformats.org/drawingml/2006/main" noGrp="1"/>
          </p:cNvSpPr>
          <p:nvPr/>
        </p:nvSpPr>
        <p:spPr>
          <a:xfrm xmlns:a="http://schemas.openxmlformats.org/drawingml/2006/main">
            <a:off x="1428750" y="2190750"/>
            <a:ext cx="2714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2D43"/>
                </a:solidFill>
                <a:latin typeface="Arial"/>
                <a:ea typeface="Arial"/>
                <a:cs typeface="Arial"/>
              </a:defRPr>
            </a:defPPr>
          </a:lstStyle>
          <a:p xmlns:a="http://schemas.openxmlformats.org/drawingml/2006/main">
            <a:pPr>
              <a:defRPr sz="2100" b="1">
                <a:solidFill>
                  <a:srgbClr val="172D43"/>
                </a:solidFill>
                <a:latin typeface="Arial"/>
                <a:ea typeface="Arial"/>
                <a:cs typeface="Arial"/>
              </a:defRPr>
            </a:pPr>
            <a:r>
              <a:rPr sz="2100" b="1">
                <a:solidFill>
                  <a:srgbClr val="172D43"/>
                </a:solidFill>
                <a:latin typeface="Arial"/>
                <a:ea typeface="Arial"/>
                <a:cs typeface="Arial"/>
              </a:rPr>
              <a:t>Inspect</a:t>
            </a:r>
          </a:p>
        </p:txBody>
      </p:sp>
      <p:sp>
        <p:nvSpPr>
          <p:cNvPr id="8" name="">
            <a:extLst xmlns:a="http://schemas.openxmlformats.org/drawingml/2006/main">
              <a:ext uri="{FF2B5EF4-FFF2-40B4-BE49-F238E27FC236}">
                <a16:creationId xmlns:a16="http://schemas.microsoft.com/office/drawing/2014/main" id="{55AA79A4-9855-4FFB-8074-5F532C58CD08}"/>
              </a:ext>
            </a:extLst>
          </p:cNvPr>
          <p:cNvSpPr>
            <a:spLocks xmlns:a="http://schemas.openxmlformats.org/drawingml/2006/main" noGrp="1"/>
          </p:cNvSpPr>
          <p:nvPr/>
        </p:nvSpPr>
        <p:spPr>
          <a:xfrm xmlns:a="http://schemas.openxmlformats.org/drawingml/2006/main">
            <a:off x="1428750" y="2800350"/>
            <a:ext cx="2714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36779"/>
                </a:solidFill>
                <a:latin typeface="Arial"/>
                <a:ea typeface="Arial"/>
                <a:cs typeface="Arial"/>
              </a:defRPr>
            </a:defPPr>
          </a:lstStyle>
          <a:p xmlns:a="http://schemas.openxmlformats.org/drawingml/2006/main">
            <a:pPr>
              <a:defRPr sz="1650" b="0">
                <a:solidFill>
                  <a:srgbClr val="536779"/>
                </a:solidFill>
                <a:latin typeface="Arial"/>
                <a:ea typeface="Arial"/>
                <a:cs typeface="Arial"/>
              </a:defRPr>
            </a:pPr>
            <a:r>
              <a:rPr sz="1650" b="0">
                <a:solidFill>
                  <a:srgbClr val="536779"/>
                </a:solidFill>
                <a:latin typeface="Arial"/>
                <a:ea typeface="Arial"/>
                <a:cs typeface="Arial"/>
              </a:rPr>
              <a:t>KDD and model evidence</a:t>
            </a:r>
          </a:p>
        </p:txBody>
      </p:sp>
      <p:sp>
        <p:nvSpPr>
          <p:cNvPr id="9" name="">
            <a:extLst xmlns:a="http://schemas.openxmlformats.org/drawingml/2006/main">
              <a:ext uri="{FF2B5EF4-FFF2-40B4-BE49-F238E27FC236}">
                <a16:creationId xmlns:a16="http://schemas.microsoft.com/office/drawing/2014/main" id="{21EB7944-0F12-43A9-9F2D-5A769AD3C328}"/>
              </a:ext>
            </a:extLst>
          </p:cNvPr>
          <p:cNvSpPr>
            <a:spLocks xmlns:a="http://schemas.openxmlformats.org/drawingml/2006/main" noGrp="1"/>
          </p:cNvSpPr>
          <p:nvPr/>
        </p:nvSpPr>
        <p:spPr>
          <a:xfrm xmlns:a="http://schemas.openxmlformats.org/drawingml/2006/main">
            <a:off x="4343400" y="2162175"/>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087F83"/>
                </a:solidFill>
                <a:latin typeface="Arial"/>
                <a:ea typeface="Arial"/>
                <a:cs typeface="Arial"/>
              </a:defRPr>
            </a:defPPr>
          </a:lstStyle>
          <a:p xmlns:a="http://schemas.openxmlformats.org/drawingml/2006/main">
            <a:pPr>
              <a:defRPr sz="2700" b="1">
                <a:solidFill>
                  <a:srgbClr val="087F83"/>
                </a:solidFill>
                <a:latin typeface="Arial"/>
                <a:ea typeface="Arial"/>
                <a:cs typeface="Arial"/>
              </a:defRPr>
            </a:pPr>
            <a:r>
              <a:rPr sz="2700" b="1">
                <a:solidFill>
                  <a:srgbClr val="087F83"/>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2E8B8F6C-BEA3-45B3-AD78-B6E862DF6995}"/>
              </a:ext>
            </a:extLst>
          </p:cNvPr>
          <p:cNvSpPr>
            <a:spLocks xmlns:a="http://schemas.openxmlformats.org/drawingml/2006/main" noGrp="1"/>
          </p:cNvSpPr>
          <p:nvPr/>
        </p:nvSpPr>
        <p:spPr>
          <a:xfrm xmlns:a="http://schemas.openxmlformats.org/drawingml/2006/main">
            <a:off x="5143500" y="2190750"/>
            <a:ext cx="2714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2D43"/>
                </a:solidFill>
                <a:latin typeface="Arial"/>
                <a:ea typeface="Arial"/>
                <a:cs typeface="Arial"/>
              </a:defRPr>
            </a:defPPr>
          </a:lstStyle>
          <a:p xmlns:a="http://schemas.openxmlformats.org/drawingml/2006/main">
            <a:pPr>
              <a:defRPr sz="2100" b="1">
                <a:solidFill>
                  <a:srgbClr val="172D43"/>
                </a:solidFill>
                <a:latin typeface="Arial"/>
                <a:ea typeface="Arial"/>
                <a:cs typeface="Arial"/>
              </a:defRPr>
            </a:pPr>
            <a:r>
              <a:rPr sz="2100" b="1">
                <a:solidFill>
                  <a:srgbClr val="172D43"/>
                </a:solidFill>
                <a:latin typeface="Arial"/>
                <a:ea typeface="Arial"/>
                <a:cs typeface="Arial"/>
              </a:rPr>
              <a:t>Predict</a:t>
            </a:r>
          </a:p>
        </p:txBody>
      </p:sp>
      <p:sp>
        <p:nvSpPr>
          <p:cNvPr id="11" name="">
            <a:extLst xmlns:a="http://schemas.openxmlformats.org/drawingml/2006/main">
              <a:ext uri="{FF2B5EF4-FFF2-40B4-BE49-F238E27FC236}">
                <a16:creationId xmlns:a16="http://schemas.microsoft.com/office/drawing/2014/main" id="{68055F98-0E47-483F-BBA0-BACB26AAF88E}"/>
              </a:ext>
            </a:extLst>
          </p:cNvPr>
          <p:cNvSpPr>
            <a:spLocks xmlns:a="http://schemas.openxmlformats.org/drawingml/2006/main" noGrp="1"/>
          </p:cNvSpPr>
          <p:nvPr/>
        </p:nvSpPr>
        <p:spPr>
          <a:xfrm xmlns:a="http://schemas.openxmlformats.org/drawingml/2006/main">
            <a:off x="5143500" y="2800350"/>
            <a:ext cx="2714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36779"/>
                </a:solidFill>
                <a:latin typeface="Arial"/>
                <a:ea typeface="Arial"/>
                <a:cs typeface="Arial"/>
              </a:defRPr>
            </a:defPPr>
          </a:lstStyle>
          <a:p xmlns:a="http://schemas.openxmlformats.org/drawingml/2006/main">
            <a:pPr>
              <a:defRPr sz="1650" b="0">
                <a:solidFill>
                  <a:srgbClr val="536779"/>
                </a:solidFill>
                <a:latin typeface="Arial"/>
                <a:ea typeface="Arial"/>
                <a:cs typeface="Arial"/>
              </a:defRPr>
            </a:pPr>
            <a:r>
              <a:rPr sz="1650" b="0">
                <a:solidFill>
                  <a:srgbClr val="536779"/>
                </a:solidFill>
                <a:latin typeface="Arial"/>
                <a:ea typeface="Arial"/>
                <a:cs typeface="Arial"/>
              </a:rPr>
              <a:t>One synthetic observation</a:t>
            </a:r>
          </a:p>
        </p:txBody>
      </p:sp>
      <p:sp>
        <p:nvSpPr>
          <p:cNvPr id="12" name="">
            <a:extLst xmlns:a="http://schemas.openxmlformats.org/drawingml/2006/main">
              <a:ext uri="{FF2B5EF4-FFF2-40B4-BE49-F238E27FC236}">
                <a16:creationId xmlns:a16="http://schemas.microsoft.com/office/drawing/2014/main" id="{C73192AA-7589-477A-A2C7-453A7A82D090}"/>
              </a:ext>
            </a:extLst>
          </p:cNvPr>
          <p:cNvSpPr>
            <a:spLocks xmlns:a="http://schemas.openxmlformats.org/drawingml/2006/main" noGrp="1"/>
          </p:cNvSpPr>
          <p:nvPr/>
        </p:nvSpPr>
        <p:spPr>
          <a:xfrm xmlns:a="http://schemas.openxmlformats.org/drawingml/2006/main">
            <a:off x="8058150" y="2162175"/>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087F83"/>
                </a:solidFill>
                <a:latin typeface="Arial"/>
                <a:ea typeface="Arial"/>
                <a:cs typeface="Arial"/>
              </a:defRPr>
            </a:defPPr>
          </a:lstStyle>
          <a:p xmlns:a="http://schemas.openxmlformats.org/drawingml/2006/main">
            <a:pPr>
              <a:defRPr sz="2700" b="1">
                <a:solidFill>
                  <a:srgbClr val="087F83"/>
                </a:solidFill>
                <a:latin typeface="Arial"/>
                <a:ea typeface="Arial"/>
                <a:cs typeface="Arial"/>
              </a:defRPr>
            </a:pPr>
            <a:r>
              <a:rPr sz="2700" b="1">
                <a:solidFill>
                  <a:srgbClr val="087F83"/>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8A79D269-8CAF-4D1A-ACCC-DB39CD95BCB0}"/>
              </a:ext>
            </a:extLst>
          </p:cNvPr>
          <p:cNvSpPr>
            <a:spLocks xmlns:a="http://schemas.openxmlformats.org/drawingml/2006/main" noGrp="1"/>
          </p:cNvSpPr>
          <p:nvPr/>
        </p:nvSpPr>
        <p:spPr>
          <a:xfrm xmlns:a="http://schemas.openxmlformats.org/drawingml/2006/main">
            <a:off x="8858250" y="2190750"/>
            <a:ext cx="2714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2D43"/>
                </a:solidFill>
                <a:latin typeface="Arial"/>
                <a:ea typeface="Arial"/>
                <a:cs typeface="Arial"/>
              </a:defRPr>
            </a:defPPr>
          </a:lstStyle>
          <a:p xmlns:a="http://schemas.openxmlformats.org/drawingml/2006/main">
            <a:pPr>
              <a:defRPr sz="2100" b="1">
                <a:solidFill>
                  <a:srgbClr val="172D43"/>
                </a:solidFill>
                <a:latin typeface="Arial"/>
                <a:ea typeface="Arial"/>
                <a:cs typeface="Arial"/>
              </a:defRPr>
            </a:pPr>
            <a:r>
              <a:rPr sz="2100" b="1">
                <a:solidFill>
                  <a:srgbClr val="172D43"/>
                </a:solidFill>
                <a:latin typeface="Arial"/>
                <a:ea typeface="Arial"/>
                <a:cs typeface="Arial"/>
              </a:rPr>
              <a:t>Score</a:t>
            </a:r>
          </a:p>
        </p:txBody>
      </p:sp>
      <p:sp>
        <p:nvSpPr>
          <p:cNvPr id="14" name="">
            <a:extLst xmlns:a="http://schemas.openxmlformats.org/drawingml/2006/main">
              <a:ext uri="{FF2B5EF4-FFF2-40B4-BE49-F238E27FC236}">
                <a16:creationId xmlns:a16="http://schemas.microsoft.com/office/drawing/2014/main" id="{9F8D7027-08C0-4E30-9C77-3EEA5CB3EA77}"/>
              </a:ext>
            </a:extLst>
          </p:cNvPr>
          <p:cNvSpPr>
            <a:spLocks xmlns:a="http://schemas.openxmlformats.org/drawingml/2006/main" noGrp="1"/>
          </p:cNvSpPr>
          <p:nvPr/>
        </p:nvSpPr>
        <p:spPr>
          <a:xfrm xmlns:a="http://schemas.openxmlformats.org/drawingml/2006/main">
            <a:off x="8858250" y="2800350"/>
            <a:ext cx="2714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36779"/>
                </a:solidFill>
                <a:latin typeface="Arial"/>
                <a:ea typeface="Arial"/>
                <a:cs typeface="Arial"/>
              </a:defRPr>
            </a:defPPr>
          </a:lstStyle>
          <a:p xmlns:a="http://schemas.openxmlformats.org/drawingml/2006/main">
            <a:pPr>
              <a:defRPr sz="1650" b="0">
                <a:solidFill>
                  <a:srgbClr val="536779"/>
                </a:solidFill>
                <a:latin typeface="Arial"/>
                <a:ea typeface="Arial"/>
                <a:cs typeface="Arial"/>
              </a:defRPr>
            </a:pPr>
            <a:r>
              <a:rPr sz="1650" b="0">
                <a:solidFill>
                  <a:srgbClr val="536779"/>
                </a:solidFill>
                <a:latin typeface="Arial"/>
                <a:ea typeface="Arial"/>
                <a:cs typeface="Arial"/>
              </a:rPr>
              <a:t>Valid CSV at q=10%</a:t>
            </a:r>
          </a:p>
        </p:txBody>
      </p:sp>
      <p:sp>
        <p:nvSpPr>
          <p:cNvPr id="15" name="">
            <a:extLst xmlns:a="http://schemas.openxmlformats.org/drawingml/2006/main">
              <a:ext uri="{FF2B5EF4-FFF2-40B4-BE49-F238E27FC236}">
                <a16:creationId xmlns:a16="http://schemas.microsoft.com/office/drawing/2014/main" id="{07BD04B4-4501-423B-A7A7-849057764417}"/>
              </a:ext>
            </a:extLst>
          </p:cNvPr>
          <p:cNvSpPr>
            <a:spLocks xmlns:a="http://schemas.openxmlformats.org/drawingml/2006/main" noGrp="1"/>
          </p:cNvSpPr>
          <p:nvPr/>
        </p:nvSpPr>
        <p:spPr>
          <a:xfrm xmlns:a="http://schemas.openxmlformats.org/drawingml/2006/main">
            <a:off x="628650" y="392430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087F83"/>
                </a:solidFill>
                <a:latin typeface="Arial"/>
                <a:ea typeface="Arial"/>
                <a:cs typeface="Arial"/>
              </a:defRPr>
            </a:defPPr>
          </a:lstStyle>
          <a:p xmlns:a="http://schemas.openxmlformats.org/drawingml/2006/main">
            <a:pPr>
              <a:defRPr sz="2700" b="1">
                <a:solidFill>
                  <a:srgbClr val="087F83"/>
                </a:solidFill>
                <a:latin typeface="Arial"/>
                <a:ea typeface="Arial"/>
                <a:cs typeface="Arial"/>
              </a:defRPr>
            </a:pPr>
            <a:r>
              <a:rPr sz="2700" b="1">
                <a:solidFill>
                  <a:srgbClr val="087F83"/>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BB9219FC-16D4-4696-8080-20AC46CB83B3}"/>
              </a:ext>
            </a:extLst>
          </p:cNvPr>
          <p:cNvSpPr>
            <a:spLocks xmlns:a="http://schemas.openxmlformats.org/drawingml/2006/main" noGrp="1"/>
          </p:cNvSpPr>
          <p:nvPr/>
        </p:nvSpPr>
        <p:spPr>
          <a:xfrm xmlns:a="http://schemas.openxmlformats.org/drawingml/2006/main">
            <a:off x="1428750" y="3952875"/>
            <a:ext cx="2714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2D43"/>
                </a:solidFill>
                <a:latin typeface="Arial"/>
                <a:ea typeface="Arial"/>
                <a:cs typeface="Arial"/>
              </a:defRPr>
            </a:defPPr>
          </a:lstStyle>
          <a:p xmlns:a="http://schemas.openxmlformats.org/drawingml/2006/main">
            <a:pPr>
              <a:defRPr sz="2100" b="1">
                <a:solidFill>
                  <a:srgbClr val="172D43"/>
                </a:solidFill>
                <a:latin typeface="Arial"/>
                <a:ea typeface="Arial"/>
                <a:cs typeface="Arial"/>
              </a:defRPr>
            </a:pPr>
            <a:r>
              <a:rPr sz="2100" b="1">
                <a:solidFill>
                  <a:srgbClr val="172D43"/>
                </a:solidFill>
                <a:latin typeface="Arial"/>
                <a:ea typeface="Arial"/>
                <a:cs typeface="Arial"/>
              </a:rPr>
              <a:t>Rerank</a:t>
            </a:r>
          </a:p>
        </p:txBody>
      </p:sp>
      <p:sp>
        <p:nvSpPr>
          <p:cNvPr id="17" name="">
            <a:extLst xmlns:a="http://schemas.openxmlformats.org/drawingml/2006/main">
              <a:ext uri="{FF2B5EF4-FFF2-40B4-BE49-F238E27FC236}">
                <a16:creationId xmlns:a16="http://schemas.microsoft.com/office/drawing/2014/main" id="{828A14CD-788D-4B2F-B675-32DBC4927F7A}"/>
              </a:ext>
            </a:extLst>
          </p:cNvPr>
          <p:cNvSpPr>
            <a:spLocks xmlns:a="http://schemas.openxmlformats.org/drawingml/2006/main" noGrp="1"/>
          </p:cNvSpPr>
          <p:nvPr/>
        </p:nvSpPr>
        <p:spPr>
          <a:xfrm xmlns:a="http://schemas.openxmlformats.org/drawingml/2006/main">
            <a:off x="1428750" y="4562475"/>
            <a:ext cx="2714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36779"/>
                </a:solidFill>
                <a:latin typeface="Arial"/>
                <a:ea typeface="Arial"/>
                <a:cs typeface="Arial"/>
              </a:defRPr>
            </a:defPPr>
          </a:lstStyle>
          <a:p xmlns:a="http://schemas.openxmlformats.org/drawingml/2006/main">
            <a:pPr>
              <a:defRPr sz="1650" b="0">
                <a:solidFill>
                  <a:srgbClr val="536779"/>
                </a:solidFill>
                <a:latin typeface="Arial"/>
                <a:ea typeface="Arial"/>
                <a:cs typeface="Arial"/>
              </a:defRPr>
            </a:pPr>
            <a:r>
              <a:rPr sz="1650" b="0">
                <a:solidFill>
                  <a:srgbClr val="536779"/>
                </a:solidFill>
                <a:latin typeface="Arial"/>
                <a:ea typeface="Arial"/>
                <a:cs typeface="Arial"/>
              </a:rPr>
              <a:t>Change K without training</a:t>
            </a:r>
          </a:p>
        </p:txBody>
      </p:sp>
      <p:sp>
        <p:nvSpPr>
          <p:cNvPr id="18" name="">
            <a:extLst xmlns:a="http://schemas.openxmlformats.org/drawingml/2006/main">
              <a:ext uri="{FF2B5EF4-FFF2-40B4-BE49-F238E27FC236}">
                <a16:creationId xmlns:a16="http://schemas.microsoft.com/office/drawing/2014/main" id="{FF76EDAA-F6A9-4CB4-B164-530A6215D271}"/>
              </a:ext>
            </a:extLst>
          </p:cNvPr>
          <p:cNvSpPr>
            <a:spLocks xmlns:a="http://schemas.openxmlformats.org/drawingml/2006/main" noGrp="1"/>
          </p:cNvSpPr>
          <p:nvPr/>
        </p:nvSpPr>
        <p:spPr>
          <a:xfrm xmlns:a="http://schemas.openxmlformats.org/drawingml/2006/main">
            <a:off x="4343400" y="392430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087F83"/>
                </a:solidFill>
                <a:latin typeface="Arial"/>
                <a:ea typeface="Arial"/>
                <a:cs typeface="Arial"/>
              </a:defRPr>
            </a:defPPr>
          </a:lstStyle>
          <a:p xmlns:a="http://schemas.openxmlformats.org/drawingml/2006/main">
            <a:pPr>
              <a:defRPr sz="2700" b="1">
                <a:solidFill>
                  <a:srgbClr val="087F83"/>
                </a:solidFill>
                <a:latin typeface="Arial"/>
                <a:ea typeface="Arial"/>
                <a:cs typeface="Arial"/>
              </a:defRPr>
            </a:pPr>
            <a:r>
              <a:rPr sz="2700" b="1">
                <a:solidFill>
                  <a:srgbClr val="087F83"/>
                </a:solidFill>
                <a:latin typeface="Arial"/>
                <a:ea typeface="Arial"/>
                <a:cs typeface="Arial"/>
              </a:rPr>
              <a:t>05</a:t>
            </a:r>
          </a:p>
        </p:txBody>
      </p:sp>
      <p:sp>
        <p:nvSpPr>
          <p:cNvPr id="19" name="">
            <a:extLst xmlns:a="http://schemas.openxmlformats.org/drawingml/2006/main">
              <a:ext uri="{FF2B5EF4-FFF2-40B4-BE49-F238E27FC236}">
                <a16:creationId xmlns:a16="http://schemas.microsoft.com/office/drawing/2014/main" id="{7D69300E-4199-48A8-B376-1AE1B300A3C8}"/>
              </a:ext>
            </a:extLst>
          </p:cNvPr>
          <p:cNvSpPr>
            <a:spLocks xmlns:a="http://schemas.openxmlformats.org/drawingml/2006/main" noGrp="1"/>
          </p:cNvSpPr>
          <p:nvPr/>
        </p:nvSpPr>
        <p:spPr>
          <a:xfrm xmlns:a="http://schemas.openxmlformats.org/drawingml/2006/main">
            <a:off x="5143500" y="3952875"/>
            <a:ext cx="2714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2D43"/>
                </a:solidFill>
                <a:latin typeface="Arial"/>
                <a:ea typeface="Arial"/>
                <a:cs typeface="Arial"/>
              </a:defRPr>
            </a:defPPr>
          </a:lstStyle>
          <a:p xmlns:a="http://schemas.openxmlformats.org/drawingml/2006/main">
            <a:pPr>
              <a:defRPr sz="2100" b="1">
                <a:solidFill>
                  <a:srgbClr val="172D43"/>
                </a:solidFill>
                <a:latin typeface="Arial"/>
                <a:ea typeface="Arial"/>
                <a:cs typeface="Arial"/>
              </a:defRPr>
            </a:pPr>
            <a:r>
              <a:rPr sz="2100" b="1">
                <a:solidFill>
                  <a:srgbClr val="172D43"/>
                </a:solidFill>
                <a:latin typeface="Arial"/>
                <a:ea typeface="Arial"/>
                <a:cs typeface="Arial"/>
              </a:rPr>
              <a:t>Export</a:t>
            </a:r>
          </a:p>
        </p:txBody>
      </p:sp>
      <p:sp>
        <p:nvSpPr>
          <p:cNvPr id="20" name="">
            <a:extLst xmlns:a="http://schemas.openxmlformats.org/drawingml/2006/main">
              <a:ext uri="{FF2B5EF4-FFF2-40B4-BE49-F238E27FC236}">
                <a16:creationId xmlns:a16="http://schemas.microsoft.com/office/drawing/2014/main" id="{B32408A5-808E-4418-99AE-744284F75C8B}"/>
              </a:ext>
            </a:extLst>
          </p:cNvPr>
          <p:cNvSpPr>
            <a:spLocks xmlns:a="http://schemas.openxmlformats.org/drawingml/2006/main" noGrp="1"/>
          </p:cNvSpPr>
          <p:nvPr/>
        </p:nvSpPr>
        <p:spPr>
          <a:xfrm xmlns:a="http://schemas.openxmlformats.org/drawingml/2006/main">
            <a:off x="5143500" y="4562475"/>
            <a:ext cx="2714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36779"/>
                </a:solidFill>
                <a:latin typeface="Arial"/>
                <a:ea typeface="Arial"/>
                <a:cs typeface="Arial"/>
              </a:defRPr>
            </a:defPPr>
          </a:lstStyle>
          <a:p xmlns:a="http://schemas.openxmlformats.org/drawingml/2006/main">
            <a:pPr>
              <a:defRPr sz="1650" b="0">
                <a:solidFill>
                  <a:srgbClr val="536779"/>
                </a:solidFill>
                <a:latin typeface="Arial"/>
                <a:ea typeface="Arial"/>
                <a:cs typeface="Arial"/>
              </a:defRPr>
            </a:pPr>
            <a:r>
              <a:rPr sz="1650" b="0">
                <a:solidFill>
                  <a:srgbClr val="536779"/>
                </a:solidFill>
                <a:latin typeface="Arial"/>
                <a:ea typeface="Arial"/>
                <a:cs typeface="Arial"/>
              </a:rPr>
              <a:t>CSV/JSON and provenance</a:t>
            </a:r>
          </a:p>
        </p:txBody>
      </p:sp>
      <p:sp>
        <p:nvSpPr>
          <p:cNvPr id="21" name="">
            <a:extLst xmlns:a="http://schemas.openxmlformats.org/drawingml/2006/main">
              <a:ext uri="{FF2B5EF4-FFF2-40B4-BE49-F238E27FC236}">
                <a16:creationId xmlns:a16="http://schemas.microsoft.com/office/drawing/2014/main" id="{A9D8F8F6-DF3B-45BE-9CAA-BE18BA5621CF}"/>
              </a:ext>
            </a:extLst>
          </p:cNvPr>
          <p:cNvSpPr>
            <a:spLocks xmlns:a="http://schemas.openxmlformats.org/drawingml/2006/main" noGrp="1"/>
          </p:cNvSpPr>
          <p:nvPr/>
        </p:nvSpPr>
        <p:spPr>
          <a:xfrm xmlns:a="http://schemas.openxmlformats.org/drawingml/2006/main">
            <a:off x="8058150" y="392430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087F83"/>
                </a:solidFill>
                <a:latin typeface="Arial"/>
                <a:ea typeface="Arial"/>
                <a:cs typeface="Arial"/>
              </a:defRPr>
            </a:defPPr>
          </a:lstStyle>
          <a:p xmlns:a="http://schemas.openxmlformats.org/drawingml/2006/main">
            <a:pPr>
              <a:defRPr sz="2700" b="1">
                <a:solidFill>
                  <a:srgbClr val="087F83"/>
                </a:solidFill>
                <a:latin typeface="Arial"/>
                <a:ea typeface="Arial"/>
                <a:cs typeface="Arial"/>
              </a:defRPr>
            </a:pPr>
            <a:r>
              <a:rPr sz="2700" b="1">
                <a:solidFill>
                  <a:srgbClr val="087F83"/>
                </a:solidFill>
                <a:latin typeface="Arial"/>
                <a:ea typeface="Arial"/>
                <a:cs typeface="Arial"/>
              </a:rPr>
              <a:t>06</a:t>
            </a:r>
          </a:p>
        </p:txBody>
      </p:sp>
      <p:sp>
        <p:nvSpPr>
          <p:cNvPr id="22" name="">
            <a:extLst xmlns:a="http://schemas.openxmlformats.org/drawingml/2006/main">
              <a:ext uri="{FF2B5EF4-FFF2-40B4-BE49-F238E27FC236}">
                <a16:creationId xmlns:a16="http://schemas.microsoft.com/office/drawing/2014/main" id="{3E8720A6-F039-4EF4-A930-7978AA926650}"/>
              </a:ext>
            </a:extLst>
          </p:cNvPr>
          <p:cNvSpPr>
            <a:spLocks xmlns:a="http://schemas.openxmlformats.org/drawingml/2006/main" noGrp="1"/>
          </p:cNvSpPr>
          <p:nvPr/>
        </p:nvSpPr>
        <p:spPr>
          <a:xfrm xmlns:a="http://schemas.openxmlformats.org/drawingml/2006/main">
            <a:off x="8858250" y="3952875"/>
            <a:ext cx="2714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2D43"/>
                </a:solidFill>
                <a:latin typeface="Arial"/>
                <a:ea typeface="Arial"/>
                <a:cs typeface="Arial"/>
              </a:defRPr>
            </a:defPPr>
          </a:lstStyle>
          <a:p xmlns:a="http://schemas.openxmlformats.org/drawingml/2006/main">
            <a:pPr>
              <a:defRPr sz="2100" b="1">
                <a:solidFill>
                  <a:srgbClr val="172D43"/>
                </a:solidFill>
                <a:latin typeface="Arial"/>
                <a:ea typeface="Arial"/>
                <a:cs typeface="Arial"/>
              </a:defRPr>
            </a:pPr>
            <a:r>
              <a:rPr sz="2100" b="1">
                <a:solidFill>
                  <a:srgbClr val="172D43"/>
                </a:solidFill>
                <a:latin typeface="Arial"/>
                <a:ea typeface="Arial"/>
                <a:cs typeface="Arial"/>
              </a:rPr>
              <a:t>Reject</a:t>
            </a:r>
          </a:p>
        </p:txBody>
      </p:sp>
      <p:sp>
        <p:nvSpPr>
          <p:cNvPr id="23" name="">
            <a:extLst xmlns:a="http://schemas.openxmlformats.org/drawingml/2006/main">
              <a:ext uri="{FF2B5EF4-FFF2-40B4-BE49-F238E27FC236}">
                <a16:creationId xmlns:a16="http://schemas.microsoft.com/office/drawing/2014/main" id="{60BDCD12-148C-406C-AF15-ED9C8FC0E1D4}"/>
              </a:ext>
            </a:extLst>
          </p:cNvPr>
          <p:cNvSpPr>
            <a:spLocks xmlns:a="http://schemas.openxmlformats.org/drawingml/2006/main" noGrp="1"/>
          </p:cNvSpPr>
          <p:nvPr/>
        </p:nvSpPr>
        <p:spPr>
          <a:xfrm xmlns:a="http://schemas.openxmlformats.org/drawingml/2006/main">
            <a:off x="8858250" y="4562475"/>
            <a:ext cx="2714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36779"/>
                </a:solidFill>
                <a:latin typeface="Arial"/>
                <a:ea typeface="Arial"/>
                <a:cs typeface="Arial"/>
              </a:defRPr>
            </a:defPPr>
          </a:lstStyle>
          <a:p xmlns:a="http://schemas.openxmlformats.org/drawingml/2006/main">
            <a:pPr>
              <a:defRPr sz="1650" b="0">
                <a:solidFill>
                  <a:srgbClr val="536779"/>
                </a:solidFill>
                <a:latin typeface="Arial"/>
                <a:ea typeface="Arial"/>
                <a:cs typeface="Arial"/>
              </a:defRPr>
            </a:pPr>
            <a:r>
              <a:rPr sz="1650" b="0">
                <a:solidFill>
                  <a:srgbClr val="536779"/>
                </a:solidFill>
                <a:latin typeface="Arial"/>
                <a:ea typeface="Arial"/>
                <a:cs typeface="Arial"/>
              </a:rPr>
              <a:t>Invalid batch and error report</a:t>
            </a:r>
          </a:p>
        </p:txBody>
      </p:sp>
      <p:sp>
        <p:nvSpPr>
          <p:cNvPr id="24" name="">
            <a:extLst xmlns:a="http://schemas.openxmlformats.org/drawingml/2006/main">
              <a:ext uri="{FF2B5EF4-FFF2-40B4-BE49-F238E27FC236}">
                <a16:creationId xmlns:a16="http://schemas.microsoft.com/office/drawing/2014/main" id="{522FBF87-AD0A-479A-A45D-E817C129882B}"/>
              </a:ext>
            </a:extLst>
          </p:cNvPr>
          <p:cNvSpPr>
            <a:spLocks xmlns:a="http://schemas.openxmlformats.org/drawingml/2006/main" noGrp="1"/>
          </p:cNvSpPr>
          <p:nvPr/>
        </p:nvSpPr>
        <p:spPr>
          <a:xfrm xmlns:a="http://schemas.openxmlformats.org/drawingml/2006/main">
            <a:off x="628650" y="5724525"/>
            <a:ext cx="1093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36779"/>
                </a:solidFill>
                <a:latin typeface="Arial"/>
                <a:ea typeface="Arial"/>
                <a:cs typeface="Arial"/>
              </a:defRPr>
            </a:defPPr>
          </a:lstStyle>
          <a:p xmlns:a="http://schemas.openxmlformats.org/drawingml/2006/main">
            <a:pPr>
              <a:defRPr sz="1575" b="0">
                <a:solidFill>
                  <a:srgbClr val="536779"/>
                </a:solidFill>
                <a:latin typeface="Arial"/>
                <a:ea typeface="Arial"/>
                <a:cs typeface="Arial"/>
              </a:defRPr>
            </a:pPr>
            <a:r>
              <a:rPr sz="1575" b="0">
                <a:solidFill>
                  <a:srgbClr val="536779"/>
                </a:solidFill>
                <a:latin typeface="Arial"/>
                <a:ea typeface="Arial"/>
                <a:cs typeface="Arial"/>
              </a:rPr>
              <a:t>Software quality: 246 passing tests; predictive results remain separate.</a:t>
            </a:r>
          </a:p>
        </p:txBody>
      </p:sp>
    </p:spTree>
    <p:extLst>
      <p:ext uri="{BB962C8B-B14F-4D97-AF65-F5344CB8AC3E}">
        <p14:creationId xmlns:p14="http://schemas.microsoft.com/office/powerpoint/2010/main" val="26319155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686EB56-576B-4FB4-B8AB-9DD11CE4BF08}"/>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D43"/>
                </a:solidFill>
                <a:latin typeface="Arial"/>
                <a:ea typeface="Arial"/>
                <a:cs typeface="Arial"/>
              </a:defRPr>
            </a:defPPr>
          </a:lstStyle>
          <a:p xmlns:a="http://schemas.openxmlformats.org/drawingml/2006/main">
            <a:pPr>
              <a:defRPr sz="3000" b="1">
                <a:solidFill>
                  <a:srgbClr val="172D43"/>
                </a:solidFill>
                <a:latin typeface="Arial"/>
                <a:ea typeface="Arial"/>
                <a:cs typeface="Arial"/>
              </a:defRPr>
            </a:pPr>
            <a:r>
              <a:rPr sz="3000" b="1">
                <a:solidFill>
                  <a:srgbClr val="172D43"/>
                </a:solidFill>
                <a:latin typeface="Arial"/>
                <a:ea typeface="Arial"/>
                <a:cs typeface="Arial"/>
              </a:rPr>
              <a:t>A next experiment must use current, permissioned data</a:t>
            </a:r>
          </a:p>
        </p:txBody>
      </p:sp>
      <p:sp>
        <p:nvSpPr>
          <p:cNvPr id="2" name="">
            <a:extLst xmlns:a="http://schemas.openxmlformats.org/drawingml/2006/main">
              <a:ext uri="{FF2B5EF4-FFF2-40B4-BE49-F238E27FC236}">
                <a16:creationId xmlns:a16="http://schemas.microsoft.com/office/drawing/2014/main" id="{83518D82-70E4-41C8-A877-A0F6BBFA1211}"/>
              </a:ext>
            </a:extLst>
          </p:cNvPr>
          <p:cNvSpPr>
            <a:spLocks xmlns:a="http://schemas.openxmlformats.org/drawingml/2006/main" noGrp="1"/>
          </p:cNvSpPr>
          <p:nvPr/>
        </p:nvSpPr>
        <p:spPr>
          <a:xfrm xmlns:a="http://schemas.openxmlformats.org/drawingml/2006/main">
            <a:off x="628650" y="11906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36779"/>
                </a:solidFill>
                <a:latin typeface="Arial"/>
                <a:ea typeface="Arial"/>
                <a:cs typeface="Arial"/>
              </a:defRPr>
            </a:def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Historical Portugal results do not establish production validity in Indonesia</a:t>
            </a:r>
          </a:p>
        </p:txBody>
      </p:sp>
      <p:sp>
        <p:nvSpPr>
          <p:cNvPr id="3" name="">
            <a:extLst xmlns:a="http://schemas.openxmlformats.org/drawingml/2006/main">
              <a:ext uri="{FF2B5EF4-FFF2-40B4-BE49-F238E27FC236}">
                <a16:creationId xmlns:a16="http://schemas.microsoft.com/office/drawing/2014/main" id="{0DE21E12-81AB-49B0-8662-719C3EA02CD0}"/>
              </a:ext>
            </a:extLst>
          </p:cNvPr>
          <p:cNvSpPr>
            <a:spLocks xmlns:a="http://schemas.openxmlformats.org/drawingml/2006/main" noGrp="1"/>
          </p:cNvSpPr>
          <p:nvPr/>
        </p:nvSpPr>
        <p:spPr>
          <a:xfrm xmlns:a="http://schemas.openxmlformats.org/drawingml/2006/main">
            <a:off x="609600" y="6267450"/>
            <a:ext cx="10972800" cy="19050"/>
          </a:xfrm>
          <a:prstGeom xmlns:a="http://schemas.openxmlformats.org/drawingml/2006/main" prst="rect">
            <a:avLst/>
          </a:prstGeom>
          <a:solidFill xmlns:a="http://schemas.openxmlformats.org/drawingml/2006/main">
            <a:srgbClr val="D6E2E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E2C9BC5-BDEF-4A1E-9968-067D16D3763E}"/>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DepoRank | COMP6140001 Data Mining</a:t>
            </a:r>
          </a:p>
        </p:txBody>
      </p:sp>
      <p:sp>
        <p:nvSpPr>
          <p:cNvPr id="5" name="">
            <a:extLst xmlns:a="http://schemas.openxmlformats.org/drawingml/2006/main">
              <a:ext uri="{FF2B5EF4-FFF2-40B4-BE49-F238E27FC236}">
                <a16:creationId xmlns:a16="http://schemas.microsoft.com/office/drawing/2014/main" id="{028A509A-1E21-44D2-849C-FCA2D7DDDC51}"/>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15</a:t>
            </a:r>
          </a:p>
        </p:txBody>
      </p:sp>
      <p:sp>
        <p:nvSpPr>
          <p:cNvPr id="6" name="">
            <a:extLst xmlns:a="http://schemas.openxmlformats.org/drawingml/2006/main">
              <a:ext uri="{FF2B5EF4-FFF2-40B4-BE49-F238E27FC236}">
                <a16:creationId xmlns:a16="http://schemas.microsoft.com/office/drawing/2014/main" id="{512A5760-D053-4329-BD5C-1555CD6AD917}"/>
              </a:ext>
            </a:extLst>
          </p:cNvPr>
          <p:cNvSpPr>
            <a:spLocks xmlns:a="http://schemas.openxmlformats.org/drawingml/2006/main" noGrp="1"/>
          </p:cNvSpPr>
          <p:nvPr/>
        </p:nvSpPr>
        <p:spPr>
          <a:xfrm xmlns:a="http://schemas.openxmlformats.org/drawingml/2006/main">
            <a:off x="628650" y="2085975"/>
            <a:ext cx="4905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F83"/>
                </a:solidFill>
                <a:latin typeface="Arial"/>
                <a:ea typeface="Arial"/>
                <a:cs typeface="Arial"/>
              </a:defRPr>
            </a:defPPr>
          </a:lstStyle>
          <a:p xmlns:a="http://schemas.openxmlformats.org/drawingml/2006/main">
            <a:pPr>
              <a:defRPr sz="2325" b="1">
                <a:solidFill>
                  <a:srgbClr val="087F83"/>
                </a:solidFill>
                <a:latin typeface="Arial"/>
                <a:ea typeface="Arial"/>
                <a:cs typeface="Arial"/>
              </a:defRPr>
            </a:pPr>
            <a:r>
              <a:rPr sz="2325" b="1">
                <a:solidFill>
                  <a:srgbClr val="087F83"/>
                </a:solidFill>
                <a:latin typeface="Arial"/>
                <a:ea typeface="Arial"/>
                <a:cs typeface="Arial"/>
              </a:rPr>
              <a:t>Current limitations</a:t>
            </a:r>
          </a:p>
        </p:txBody>
      </p:sp>
      <p:sp>
        <p:nvSpPr>
          <p:cNvPr id="7" name="">
            <a:extLst xmlns:a="http://schemas.openxmlformats.org/drawingml/2006/main">
              <a:ext uri="{FF2B5EF4-FFF2-40B4-BE49-F238E27FC236}">
                <a16:creationId xmlns:a16="http://schemas.microsoft.com/office/drawing/2014/main" id="{895F80F9-AD4D-41E2-9BA6-93369B68C042}"/>
              </a:ext>
            </a:extLst>
          </p:cNvPr>
          <p:cNvSpPr>
            <a:spLocks xmlns:a="http://schemas.openxmlformats.org/drawingml/2006/main" noGrp="1"/>
          </p:cNvSpPr>
          <p:nvPr/>
        </p:nvSpPr>
        <p:spPr>
          <a:xfrm xmlns:a="http://schemas.openxmlformats.org/drawingml/2006/main">
            <a:off x="628650" y="2914650"/>
            <a:ext cx="496252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72D43"/>
                </a:solidFill>
                <a:latin typeface="Arial"/>
                <a:ea typeface="Arial"/>
                <a:cs typeface="Arial"/>
              </a:defRPr>
            </a:defPPr>
          </a:lstStyle>
          <a:p xmlns:a="http://schemas.openxmlformats.org/drawingml/2006/main">
            <a:pPr>
              <a:defRPr sz="2025" b="0">
                <a:solidFill>
                  <a:srgbClr val="172D43"/>
                </a:solidFill>
                <a:latin typeface="Arial"/>
                <a:ea typeface="Arial"/>
                <a:cs typeface="Arial"/>
              </a:defRPr>
            </a:pPr>
            <a:r>
              <a:rPr sz="2025" b="0">
                <a:solidFill>
                  <a:srgbClr val="172D43"/>
                </a:solidFill>
                <a:latin typeface="Arial"/>
                <a:ea typeface="Arial"/>
                <a:cs typeface="Arial"/>
              </a:rPr>
              <a:t>Old and geographically different data</a:t>
            </a:r>
          </a:p>
          <a:p xmlns:a="http://schemas.openxmlformats.org/drawingml/2006/main">
            <a:pPr>
              <a:defRPr sz="2025" b="0">
                <a:solidFill>
                  <a:srgbClr val="172D43"/>
                </a:solidFill>
                <a:latin typeface="Arial"/>
                <a:ea typeface="Arial"/>
                <a:cs typeface="Arial"/>
              </a:defRPr>
            </a:pPr>
            <a:r>
              <a:rPr sz="2025" b="0">
                <a:solidFill>
                  <a:srgbClr val="172D43"/>
                </a:solidFill>
                <a:latin typeface="Arial"/>
                <a:ea typeface="Arial"/>
                <a:cs typeface="Arial"/>
              </a:rPr>
              <a:t>No verified customer/time isolation</a:t>
            </a:r>
          </a:p>
          <a:p xmlns:a="http://schemas.openxmlformats.org/drawingml/2006/main">
            <a:pPr>
              <a:defRPr sz="2025" b="0">
                <a:solidFill>
                  <a:srgbClr val="172D43"/>
                </a:solidFill>
                <a:latin typeface="Arial"/>
                <a:ea typeface="Arial"/>
                <a:cs typeface="Arial"/>
              </a:defRPr>
            </a:pPr>
            <a:r>
              <a:rPr sz="2025" b="0">
                <a:solidFill>
                  <a:srgbClr val="172D43"/>
                </a:solidFill>
                <a:latin typeface="Arial"/>
                <a:ea typeface="Arial"/>
                <a:cs typeface="Arial"/>
              </a:rPr>
              <a:t>No ROI or treatment-effect evidence</a:t>
            </a:r>
          </a:p>
          <a:p xmlns:a="http://schemas.openxmlformats.org/drawingml/2006/main">
            <a:pPr>
              <a:defRPr sz="2025" b="0">
                <a:solidFill>
                  <a:srgbClr val="172D43"/>
                </a:solidFill>
                <a:latin typeface="Arial"/>
                <a:ea typeface="Arial"/>
                <a:cs typeface="Arial"/>
              </a:defRPr>
            </a:pPr>
            <a:r>
              <a:rPr sz="2025" b="0">
                <a:solidFill>
                  <a:srgbClr val="172D43"/>
                </a:solidFill>
                <a:latin typeface="Arial"/>
                <a:ea typeface="Arial"/>
                <a:cs typeface="Arial"/>
              </a:rPr>
              <a:t>Calibration and fairness unproven</a:t>
            </a:r>
          </a:p>
        </p:txBody>
      </p:sp>
      <p:sp>
        <p:nvSpPr>
          <p:cNvPr id="8" name="">
            <a:extLst xmlns:a="http://schemas.openxmlformats.org/drawingml/2006/main">
              <a:ext uri="{FF2B5EF4-FFF2-40B4-BE49-F238E27FC236}">
                <a16:creationId xmlns:a16="http://schemas.microsoft.com/office/drawing/2014/main" id="{DAC451F1-9B2F-4640-A3E5-0D89214E15C1}"/>
              </a:ext>
            </a:extLst>
          </p:cNvPr>
          <p:cNvSpPr>
            <a:spLocks xmlns:a="http://schemas.openxmlformats.org/drawingml/2006/main" noGrp="1"/>
          </p:cNvSpPr>
          <p:nvPr/>
        </p:nvSpPr>
        <p:spPr>
          <a:xfrm xmlns:a="http://schemas.openxmlformats.org/drawingml/2006/main">
            <a:off x="6381750" y="2085975"/>
            <a:ext cx="5162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F83"/>
                </a:solidFill>
                <a:latin typeface="Arial"/>
                <a:ea typeface="Arial"/>
                <a:cs typeface="Arial"/>
              </a:defRPr>
            </a:defPPr>
          </a:lstStyle>
          <a:p xmlns:a="http://schemas.openxmlformats.org/drawingml/2006/main">
            <a:pPr>
              <a:defRPr sz="2325" b="1">
                <a:solidFill>
                  <a:srgbClr val="087F83"/>
                </a:solidFill>
                <a:latin typeface="Arial"/>
                <a:ea typeface="Arial"/>
                <a:cs typeface="Arial"/>
              </a:defRPr>
            </a:pPr>
            <a:r>
              <a:rPr sz="2325" b="1">
                <a:solidFill>
                  <a:srgbClr val="087F83"/>
                </a:solidFill>
                <a:latin typeface="Arial"/>
                <a:ea typeface="Arial"/>
                <a:cs typeface="Arial"/>
              </a:rPr>
              <a:t>Next validation</a:t>
            </a:r>
          </a:p>
        </p:txBody>
      </p:sp>
      <p:sp>
        <p:nvSpPr>
          <p:cNvPr id="9" name="">
            <a:extLst xmlns:a="http://schemas.openxmlformats.org/drawingml/2006/main">
              <a:ext uri="{FF2B5EF4-FFF2-40B4-BE49-F238E27FC236}">
                <a16:creationId xmlns:a16="http://schemas.microsoft.com/office/drawing/2014/main" id="{4CC981D2-4E59-4B59-AD6E-1763BCBA1273}"/>
              </a:ext>
            </a:extLst>
          </p:cNvPr>
          <p:cNvSpPr>
            <a:spLocks xmlns:a="http://schemas.openxmlformats.org/drawingml/2006/main" noGrp="1"/>
          </p:cNvSpPr>
          <p:nvPr/>
        </p:nvSpPr>
        <p:spPr>
          <a:xfrm xmlns:a="http://schemas.openxmlformats.org/drawingml/2006/main">
            <a:off x="6381750" y="2914650"/>
            <a:ext cx="51625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72D43"/>
                </a:solidFill>
                <a:latin typeface="Arial"/>
                <a:ea typeface="Arial"/>
                <a:cs typeface="Arial"/>
              </a:defRPr>
            </a:defPPr>
          </a:lstStyle>
          <a:p xmlns:a="http://schemas.openxmlformats.org/drawingml/2006/main">
            <a:pPr>
              <a:defRPr sz="2025" b="0">
                <a:solidFill>
                  <a:srgbClr val="172D43"/>
                </a:solidFill>
                <a:latin typeface="Arial"/>
                <a:ea typeface="Arial"/>
                <a:cs typeface="Arial"/>
              </a:defRPr>
            </a:pPr>
            <a:r>
              <a:rPr sz="2025" b="0">
                <a:solidFill>
                  <a:srgbClr val="172D43"/>
                </a:solidFill>
                <a:latin typeface="Arial"/>
                <a:ea typeface="Arial"/>
                <a:cs typeface="Arial"/>
              </a:rPr>
              <a:t>Point-in-time customer snapshots</a:t>
            </a:r>
          </a:p>
          <a:p xmlns:a="http://schemas.openxmlformats.org/drawingml/2006/main">
            <a:pPr>
              <a:defRPr sz="2025" b="0">
                <a:solidFill>
                  <a:srgbClr val="172D43"/>
                </a:solidFill>
                <a:latin typeface="Arial"/>
                <a:ea typeface="Arial"/>
                <a:cs typeface="Arial"/>
              </a:defRPr>
            </a:pPr>
            <a:r>
              <a:rPr sz="2025" b="0">
                <a:solidFill>
                  <a:srgbClr val="172D43"/>
                </a:solidFill>
                <a:latin typeface="Arial"/>
                <a:ea typeface="Arial"/>
                <a:cs typeface="Arial"/>
              </a:rPr>
              <a:t>New out-of-time holdout</a:t>
            </a:r>
          </a:p>
          <a:p xmlns:a="http://schemas.openxmlformats.org/drawingml/2006/main">
            <a:pPr>
              <a:defRPr sz="2025" b="0">
                <a:solidFill>
                  <a:srgbClr val="172D43"/>
                </a:solidFill>
                <a:latin typeface="Arial"/>
                <a:ea typeface="Arial"/>
                <a:cs typeface="Arial"/>
              </a:defRPr>
            </a:pPr>
            <a:r>
              <a:rPr sz="2025" b="0">
                <a:solidFill>
                  <a:srgbClr val="172D43"/>
                </a:solidFill>
                <a:latin typeface="Arial"/>
                <a:ea typeface="Arial"/>
                <a:cs typeface="Arial"/>
              </a:rPr>
              <a:t>Drift and subgroup monitoring</a:t>
            </a:r>
          </a:p>
          <a:p xmlns:a="http://schemas.openxmlformats.org/drawingml/2006/main">
            <a:pPr>
              <a:defRPr sz="2025" b="0">
                <a:solidFill>
                  <a:srgbClr val="172D43"/>
                </a:solidFill>
                <a:latin typeface="Arial"/>
                <a:ea typeface="Arial"/>
                <a:cs typeface="Arial"/>
              </a:defRPr>
            </a:pPr>
            <a:r>
              <a:rPr sz="2025" b="0">
                <a:solidFill>
                  <a:srgbClr val="172D43"/>
                </a:solidFill>
                <a:latin typeface="Arial"/>
                <a:ea typeface="Arial"/>
                <a:cs typeface="Arial"/>
              </a:rPr>
              <a:t>Prospective controlled campaign</a:t>
            </a:r>
          </a:p>
        </p:txBody>
      </p:sp>
      <p:sp>
        <p:nvSpPr>
          <p:cNvPr id="10" name="">
            <a:extLst xmlns:a="http://schemas.openxmlformats.org/drawingml/2006/main">
              <a:ext uri="{FF2B5EF4-FFF2-40B4-BE49-F238E27FC236}">
                <a16:creationId xmlns:a16="http://schemas.microsoft.com/office/drawing/2014/main" id="{ED3B88FC-B234-4E05-A8AC-01D0CD314CAA}"/>
              </a:ext>
            </a:extLst>
          </p:cNvPr>
          <p:cNvSpPr>
            <a:spLocks xmlns:a="http://schemas.openxmlformats.org/drawingml/2006/main" noGrp="1"/>
          </p:cNvSpPr>
          <p:nvPr/>
        </p:nvSpPr>
        <p:spPr>
          <a:xfrm xmlns:a="http://schemas.openxmlformats.org/drawingml/2006/main">
            <a:off x="628650" y="570547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36779"/>
                </a:solidFill>
                <a:latin typeface="Arial"/>
                <a:ea typeface="Arial"/>
                <a:cs typeface="Arial"/>
              </a:defRPr>
            </a:defPPr>
          </a:lstStyle>
          <a:p xmlns:a="http://schemas.openxmlformats.org/drawingml/2006/main">
            <a:pPr>
              <a:defRPr sz="1650" b="0">
                <a:solidFill>
                  <a:srgbClr val="536779"/>
                </a:solidFill>
                <a:latin typeface="Arial"/>
                <a:ea typeface="Arial"/>
                <a:cs typeface="Arial"/>
              </a:defRPr>
            </a:pPr>
            <a:r>
              <a:rPr sz="1650" b="0">
                <a:solidFill>
                  <a:srgbClr val="536779"/>
                </a:solidFill>
                <a:latin typeface="Arial"/>
                <a:ea typeface="Arial"/>
                <a:cs typeface="Arial"/>
              </a:rPr>
              <a:t>Preserve the current frozen evidence. New decisions require a new evaluation protocol.</a:t>
            </a:r>
          </a:p>
        </p:txBody>
      </p:sp>
    </p:spTree>
    <p:extLst>
      <p:ext uri="{BB962C8B-B14F-4D97-AF65-F5344CB8AC3E}">
        <p14:creationId xmlns:p14="http://schemas.microsoft.com/office/powerpoint/2010/main" val="46562353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ACBFF9B-F17E-4019-9128-E77C35E339DE}"/>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D43"/>
                </a:solidFill>
                <a:latin typeface="Arial"/>
                <a:ea typeface="Arial"/>
                <a:cs typeface="Arial"/>
              </a:defRPr>
            </a:defPPr>
          </a:lstStyle>
          <a:p xmlns:a="http://schemas.openxmlformats.org/drawingml/2006/main">
            <a:pPr>
              <a:defRPr sz="3000" b="1">
                <a:solidFill>
                  <a:srgbClr val="172D43"/>
                </a:solidFill>
                <a:latin typeface="Arial"/>
                <a:ea typeface="Arial"/>
                <a:cs typeface="Arial"/>
              </a:defRPr>
            </a:pPr>
            <a:r>
              <a:rPr sz="3000" b="1">
                <a:solidFill>
                  <a:srgbClr val="172D43"/>
                </a:solidFill>
                <a:latin typeface="Arial"/>
                <a:ea typeface="Arial"/>
                <a:cs typeface="Arial"/>
              </a:rPr>
              <a:t>Approve a validation study, not a production launch</a:t>
            </a:r>
          </a:p>
        </p:txBody>
      </p:sp>
      <p:sp>
        <p:nvSpPr>
          <p:cNvPr id="2" name="">
            <a:extLst xmlns:a="http://schemas.openxmlformats.org/drawingml/2006/main">
              <a:ext uri="{FF2B5EF4-FFF2-40B4-BE49-F238E27FC236}">
                <a16:creationId xmlns:a16="http://schemas.microsoft.com/office/drawing/2014/main" id="{E7A1D18E-F9FF-4691-B8C7-7402985938C0}"/>
              </a:ext>
            </a:extLst>
          </p:cNvPr>
          <p:cNvSpPr>
            <a:spLocks xmlns:a="http://schemas.openxmlformats.org/drawingml/2006/main" noGrp="1"/>
          </p:cNvSpPr>
          <p:nvPr/>
        </p:nvSpPr>
        <p:spPr>
          <a:xfrm xmlns:a="http://schemas.openxmlformats.org/drawingml/2006/main">
            <a:off x="628650" y="11906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36779"/>
                </a:solidFill>
                <a:latin typeface="Arial"/>
                <a:ea typeface="Arial"/>
                <a:cs typeface="Arial"/>
              </a:defRPr>
            </a:defPPr>
          </a:lstStyle>
          <a:p xmlns:a="http://schemas.openxmlformats.org/drawingml/2006/main">
            <a:pPr>
              <a:defRPr sz="1725" b="0">
                <a:solidFill>
                  <a:srgbClr val="536779"/>
                </a:solidFill>
                <a:latin typeface="Arial"/>
                <a:ea typeface="Arial"/>
                <a:cs typeface="Arial"/>
              </a:defRPr>
            </a:pPr>
            <a:r>
              <a:rPr sz="1725" b="0">
                <a:solidFill>
                  <a:srgbClr val="536779"/>
                </a:solidFill>
                <a:latin typeface="Arial"/>
                <a:ea typeface="Arial"/>
                <a:cs typeface="Arial"/>
              </a:rPr>
              <a:t>Retrospective ranking is promising; future probability reliability remains unproven</a:t>
            </a:r>
          </a:p>
        </p:txBody>
      </p:sp>
      <p:sp>
        <p:nvSpPr>
          <p:cNvPr id="3" name="">
            <a:extLst xmlns:a="http://schemas.openxmlformats.org/drawingml/2006/main">
              <a:ext uri="{FF2B5EF4-FFF2-40B4-BE49-F238E27FC236}">
                <a16:creationId xmlns:a16="http://schemas.microsoft.com/office/drawing/2014/main" id="{256E3524-D82B-4247-9EE2-B4D7EDFDB4F8}"/>
              </a:ext>
            </a:extLst>
          </p:cNvPr>
          <p:cNvSpPr>
            <a:spLocks xmlns:a="http://schemas.openxmlformats.org/drawingml/2006/main" noGrp="1"/>
          </p:cNvSpPr>
          <p:nvPr/>
        </p:nvSpPr>
        <p:spPr>
          <a:xfrm xmlns:a="http://schemas.openxmlformats.org/drawingml/2006/main">
            <a:off x="609600" y="6267450"/>
            <a:ext cx="10972800" cy="19050"/>
          </a:xfrm>
          <a:prstGeom xmlns:a="http://schemas.openxmlformats.org/drawingml/2006/main" prst="rect">
            <a:avLst/>
          </a:prstGeom>
          <a:solidFill xmlns:a="http://schemas.openxmlformats.org/drawingml/2006/main">
            <a:srgbClr val="D6E2E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AC8088-0C77-44DF-B60D-81837516B5D8}"/>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DepoRank | COMP6140001 Data Mining</a:t>
            </a:r>
          </a:p>
        </p:txBody>
      </p:sp>
      <p:sp>
        <p:nvSpPr>
          <p:cNvPr id="5" name="">
            <a:extLst xmlns:a="http://schemas.openxmlformats.org/drawingml/2006/main">
              <a:ext uri="{FF2B5EF4-FFF2-40B4-BE49-F238E27FC236}">
                <a16:creationId xmlns:a16="http://schemas.microsoft.com/office/drawing/2014/main" id="{8F446825-31BA-4736-BFB2-0035F0FA0722}"/>
              </a:ext>
            </a:extLst>
          </p:cNvPr>
          <p:cNvSpPr>
            <a:spLocks xmlns:a="http://schemas.openxmlformats.org/drawingml/2006/main" noGrp="1"/>
          </p:cNvSpPr>
          <p:nvPr/>
        </p:nvSpPr>
        <p:spPr>
          <a:xfrm xmlns:a="http://schemas.openxmlformats.org/drawingml/2006/main">
            <a:off x="10953750" y="64198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36779"/>
                </a:solidFill>
                <a:latin typeface="Arial"/>
                <a:ea typeface="Arial"/>
                <a:cs typeface="Arial"/>
              </a:defRPr>
            </a:defPPr>
          </a:lstStyle>
          <a:p xmlns:a="http://schemas.openxmlformats.org/drawingml/2006/main">
            <a:pPr>
              <a:defRPr sz="1125" b="0">
                <a:solidFill>
                  <a:srgbClr val="536779"/>
                </a:solidFill>
                <a:latin typeface="Arial"/>
                <a:ea typeface="Arial"/>
                <a:cs typeface="Arial"/>
              </a:defRPr>
            </a:pPr>
            <a:r>
              <a:rPr sz="1125" b="0">
                <a:solidFill>
                  <a:srgbClr val="536779"/>
                </a:solidFill>
                <a:latin typeface="Arial"/>
                <a:ea typeface="Arial"/>
                <a:cs typeface="Arial"/>
              </a:rPr>
              <a:t>16</a:t>
            </a:r>
          </a:p>
        </p:txBody>
      </p:sp>
      <p:sp>
        <p:nvSpPr>
          <p:cNvPr id="6" name="">
            <a:extLst xmlns:a="http://schemas.openxmlformats.org/drawingml/2006/main">
              <a:ext uri="{FF2B5EF4-FFF2-40B4-BE49-F238E27FC236}">
                <a16:creationId xmlns:a16="http://schemas.microsoft.com/office/drawing/2014/main" id="{8074C253-2028-436F-BC87-4970C4F544D9}"/>
              </a:ext>
            </a:extLst>
          </p:cNvPr>
          <p:cNvSpPr>
            <a:spLocks xmlns:a="http://schemas.openxmlformats.org/drawingml/2006/main" noGrp="1"/>
          </p:cNvSpPr>
          <p:nvPr/>
        </p:nvSpPr>
        <p:spPr>
          <a:xfrm xmlns:a="http://schemas.openxmlformats.org/drawingml/2006/main">
            <a:off x="628650" y="2133600"/>
            <a:ext cx="49625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F83"/>
                </a:solidFill>
                <a:latin typeface="Arial"/>
                <a:ea typeface="Arial"/>
                <a:cs typeface="Arial"/>
              </a:defRPr>
            </a:defPPr>
          </a:lstStyle>
          <a:p xmlns:a="http://schemas.openxmlformats.org/drawingml/2006/main">
            <a:pPr>
              <a:defRPr sz="2325" b="1">
                <a:solidFill>
                  <a:srgbClr val="087F83"/>
                </a:solidFill>
                <a:latin typeface="Arial"/>
                <a:ea typeface="Arial"/>
                <a:cs typeface="Arial"/>
              </a:defRPr>
            </a:pPr>
            <a:r>
              <a:rPr sz="2325" b="1">
                <a:solidFill>
                  <a:srgbClr val="087F83"/>
                </a:solidFill>
                <a:latin typeface="Arial"/>
                <a:ea typeface="Arial"/>
                <a:cs typeface="Arial"/>
              </a:rPr>
              <a:t>Measured on the frozen test</a:t>
            </a:r>
          </a:p>
        </p:txBody>
      </p:sp>
      <p:sp>
        <p:nvSpPr>
          <p:cNvPr id="7" name="">
            <a:extLst xmlns:a="http://schemas.openxmlformats.org/drawingml/2006/main">
              <a:ext uri="{FF2B5EF4-FFF2-40B4-BE49-F238E27FC236}">
                <a16:creationId xmlns:a16="http://schemas.microsoft.com/office/drawing/2014/main" id="{B9877E78-99B7-4FDF-B92C-731D2DCDC0BA}"/>
              </a:ext>
            </a:extLst>
          </p:cNvPr>
          <p:cNvSpPr>
            <a:spLocks xmlns:a="http://schemas.openxmlformats.org/drawingml/2006/main" noGrp="1"/>
          </p:cNvSpPr>
          <p:nvPr/>
        </p:nvSpPr>
        <p:spPr>
          <a:xfrm xmlns:a="http://schemas.openxmlformats.org/drawingml/2006/main">
            <a:off x="628650" y="2962275"/>
            <a:ext cx="4962525" cy="2314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72D43"/>
                </a:solidFill>
                <a:latin typeface="Arial"/>
                <a:ea typeface="Arial"/>
                <a:cs typeface="Arial"/>
              </a:defRPr>
            </a:defPPr>
          </a:lstStyle>
          <a:p xmlns:a="http://schemas.openxmlformats.org/drawingml/2006/main">
            <a:pPr>
              <a:defRPr sz="2100" b="0">
                <a:solidFill>
                  <a:srgbClr val="172D43"/>
                </a:solidFill>
                <a:latin typeface="Arial"/>
                <a:ea typeface="Arial"/>
                <a:cs typeface="Arial"/>
              </a:defRPr>
            </a:pPr>
            <a:r>
              <a:rPr sz="2100" b="0">
                <a:solidFill>
                  <a:srgbClr val="172D43"/>
                </a:solidFill>
                <a:latin typeface="Arial"/>
                <a:ea typeface="Arial"/>
                <a:cs typeface="Arial"/>
              </a:rPr>
              <a:t>62.14% Precision@824</a:t>
            </a:r>
          </a:p>
          <a:p xmlns:a="http://schemas.openxmlformats.org/drawingml/2006/main">
            <a:pPr>
              <a:defRPr sz="2100" b="0">
                <a:solidFill>
                  <a:srgbClr val="172D43"/>
                </a:solidFill>
                <a:latin typeface="Arial"/>
                <a:ea typeface="Arial"/>
                <a:cs typeface="Arial"/>
              </a:defRPr>
            </a:pPr>
            <a:r>
              <a:rPr sz="2100" b="0">
                <a:solidFill>
                  <a:srgbClr val="172D43"/>
                </a:solidFill>
                <a:latin typeface="Arial"/>
                <a:ea typeface="Arial"/>
                <a:cs typeface="Arial"/>
              </a:rPr>
              <a:t>20.16% Recall@824</a:t>
            </a:r>
          </a:p>
          <a:p xmlns:a="http://schemas.openxmlformats.org/drawingml/2006/main">
            <a:pPr>
              <a:defRPr sz="2100" b="0">
                <a:solidFill>
                  <a:srgbClr val="172D43"/>
                </a:solidFill>
                <a:latin typeface="Arial"/>
                <a:ea typeface="Arial"/>
                <a:cs typeface="Arial"/>
              </a:defRPr>
            </a:pPr>
            <a:r>
              <a:rPr sz="2100" b="0">
                <a:solidFill>
                  <a:srgbClr val="172D43"/>
                </a:solidFill>
                <a:latin typeface="Arial"/>
                <a:ea typeface="Arial"/>
                <a:cs typeface="Arial"/>
              </a:rPr>
              <a:t>2.02 lift over test prevalence</a:t>
            </a:r>
          </a:p>
          <a:p xmlns:a="http://schemas.openxmlformats.org/drawingml/2006/main">
            <a:pPr>
              <a:defRPr sz="2100" b="0">
                <a:solidFill>
                  <a:srgbClr val="172D43"/>
                </a:solidFill>
                <a:latin typeface="Arial"/>
                <a:ea typeface="Arial"/>
                <a:cs typeface="Arial"/>
              </a:defRPr>
            </a:pPr>
            <a:r>
              <a:rPr sz="2100" b="0">
                <a:solidFill>
                  <a:srgbClr val="172D43"/>
                </a:solidFill>
                <a:latin typeface="Arial"/>
                <a:ea typeface="Arial"/>
                <a:cs typeface="Arial"/>
              </a:rPr>
              <a:t>46.77% threshold accuracy</a:t>
            </a:r>
          </a:p>
        </p:txBody>
      </p:sp>
      <p:sp>
        <p:nvSpPr>
          <p:cNvPr id="8" name="">
            <a:extLst xmlns:a="http://schemas.openxmlformats.org/drawingml/2006/main">
              <a:ext uri="{FF2B5EF4-FFF2-40B4-BE49-F238E27FC236}">
                <a16:creationId xmlns:a16="http://schemas.microsoft.com/office/drawing/2014/main" id="{46FA8191-D93E-44B2-A731-0E7E1DE00100}"/>
              </a:ext>
            </a:extLst>
          </p:cNvPr>
          <p:cNvSpPr>
            <a:spLocks xmlns:a="http://schemas.openxmlformats.org/drawingml/2006/main" noGrp="1"/>
          </p:cNvSpPr>
          <p:nvPr/>
        </p:nvSpPr>
        <p:spPr>
          <a:xfrm xmlns:a="http://schemas.openxmlformats.org/drawingml/2006/main">
            <a:off x="6381750" y="2133600"/>
            <a:ext cx="5162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F83"/>
                </a:solidFill>
                <a:latin typeface="Arial"/>
                <a:ea typeface="Arial"/>
                <a:cs typeface="Arial"/>
              </a:defRPr>
            </a:defPPr>
          </a:lstStyle>
          <a:p xmlns:a="http://schemas.openxmlformats.org/drawingml/2006/main">
            <a:pPr>
              <a:defRPr sz="2325" b="1">
                <a:solidFill>
                  <a:srgbClr val="087F83"/>
                </a:solidFill>
                <a:latin typeface="Arial"/>
                <a:ea typeface="Arial"/>
                <a:cs typeface="Arial"/>
              </a:defRPr>
            </a:pPr>
            <a:r>
              <a:rPr sz="2325" b="1">
                <a:solidFill>
                  <a:srgbClr val="087F83"/>
                </a:solidFill>
                <a:latin typeface="Arial"/>
                <a:ea typeface="Arial"/>
                <a:cs typeface="Arial"/>
              </a:rPr>
              <a:t>Decision requested</a:t>
            </a:r>
          </a:p>
        </p:txBody>
      </p:sp>
      <p:sp>
        <p:nvSpPr>
          <p:cNvPr id="9" name="">
            <a:extLst xmlns:a="http://schemas.openxmlformats.org/drawingml/2006/main">
              <a:ext uri="{FF2B5EF4-FFF2-40B4-BE49-F238E27FC236}">
                <a16:creationId xmlns:a16="http://schemas.microsoft.com/office/drawing/2014/main" id="{A2E3DD8D-E574-4BBE-B48B-C52E98F1AD35}"/>
              </a:ext>
            </a:extLst>
          </p:cNvPr>
          <p:cNvSpPr>
            <a:spLocks xmlns:a="http://schemas.openxmlformats.org/drawingml/2006/main" noGrp="1"/>
          </p:cNvSpPr>
          <p:nvPr/>
        </p:nvSpPr>
        <p:spPr>
          <a:xfrm xmlns:a="http://schemas.openxmlformats.org/drawingml/2006/main">
            <a:off x="6381750" y="2962275"/>
            <a:ext cx="5162550" cy="2314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72D43"/>
                </a:solidFill>
                <a:latin typeface="Arial"/>
                <a:ea typeface="Arial"/>
                <a:cs typeface="Arial"/>
              </a:defRPr>
            </a:defPPr>
          </a:lstStyle>
          <a:p xmlns:a="http://schemas.openxmlformats.org/drawingml/2006/main">
            <a:pPr>
              <a:defRPr sz="2025" b="0">
                <a:solidFill>
                  <a:srgbClr val="172D43"/>
                </a:solidFill>
                <a:latin typeface="Arial"/>
                <a:ea typeface="Arial"/>
                <a:cs typeface="Arial"/>
              </a:defRPr>
            </a:pPr>
            <a:r>
              <a:rPr sz="2025" b="0">
                <a:solidFill>
                  <a:srgbClr val="172D43"/>
                </a:solidFill>
                <a:latin typeface="Arial"/>
                <a:ea typeface="Arial"/>
                <a:cs typeface="Arial"/>
              </a:rPr>
              <a:t>Approve access to current data</a:t>
            </a:r>
          </a:p>
          <a:p xmlns:a="http://schemas.openxmlformats.org/drawingml/2006/main">
            <a:pPr>
              <a:defRPr sz="2025" b="0">
                <a:solidFill>
                  <a:srgbClr val="172D43"/>
                </a:solidFill>
                <a:latin typeface="Arial"/>
                <a:ea typeface="Arial"/>
                <a:cs typeface="Arial"/>
              </a:defRPr>
            </a:pPr>
            <a:r>
              <a:rPr sz="2025" b="0">
                <a:solidFill>
                  <a:srgbClr val="172D43"/>
                </a:solidFill>
                <a:latin typeface="Arial"/>
                <a:ea typeface="Arial"/>
                <a:cs typeface="Arial"/>
              </a:rPr>
              <a:t>Define capacity and contact eligibility</a:t>
            </a:r>
          </a:p>
          <a:p xmlns:a="http://schemas.openxmlformats.org/drawingml/2006/main">
            <a:pPr>
              <a:defRPr sz="2025" b="0">
                <a:solidFill>
                  <a:srgbClr val="172D43"/>
                </a:solidFill>
                <a:latin typeface="Arial"/>
                <a:ea typeface="Arial"/>
                <a:cs typeface="Arial"/>
              </a:defRPr>
            </a:pPr>
            <a:r>
              <a:rPr sz="2025" b="0">
                <a:solidFill>
                  <a:srgbClr val="172D43"/>
                </a:solidFill>
                <a:latin typeface="Arial"/>
                <a:ea typeface="Arial"/>
                <a:cs typeface="Arial"/>
              </a:rPr>
              <a:t>Test calibration before probability claims</a:t>
            </a:r>
          </a:p>
          <a:p xmlns:a="http://schemas.openxmlformats.org/drawingml/2006/main">
            <a:pPr>
              <a:defRPr sz="2025" b="0">
                <a:solidFill>
                  <a:srgbClr val="172D43"/>
                </a:solidFill>
                <a:latin typeface="Arial"/>
                <a:ea typeface="Arial"/>
                <a:cs typeface="Arial"/>
              </a:defRPr>
            </a:pPr>
            <a:r>
              <a:rPr sz="2025" b="0">
                <a:solidFill>
                  <a:srgbClr val="172D43"/>
                </a:solidFill>
                <a:latin typeface="Arial"/>
                <a:ea typeface="Arial"/>
                <a:cs typeface="Arial"/>
              </a:rPr>
              <a:t>Measure response in a controlled study</a:t>
            </a:r>
          </a:p>
        </p:txBody>
      </p:sp>
      <p:sp>
        <p:nvSpPr>
          <p:cNvPr id="10" name="">
            <a:extLst xmlns:a="http://schemas.openxmlformats.org/drawingml/2006/main">
              <a:ext uri="{FF2B5EF4-FFF2-40B4-BE49-F238E27FC236}">
                <a16:creationId xmlns:a16="http://schemas.microsoft.com/office/drawing/2014/main" id="{21444BB3-08B6-4B65-BD17-6DE010A5AC71}"/>
              </a:ext>
            </a:extLst>
          </p:cNvPr>
          <p:cNvSpPr>
            <a:spLocks xmlns:a="http://schemas.openxmlformats.org/drawingml/2006/main" noGrp="1"/>
          </p:cNvSpPr>
          <p:nvPr/>
        </p:nvSpPr>
        <p:spPr>
          <a:xfrm xmlns:a="http://schemas.openxmlformats.org/drawingml/2006/main">
            <a:off x="628650" y="571500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36779"/>
                </a:solidFill>
                <a:latin typeface="Arial"/>
                <a:ea typeface="Arial"/>
                <a:cs typeface="Arial"/>
              </a:defRPr>
            </a:defPPr>
          </a:lstStyle>
          <a:p xmlns:a="http://schemas.openxmlformats.org/drawingml/2006/main">
            <a:pPr>
              <a:defRPr sz="1575" b="0">
                <a:solidFill>
                  <a:srgbClr val="536779"/>
                </a:solidFill>
                <a:latin typeface="Arial"/>
                <a:ea typeface="Arial"/>
                <a:cs typeface="Arial"/>
              </a:defRPr>
            </a:pPr>
            <a:r>
              <a:rPr sz="1575" b="0">
                <a:solidFill>
                  <a:srgbClr val="536779"/>
                </a:solidFill>
                <a:latin typeface="Arial"/>
                <a:ea typeface="Arial"/>
                <a:cs typeface="Arial"/>
              </a:rPr>
              <a:t>Reproducible application and evidence: github.com/DlegendZ/DepoRank</a:t>
            </a:r>
          </a:p>
        </p:txBody>
      </p:sp>
    </p:spTree>
    <p:extLst>
      <p:ext uri="{BB962C8B-B14F-4D97-AF65-F5344CB8AC3E}">
        <p14:creationId xmlns:p14="http://schemas.microsoft.com/office/powerpoint/2010/main" val="7939450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2026-10-06T05:17:10.5900000Z</dcterms:created>
  <dcterms:modified xsi:type="dcterms:W3CDTF">2026-10-06T05:17:10.5900000Z</dcterms:modified>
</coreProperties>
</file>